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3" r:id="rId1"/>
  </p:sldMasterIdLst>
  <p:sldIdLst>
    <p:sldId id="256" r:id="rId2"/>
    <p:sldId id="257" r:id="rId3"/>
    <p:sldId id="258" r:id="rId4"/>
    <p:sldId id="263" r:id="rId5"/>
    <p:sldId id="264" r:id="rId6"/>
    <p:sldId id="265" r:id="rId7"/>
    <p:sldId id="266" r:id="rId8"/>
    <p:sldId id="260" r:id="rId9"/>
    <p:sldId id="259" r:id="rId10"/>
    <p:sldId id="267" r:id="rId11"/>
    <p:sldId id="269" r:id="rId12"/>
    <p:sldId id="270" r:id="rId13"/>
    <p:sldId id="262" r:id="rId14"/>
    <p:sldId id="268" r:id="rId15"/>
    <p:sldId id="275" r:id="rId16"/>
    <p:sldId id="271" r:id="rId17"/>
    <p:sldId id="272" r:id="rId18"/>
    <p:sldId id="273" r:id="rId19"/>
    <p:sldId id="274" r:id="rId20"/>
    <p:sldId id="276" r:id="rId21"/>
    <p:sldId id="279" r:id="rId22"/>
    <p:sldId id="280" r:id="rId23"/>
    <p:sldId id="282" r:id="rId24"/>
    <p:sldId id="283" r:id="rId25"/>
    <p:sldId id="281" r:id="rId26"/>
    <p:sldId id="284" r:id="rId27"/>
    <p:sldId id="290" r:id="rId28"/>
    <p:sldId id="295" r:id="rId29"/>
    <p:sldId id="285" r:id="rId30"/>
    <p:sldId id="289" r:id="rId31"/>
    <p:sldId id="291" r:id="rId32"/>
    <p:sldId id="292" r:id="rId33"/>
    <p:sldId id="297" r:id="rId34"/>
    <p:sldId id="298" r:id="rId35"/>
    <p:sldId id="303" r:id="rId36"/>
    <p:sldId id="294" r:id="rId37"/>
    <p:sldId id="304" r:id="rId38"/>
    <p:sldId id="305" r:id="rId39"/>
    <p:sldId id="306" r:id="rId40"/>
    <p:sldId id="307" r:id="rId41"/>
    <p:sldId id="308" r:id="rId42"/>
    <p:sldId id="317" r:id="rId43"/>
    <p:sldId id="309" r:id="rId44"/>
    <p:sldId id="318" r:id="rId45"/>
    <p:sldId id="319" r:id="rId46"/>
    <p:sldId id="320" r:id="rId47"/>
    <p:sldId id="321" r:id="rId48"/>
    <p:sldId id="322" r:id="rId49"/>
    <p:sldId id="323" r:id="rId50"/>
    <p:sldId id="324" r:id="rId51"/>
    <p:sldId id="329" r:id="rId52"/>
    <p:sldId id="327" r:id="rId53"/>
    <p:sldId id="325" r:id="rId54"/>
    <p:sldId id="328" r:id="rId55"/>
    <p:sldId id="330" r:id="rId56"/>
    <p:sldId id="332" r:id="rId57"/>
    <p:sldId id="333" r:id="rId58"/>
    <p:sldId id="331"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16" autoAdjust="0"/>
    <p:restoredTop sz="94660"/>
  </p:normalViewPr>
  <p:slideViewPr>
    <p:cSldViewPr snapToGrid="0">
      <p:cViewPr>
        <p:scale>
          <a:sx n="69" d="100"/>
          <a:sy n="69" d="100"/>
        </p:scale>
        <p:origin x="588"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9A506B-0A56-4778-8FD0-1761A4C20696}"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30BF9084-CF91-4215-AC0A-BE438954278F}">
      <dgm:prSet/>
      <dgm:spPr/>
      <dgm:t>
        <a:bodyPr/>
        <a:lstStyle/>
        <a:p>
          <a:r>
            <a:rPr lang="en-US" dirty="0"/>
            <a:t>Task to attendee </a:t>
          </a:r>
        </a:p>
      </dgm:t>
    </dgm:pt>
    <dgm:pt modelId="{EA2E7DA7-EA68-40DC-B610-E71FD754C749}" type="parTrans" cxnId="{2848C853-F369-4978-892C-E3C138D8D363}">
      <dgm:prSet/>
      <dgm:spPr/>
      <dgm:t>
        <a:bodyPr/>
        <a:lstStyle/>
        <a:p>
          <a:endParaRPr lang="en-US"/>
        </a:p>
      </dgm:t>
    </dgm:pt>
    <dgm:pt modelId="{4B017A51-EB11-48D4-B3E1-D37B4585C1FB}" type="sibTrans" cxnId="{2848C853-F369-4978-892C-E3C138D8D363}">
      <dgm:prSet/>
      <dgm:spPr/>
      <dgm:t>
        <a:bodyPr/>
        <a:lstStyle/>
        <a:p>
          <a:endParaRPr lang="en-US"/>
        </a:p>
      </dgm:t>
    </dgm:pt>
    <dgm:pt modelId="{ACF36275-0FCC-435C-A9EC-C89A3E524FB9}">
      <dgm:prSet/>
      <dgm:spPr/>
      <dgm:t>
        <a:bodyPr/>
        <a:lstStyle/>
        <a:p>
          <a:r>
            <a:rPr lang="en-US" dirty="0"/>
            <a:t>Please go through entire course(PPT, GitHub repo , provided documents etc.) , create account , </a:t>
          </a:r>
        </a:p>
      </dgm:t>
    </dgm:pt>
    <dgm:pt modelId="{5E0C6B03-4A76-46D1-8BD9-2B93373A0692}" type="parTrans" cxnId="{3A1ED30F-228F-4BFA-93C1-F64DF183666B}">
      <dgm:prSet/>
      <dgm:spPr/>
      <dgm:t>
        <a:bodyPr/>
        <a:lstStyle/>
        <a:p>
          <a:endParaRPr lang="en-US"/>
        </a:p>
      </dgm:t>
    </dgm:pt>
    <dgm:pt modelId="{F1BA9914-7CA5-4A0D-B6A4-B4D73613419C}" type="sibTrans" cxnId="{3A1ED30F-228F-4BFA-93C1-F64DF183666B}">
      <dgm:prSet/>
      <dgm:spPr/>
      <dgm:t>
        <a:bodyPr/>
        <a:lstStyle/>
        <a:p>
          <a:endParaRPr lang="en-US"/>
        </a:p>
      </dgm:t>
    </dgm:pt>
    <dgm:pt modelId="{A02AD69E-F208-4748-B3E0-C588934CF295}">
      <dgm:prSet/>
      <dgm:spPr/>
      <dgm:t>
        <a:bodyPr/>
        <a:lstStyle/>
        <a:p>
          <a:r>
            <a:rPr lang="en-US" dirty="0"/>
            <a:t>CloudFormation template</a:t>
          </a:r>
        </a:p>
      </dgm:t>
    </dgm:pt>
    <dgm:pt modelId="{20C7A530-9CBA-4AB7-8C4A-BE09172FC324}" type="parTrans" cxnId="{02525A54-43D8-44A8-9268-73618BD39652}">
      <dgm:prSet/>
      <dgm:spPr/>
      <dgm:t>
        <a:bodyPr/>
        <a:lstStyle/>
        <a:p>
          <a:endParaRPr lang="en-US"/>
        </a:p>
      </dgm:t>
    </dgm:pt>
    <dgm:pt modelId="{FD03D412-81D5-407B-A8C5-F966A32A83A0}" type="sibTrans" cxnId="{02525A54-43D8-44A8-9268-73618BD39652}">
      <dgm:prSet/>
      <dgm:spPr/>
      <dgm:t>
        <a:bodyPr/>
        <a:lstStyle/>
        <a:p>
          <a:endParaRPr lang="en-US"/>
        </a:p>
      </dgm:t>
    </dgm:pt>
    <dgm:pt modelId="{C057751F-19D0-4D92-B718-FC07AB340659}">
      <dgm:prSet/>
      <dgm:spPr/>
      <dgm:t>
        <a:bodyPr/>
        <a:lstStyle/>
        <a:p>
          <a:r>
            <a:rPr lang="en-US"/>
            <a:t>pipeline and run to create infra.</a:t>
          </a:r>
        </a:p>
      </dgm:t>
    </dgm:pt>
    <dgm:pt modelId="{EB72EC82-FC78-4F62-9BD9-EEA51A57259B}" type="parTrans" cxnId="{F44B5878-A9BC-446E-BC13-4EF00F5D4733}">
      <dgm:prSet/>
      <dgm:spPr/>
      <dgm:t>
        <a:bodyPr/>
        <a:lstStyle/>
        <a:p>
          <a:endParaRPr lang="en-US"/>
        </a:p>
      </dgm:t>
    </dgm:pt>
    <dgm:pt modelId="{A0DCBCD9-9A1E-43F8-93AD-D5A056DA51E5}" type="sibTrans" cxnId="{F44B5878-A9BC-446E-BC13-4EF00F5D4733}">
      <dgm:prSet/>
      <dgm:spPr/>
      <dgm:t>
        <a:bodyPr/>
        <a:lstStyle/>
        <a:p>
          <a:endParaRPr lang="en-US"/>
        </a:p>
      </dgm:t>
    </dgm:pt>
    <dgm:pt modelId="{6D612CA0-F758-43EC-B038-1CF05A4DD52C}" type="pres">
      <dgm:prSet presAssocID="{359A506B-0A56-4778-8FD0-1761A4C20696}" presName="linear" presStyleCnt="0">
        <dgm:presLayoutVars>
          <dgm:animLvl val="lvl"/>
          <dgm:resizeHandles val="exact"/>
        </dgm:presLayoutVars>
      </dgm:prSet>
      <dgm:spPr/>
    </dgm:pt>
    <dgm:pt modelId="{022ACA5F-3416-4A5B-A178-9C46C6E1D7D9}" type="pres">
      <dgm:prSet presAssocID="{30BF9084-CF91-4215-AC0A-BE438954278F}" presName="parentText" presStyleLbl="node1" presStyleIdx="0" presStyleCnt="4">
        <dgm:presLayoutVars>
          <dgm:chMax val="0"/>
          <dgm:bulletEnabled val="1"/>
        </dgm:presLayoutVars>
      </dgm:prSet>
      <dgm:spPr/>
    </dgm:pt>
    <dgm:pt modelId="{71A60D27-2738-4525-8B37-C20482D4F081}" type="pres">
      <dgm:prSet presAssocID="{4B017A51-EB11-48D4-B3E1-D37B4585C1FB}" presName="spacer" presStyleCnt="0"/>
      <dgm:spPr/>
    </dgm:pt>
    <dgm:pt modelId="{054C3698-6044-4502-A554-24FACBEFE9DC}" type="pres">
      <dgm:prSet presAssocID="{ACF36275-0FCC-435C-A9EC-C89A3E524FB9}" presName="parentText" presStyleLbl="node1" presStyleIdx="1" presStyleCnt="4">
        <dgm:presLayoutVars>
          <dgm:chMax val="0"/>
          <dgm:bulletEnabled val="1"/>
        </dgm:presLayoutVars>
      </dgm:prSet>
      <dgm:spPr/>
    </dgm:pt>
    <dgm:pt modelId="{DDB98D55-0959-427E-A038-18678435BB00}" type="pres">
      <dgm:prSet presAssocID="{F1BA9914-7CA5-4A0D-B6A4-B4D73613419C}" presName="spacer" presStyleCnt="0"/>
      <dgm:spPr/>
    </dgm:pt>
    <dgm:pt modelId="{90620DE4-48D7-4730-A7E6-D6209AFE79F7}" type="pres">
      <dgm:prSet presAssocID="{A02AD69E-F208-4748-B3E0-C588934CF295}" presName="parentText" presStyleLbl="node1" presStyleIdx="2" presStyleCnt="4">
        <dgm:presLayoutVars>
          <dgm:chMax val="0"/>
          <dgm:bulletEnabled val="1"/>
        </dgm:presLayoutVars>
      </dgm:prSet>
      <dgm:spPr/>
    </dgm:pt>
    <dgm:pt modelId="{ACE7FD60-AF2E-4227-9E1C-86566F1AAEAD}" type="pres">
      <dgm:prSet presAssocID="{FD03D412-81D5-407B-A8C5-F966A32A83A0}" presName="spacer" presStyleCnt="0"/>
      <dgm:spPr/>
    </dgm:pt>
    <dgm:pt modelId="{5B838E39-A180-4688-BB20-BA27C2F46D42}" type="pres">
      <dgm:prSet presAssocID="{C057751F-19D0-4D92-B718-FC07AB340659}" presName="parentText" presStyleLbl="node1" presStyleIdx="3" presStyleCnt="4" custLinFactNeighborX="-7700" custLinFactNeighborY="12829">
        <dgm:presLayoutVars>
          <dgm:chMax val="0"/>
          <dgm:bulletEnabled val="1"/>
        </dgm:presLayoutVars>
      </dgm:prSet>
      <dgm:spPr/>
    </dgm:pt>
  </dgm:ptLst>
  <dgm:cxnLst>
    <dgm:cxn modelId="{B4F9AB0A-24FB-4C8A-9AD2-1C9876859B5B}" type="presOf" srcId="{ACF36275-0FCC-435C-A9EC-C89A3E524FB9}" destId="{054C3698-6044-4502-A554-24FACBEFE9DC}" srcOrd="0" destOrd="0" presId="urn:microsoft.com/office/officeart/2005/8/layout/vList2"/>
    <dgm:cxn modelId="{3A1ED30F-228F-4BFA-93C1-F64DF183666B}" srcId="{359A506B-0A56-4778-8FD0-1761A4C20696}" destId="{ACF36275-0FCC-435C-A9EC-C89A3E524FB9}" srcOrd="1" destOrd="0" parTransId="{5E0C6B03-4A76-46D1-8BD9-2B93373A0692}" sibTransId="{F1BA9914-7CA5-4A0D-B6A4-B4D73613419C}"/>
    <dgm:cxn modelId="{1C9A4A70-DA2C-4395-8EFF-9C883B13CED1}" type="presOf" srcId="{359A506B-0A56-4778-8FD0-1761A4C20696}" destId="{6D612CA0-F758-43EC-B038-1CF05A4DD52C}" srcOrd="0" destOrd="0" presId="urn:microsoft.com/office/officeart/2005/8/layout/vList2"/>
    <dgm:cxn modelId="{2848C853-F369-4978-892C-E3C138D8D363}" srcId="{359A506B-0A56-4778-8FD0-1761A4C20696}" destId="{30BF9084-CF91-4215-AC0A-BE438954278F}" srcOrd="0" destOrd="0" parTransId="{EA2E7DA7-EA68-40DC-B610-E71FD754C749}" sibTransId="{4B017A51-EB11-48D4-B3E1-D37B4585C1FB}"/>
    <dgm:cxn modelId="{02525A54-43D8-44A8-9268-73618BD39652}" srcId="{359A506B-0A56-4778-8FD0-1761A4C20696}" destId="{A02AD69E-F208-4748-B3E0-C588934CF295}" srcOrd="2" destOrd="0" parTransId="{20C7A530-9CBA-4AB7-8C4A-BE09172FC324}" sibTransId="{FD03D412-81D5-407B-A8C5-F966A32A83A0}"/>
    <dgm:cxn modelId="{F44B5878-A9BC-446E-BC13-4EF00F5D4733}" srcId="{359A506B-0A56-4778-8FD0-1761A4C20696}" destId="{C057751F-19D0-4D92-B718-FC07AB340659}" srcOrd="3" destOrd="0" parTransId="{EB72EC82-FC78-4F62-9BD9-EEA51A57259B}" sibTransId="{A0DCBCD9-9A1E-43F8-93AD-D5A056DA51E5}"/>
    <dgm:cxn modelId="{B8E1E9BD-537A-40E9-BB4F-585CB8E5C9E7}" type="presOf" srcId="{C057751F-19D0-4D92-B718-FC07AB340659}" destId="{5B838E39-A180-4688-BB20-BA27C2F46D42}" srcOrd="0" destOrd="0" presId="urn:microsoft.com/office/officeart/2005/8/layout/vList2"/>
    <dgm:cxn modelId="{0588D1C1-6494-47F6-856B-B145F76FCA67}" type="presOf" srcId="{30BF9084-CF91-4215-AC0A-BE438954278F}" destId="{022ACA5F-3416-4A5B-A178-9C46C6E1D7D9}" srcOrd="0" destOrd="0" presId="urn:microsoft.com/office/officeart/2005/8/layout/vList2"/>
    <dgm:cxn modelId="{002C7FF9-AF0F-4CD7-856C-1C2806CB564A}" type="presOf" srcId="{A02AD69E-F208-4748-B3E0-C588934CF295}" destId="{90620DE4-48D7-4730-A7E6-D6209AFE79F7}" srcOrd="0" destOrd="0" presId="urn:microsoft.com/office/officeart/2005/8/layout/vList2"/>
    <dgm:cxn modelId="{F28BC707-4682-4279-B021-D1ECD08669A3}" type="presParOf" srcId="{6D612CA0-F758-43EC-B038-1CF05A4DD52C}" destId="{022ACA5F-3416-4A5B-A178-9C46C6E1D7D9}" srcOrd="0" destOrd="0" presId="urn:microsoft.com/office/officeart/2005/8/layout/vList2"/>
    <dgm:cxn modelId="{90309517-A201-4D9C-8157-33B2A946C7FB}" type="presParOf" srcId="{6D612CA0-F758-43EC-B038-1CF05A4DD52C}" destId="{71A60D27-2738-4525-8B37-C20482D4F081}" srcOrd="1" destOrd="0" presId="urn:microsoft.com/office/officeart/2005/8/layout/vList2"/>
    <dgm:cxn modelId="{68DA7E8A-85A5-4A69-A6E5-9D277F4FA9A0}" type="presParOf" srcId="{6D612CA0-F758-43EC-B038-1CF05A4DD52C}" destId="{054C3698-6044-4502-A554-24FACBEFE9DC}" srcOrd="2" destOrd="0" presId="urn:microsoft.com/office/officeart/2005/8/layout/vList2"/>
    <dgm:cxn modelId="{DE238439-12AF-40B4-92E1-D88A00288159}" type="presParOf" srcId="{6D612CA0-F758-43EC-B038-1CF05A4DD52C}" destId="{DDB98D55-0959-427E-A038-18678435BB00}" srcOrd="3" destOrd="0" presId="urn:microsoft.com/office/officeart/2005/8/layout/vList2"/>
    <dgm:cxn modelId="{1B62B2EC-2287-4BBD-8AA4-F635919DED6D}" type="presParOf" srcId="{6D612CA0-F758-43EC-B038-1CF05A4DD52C}" destId="{90620DE4-48D7-4730-A7E6-D6209AFE79F7}" srcOrd="4" destOrd="0" presId="urn:microsoft.com/office/officeart/2005/8/layout/vList2"/>
    <dgm:cxn modelId="{24E0F353-72C8-4FE0-B2BA-F31A7C64B196}" type="presParOf" srcId="{6D612CA0-F758-43EC-B038-1CF05A4DD52C}" destId="{ACE7FD60-AF2E-4227-9E1C-86566F1AAEAD}" srcOrd="5" destOrd="0" presId="urn:microsoft.com/office/officeart/2005/8/layout/vList2"/>
    <dgm:cxn modelId="{57490436-1F83-4917-8AC0-1C3662249AAD}" type="presParOf" srcId="{6D612CA0-F758-43EC-B038-1CF05A4DD52C}" destId="{5B838E39-A180-4688-BB20-BA27C2F46D4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2ACA5F-3416-4A5B-A178-9C46C6E1D7D9}">
      <dsp:nvSpPr>
        <dsp:cNvPr id="0" name=""/>
        <dsp:cNvSpPr/>
      </dsp:nvSpPr>
      <dsp:spPr>
        <a:xfrm>
          <a:off x="0" y="730698"/>
          <a:ext cx="6797675" cy="993128"/>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Task to attendee </a:t>
          </a:r>
        </a:p>
      </dsp:txBody>
      <dsp:txXfrm>
        <a:off x="48481" y="779179"/>
        <a:ext cx="6700713" cy="896166"/>
      </dsp:txXfrm>
    </dsp:sp>
    <dsp:sp modelId="{054C3698-6044-4502-A554-24FACBEFE9DC}">
      <dsp:nvSpPr>
        <dsp:cNvPr id="0" name=""/>
        <dsp:cNvSpPr/>
      </dsp:nvSpPr>
      <dsp:spPr>
        <a:xfrm>
          <a:off x="0" y="1795827"/>
          <a:ext cx="6797675" cy="993128"/>
        </a:xfrm>
        <a:prstGeom prst="roundRect">
          <a:avLst/>
        </a:prstGeom>
        <a:solidFill>
          <a:schemeClr val="accent5">
            <a:hueOff val="125256"/>
            <a:satOff val="12000"/>
            <a:lumOff val="294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Please go through entire course(PPT, GitHub repo , provided documents etc.) , create account , </a:t>
          </a:r>
        </a:p>
      </dsp:txBody>
      <dsp:txXfrm>
        <a:off x="48481" y="1844308"/>
        <a:ext cx="6700713" cy="896166"/>
      </dsp:txXfrm>
    </dsp:sp>
    <dsp:sp modelId="{90620DE4-48D7-4730-A7E6-D6209AFE79F7}">
      <dsp:nvSpPr>
        <dsp:cNvPr id="0" name=""/>
        <dsp:cNvSpPr/>
      </dsp:nvSpPr>
      <dsp:spPr>
        <a:xfrm>
          <a:off x="0" y="2860956"/>
          <a:ext cx="6797675" cy="993128"/>
        </a:xfrm>
        <a:prstGeom prst="roundRect">
          <a:avLst/>
        </a:prstGeom>
        <a:solidFill>
          <a:schemeClr val="accent5">
            <a:hueOff val="250511"/>
            <a:satOff val="24001"/>
            <a:lumOff val="588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CloudFormation template</a:t>
          </a:r>
        </a:p>
      </dsp:txBody>
      <dsp:txXfrm>
        <a:off x="48481" y="2909437"/>
        <a:ext cx="6700713" cy="896166"/>
      </dsp:txXfrm>
    </dsp:sp>
    <dsp:sp modelId="{5B838E39-A180-4688-BB20-BA27C2F46D42}">
      <dsp:nvSpPr>
        <dsp:cNvPr id="0" name=""/>
        <dsp:cNvSpPr/>
      </dsp:nvSpPr>
      <dsp:spPr>
        <a:xfrm>
          <a:off x="0" y="3935321"/>
          <a:ext cx="6797675" cy="993128"/>
        </a:xfrm>
        <a:prstGeom prst="roundRect">
          <a:avLst/>
        </a:prstGeom>
        <a:solidFill>
          <a:schemeClr val="accent5">
            <a:hueOff val="375767"/>
            <a:satOff val="36001"/>
            <a:lumOff val="882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pipeline and run to create infra.</a:t>
          </a:r>
        </a:p>
      </dsp:txBody>
      <dsp:txXfrm>
        <a:off x="48481" y="3983802"/>
        <a:ext cx="6700713" cy="89616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B4BCD7A-BC73-46BB-8EE6-85EC24C3EB74}" type="datetimeFigureOut">
              <a:rPr lang="en-IN" smtClean="0"/>
              <a:t>27-06-2025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B7E45F-2EED-467B-949F-D3D6E249F67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5066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6/27/2025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82711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6/27/2025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404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86B75A-687E-405C-8A0B-8D00578BA2C3}" type="datetimeFigureOut">
              <a:rPr lang="en-US" smtClean="0"/>
              <a:pPr/>
              <a:t>6/27/2025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07739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6/27/2025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92632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D7E00A-486F-4252-8B1D-E32645521F49}" type="datetimeFigureOut">
              <a:rPr lang="en-US" smtClean="0"/>
              <a:t>6/27/2025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124468864"/>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DDF5F92-E675-4B36-9A60-69A962A68675}" type="datetimeFigureOut">
              <a:rPr lang="en-US" smtClean="0"/>
              <a:t>6/27/2025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0685200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586B75A-687E-405C-8A0B-8D00578BA2C3}" type="datetimeFigureOut">
              <a:rPr lang="en-US" smtClean="0"/>
              <a:pPr/>
              <a:t>6/27/2025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18935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86B75A-687E-405C-8A0B-8D00578BA2C3}" type="datetimeFigureOut">
              <a:rPr lang="en-US" smtClean="0"/>
              <a:pPr/>
              <a:t>6/27/2025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54537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6/27/2025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67406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6/27/2025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10463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586B75A-687E-405C-8A0B-8D00578BA2C3}" type="datetimeFigureOut">
              <a:rPr lang="en-US" smtClean="0"/>
              <a:pPr/>
              <a:t>6/27/2025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88640"/>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Lst>
  <p:transition>
    <p:fade/>
  </p:transition>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hyperlink" Target="https://docs.aws.amazon.com/AWSCloudFormation/latest/TemplateReference/aws-template-resource-type-ref.html" TargetMode="Externa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learn.microsoft.com/en-us/devops/develop/git/what-is-version-control" TargetMode="External"/><Relationship Id="rId2" Type="http://schemas.openxmlformats.org/officeDocument/2006/relationships/hyperlink" Target="https://learn.microsoft.com/en-us/devops/develop/what-is-continuous-integration" TargetMode="External"/><Relationship Id="rId1" Type="http://schemas.openxmlformats.org/officeDocument/2006/relationships/slideLayout" Target="../slideLayouts/slideLayout2.xml"/><Relationship Id="rId5" Type="http://schemas.openxmlformats.org/officeDocument/2006/relationships/hyperlink" Target="https://azure.microsoft.com/overview/what-is-devops/" TargetMode="External"/><Relationship Id="rId4" Type="http://schemas.openxmlformats.org/officeDocument/2006/relationships/hyperlink" Target="https://learn.microsoft.com/en-us/devops/deliver/what-is-continuous-delivery" TargetMode="External"/></Relationships>
</file>

<file path=ppt/slides/_rels/slide38.xml.rels><?xml version="1.0" encoding="UTF-8" standalone="yes"?>
<Relationships xmlns="http://schemas.openxmlformats.org/package/2006/relationships"><Relationship Id="rId2" Type="http://schemas.openxmlformats.org/officeDocument/2006/relationships/hyperlink" Target="https://aws.amazon.com/blogs/modernizing-with-aws/how-to-federate-into-aws-from-azure-devops-using-openid-connect/"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learn.microsoft.com/en-us/azure/devops/pipelines/yaml-schema?view=azure-devops"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docs.aws.amazon.com/cli/latest/reference/cloudformation/validate-template.html"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docs.aws.amazon.com/cli/latest/reference/cloudformation/validate-template.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learn.microsoft.com/en-us/azure/devops/pipelines/troubleshooting/troubleshoot-triggers?view=azure-devops"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docs.aws.amazon.com/AWSCloudFormation/latest/TemplateReference/aws-template-resource-type-ref.html" TargetMode="External"/><Relationship Id="rId2" Type="http://schemas.openxmlformats.org/officeDocument/2006/relationships/hyperlink" Target="https://github.com/mintuminuteonline/AzureCloudformationProject" TargetMode="External"/><Relationship Id="rId1" Type="http://schemas.openxmlformats.org/officeDocument/2006/relationships/slideLayout" Target="../slideLayouts/slideLayout2.xml"/><Relationship Id="rId6" Type="http://schemas.openxmlformats.org/officeDocument/2006/relationships/hyperlink" Target="https://docs.aws.amazon.com/cli/latest/reference/cloudformation/validate-template.html" TargetMode="External"/><Relationship Id="rId5" Type="http://schemas.openxmlformats.org/officeDocument/2006/relationships/hyperlink" Target="https://learn.microsoft.com/en-us/azure/devops/pipelines/yaml-schema?view=azure-devops" TargetMode="External"/><Relationship Id="rId4" Type="http://schemas.openxmlformats.org/officeDocument/2006/relationships/hyperlink" Target="https://aws.amazon.com/blogs/modernizing-with-aws/how-to-federate-into-aws-from-azure-devops-using-openid-connect/" TargetMode="Externa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5CB57-5F6C-E365-D846-2BDDCD9800E1}"/>
              </a:ext>
            </a:extLst>
          </p:cNvPr>
          <p:cNvSpPr>
            <a:spLocks noGrp="1"/>
          </p:cNvSpPr>
          <p:nvPr>
            <p:ph type="ctrTitle"/>
          </p:nvPr>
        </p:nvSpPr>
        <p:spPr>
          <a:xfrm>
            <a:off x="1524000" y="240632"/>
            <a:ext cx="9025288" cy="1655762"/>
          </a:xfrm>
        </p:spPr>
        <p:txBody>
          <a:bodyPr>
            <a:normAutofit fontScale="90000"/>
          </a:bodyPr>
          <a:lstStyle/>
          <a:p>
            <a:br>
              <a:rPr lang="en-IN" sz="2700" b="1" u="sng" kern="0" dirty="0">
                <a:effectLst/>
                <a:latin typeface="Times New Roman" panose="02020603050405020304" pitchFamily="18" charset="0"/>
                <a:ea typeface="Times New Roman" panose="02020603050405020304" pitchFamily="18" charset="0"/>
                <a:cs typeface="Times New Roman" panose="02020603050405020304" pitchFamily="18" charset="0"/>
              </a:rPr>
            </a:br>
            <a:br>
              <a:rPr lang="en-IN" sz="2700" b="1" u="sng" kern="0" dirty="0">
                <a:effectLst/>
                <a:latin typeface="Times New Roman" panose="02020603050405020304" pitchFamily="18" charset="0"/>
                <a:ea typeface="Times New Roman" panose="02020603050405020304" pitchFamily="18" charset="0"/>
                <a:cs typeface="Times New Roman" panose="02020603050405020304" pitchFamily="18" charset="0"/>
              </a:rPr>
            </a:br>
            <a:br>
              <a:rPr lang="en-IN" sz="2700" b="1" u="sng" kern="0" dirty="0">
                <a:effectLst/>
                <a:latin typeface="Times New Roman" panose="02020603050405020304" pitchFamily="18" charset="0"/>
                <a:ea typeface="Times New Roman" panose="02020603050405020304" pitchFamily="18" charset="0"/>
                <a:cs typeface="Times New Roman" panose="02020603050405020304" pitchFamily="18" charset="0"/>
              </a:rPr>
            </a:br>
            <a:br>
              <a:rPr lang="en-IN" sz="2700" b="1" u="sng" kern="0" dirty="0">
                <a:effectLst/>
                <a:latin typeface="Times New Roman" panose="02020603050405020304" pitchFamily="18" charset="0"/>
                <a:ea typeface="Times New Roman" panose="02020603050405020304" pitchFamily="18" charset="0"/>
                <a:cs typeface="Times New Roman" panose="02020603050405020304" pitchFamily="18" charset="0"/>
              </a:rPr>
            </a:br>
            <a:br>
              <a:rPr lang="en-IN" sz="2700" b="1" u="sng" kern="0" dirty="0">
                <a:effectLst/>
                <a:latin typeface="Times New Roman" panose="02020603050405020304" pitchFamily="18" charset="0"/>
                <a:ea typeface="Times New Roman" panose="02020603050405020304" pitchFamily="18" charset="0"/>
                <a:cs typeface="Times New Roman" panose="02020603050405020304" pitchFamily="18" charset="0"/>
              </a:rPr>
            </a:br>
            <a:br>
              <a:rPr lang="en-IN" sz="2700" b="1" u="sng" kern="0" dirty="0">
                <a:effectLst/>
                <a:latin typeface="Times New Roman" panose="02020603050405020304" pitchFamily="18" charset="0"/>
                <a:ea typeface="Times New Roman" panose="02020603050405020304" pitchFamily="18" charset="0"/>
                <a:cs typeface="Times New Roman" panose="02020603050405020304" pitchFamily="18" charset="0"/>
              </a:rPr>
            </a:br>
            <a:br>
              <a:rPr lang="en-IN" sz="2700" b="1" u="sng" kern="0" dirty="0">
                <a:effectLst/>
                <a:latin typeface="Times New Roman" panose="02020603050405020304" pitchFamily="18" charset="0"/>
                <a:ea typeface="Times New Roman" panose="02020603050405020304" pitchFamily="18" charset="0"/>
                <a:cs typeface="Times New Roman" panose="02020603050405020304" pitchFamily="18" charset="0"/>
              </a:rPr>
            </a:br>
            <a:br>
              <a:rPr lang="en-IN" sz="2700" b="1" u="sng"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2700" b="1" u="sng" kern="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Training Plan:  Integrating AWS Basics Resources with Azure DevOps for Infrastructure Deployment</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Subtitle 2">
            <a:extLst>
              <a:ext uri="{FF2B5EF4-FFF2-40B4-BE49-F238E27FC236}">
                <a16:creationId xmlns:a16="http://schemas.microsoft.com/office/drawing/2014/main" id="{F3FD4D49-1935-8BA6-C407-9B5BDD943C32}"/>
              </a:ext>
            </a:extLst>
          </p:cNvPr>
          <p:cNvSpPr>
            <a:spLocks noGrp="1"/>
          </p:cNvSpPr>
          <p:nvPr>
            <p:ph type="subTitle" idx="1"/>
          </p:nvPr>
        </p:nvSpPr>
        <p:spPr>
          <a:xfrm>
            <a:off x="1122947" y="1280160"/>
            <a:ext cx="10083533" cy="4860758"/>
          </a:xfrm>
        </p:spPr>
        <p:txBody>
          <a:bodyPr/>
          <a:lstStyle/>
          <a:p>
            <a:endParaRPr lang="en-IN" b="1" i="0" dirty="0">
              <a:solidFill>
                <a:srgbClr val="111827"/>
              </a:solidFill>
              <a:effectLst/>
              <a:latin typeface="Inter"/>
            </a:endParaRPr>
          </a:p>
          <a:p>
            <a:endParaRPr lang="en-IN" b="1" dirty="0">
              <a:solidFill>
                <a:srgbClr val="111827"/>
              </a:solidFill>
              <a:latin typeface="Inter"/>
            </a:endParaRPr>
          </a:p>
          <a:p>
            <a:endParaRPr lang="en-IN" b="1" i="0" dirty="0">
              <a:solidFill>
                <a:srgbClr val="111827"/>
              </a:solidFill>
              <a:effectLst/>
              <a:latin typeface="Inter"/>
            </a:endParaRPr>
          </a:p>
          <a:p>
            <a:endParaRPr lang="en-IN" b="1" dirty="0">
              <a:solidFill>
                <a:srgbClr val="111827"/>
              </a:solidFill>
              <a:latin typeface="Inter"/>
            </a:endParaRPr>
          </a:p>
          <a:p>
            <a:pPr algn="l"/>
            <a:endParaRPr lang="en-IN" b="1" i="0" dirty="0">
              <a:solidFill>
                <a:srgbClr val="111827"/>
              </a:solidFill>
              <a:effectLst/>
              <a:latin typeface="Inter"/>
            </a:endParaRPr>
          </a:p>
          <a:p>
            <a:pPr algn="l"/>
            <a:endParaRPr lang="en-IN" b="1" dirty="0">
              <a:solidFill>
                <a:srgbClr val="111827"/>
              </a:solidFill>
              <a:latin typeface="Inter"/>
            </a:endParaRPr>
          </a:p>
          <a:p>
            <a:pPr algn="l"/>
            <a:r>
              <a:rPr lang="en-IN" b="1" i="0" dirty="0">
                <a:solidFill>
                  <a:srgbClr val="111827"/>
                </a:solidFill>
                <a:effectLst/>
                <a:latin typeface="Inter"/>
              </a:rPr>
              <a:t>Cloud Infrastructure Deployment Workflow</a:t>
            </a:r>
          </a:p>
          <a:p>
            <a:endParaRPr lang="en-IN" dirty="0"/>
          </a:p>
        </p:txBody>
      </p:sp>
      <p:pic>
        <p:nvPicPr>
          <p:cNvPr id="7" name="Picture 6">
            <a:extLst>
              <a:ext uri="{FF2B5EF4-FFF2-40B4-BE49-F238E27FC236}">
                <a16:creationId xmlns:a16="http://schemas.microsoft.com/office/drawing/2014/main" id="{1A031D6A-6C33-A63F-99B1-24216D3DB3A7}"/>
              </a:ext>
            </a:extLst>
          </p:cNvPr>
          <p:cNvPicPr>
            <a:picLocks noChangeAspect="1"/>
          </p:cNvPicPr>
          <p:nvPr/>
        </p:nvPicPr>
        <p:blipFill>
          <a:blip r:embed="rId2"/>
          <a:stretch>
            <a:fillRect/>
          </a:stretch>
        </p:blipFill>
        <p:spPr>
          <a:xfrm>
            <a:off x="1122947" y="4809741"/>
            <a:ext cx="9545053" cy="1016052"/>
          </a:xfrm>
          <a:prstGeom prst="rect">
            <a:avLst/>
          </a:prstGeom>
        </p:spPr>
      </p:pic>
      <p:pic>
        <p:nvPicPr>
          <p:cNvPr id="18" name="Picture 17">
            <a:extLst>
              <a:ext uri="{FF2B5EF4-FFF2-40B4-BE49-F238E27FC236}">
                <a16:creationId xmlns:a16="http://schemas.microsoft.com/office/drawing/2014/main" id="{B10466D2-6122-241C-E99A-E7AA33D98B9F}"/>
              </a:ext>
            </a:extLst>
          </p:cNvPr>
          <p:cNvPicPr>
            <a:picLocks noChangeAspect="1"/>
          </p:cNvPicPr>
          <p:nvPr/>
        </p:nvPicPr>
        <p:blipFill>
          <a:blip r:embed="rId3"/>
          <a:stretch>
            <a:fillRect/>
          </a:stretch>
        </p:blipFill>
        <p:spPr>
          <a:xfrm>
            <a:off x="1638966" y="1896394"/>
            <a:ext cx="9025288" cy="1801846"/>
          </a:xfrm>
          <a:prstGeom prst="rect">
            <a:avLst/>
          </a:prstGeom>
        </p:spPr>
      </p:pic>
    </p:spTree>
    <p:extLst>
      <p:ext uri="{BB962C8B-B14F-4D97-AF65-F5344CB8AC3E}">
        <p14:creationId xmlns:p14="http://schemas.microsoft.com/office/powerpoint/2010/main" val="3271517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0C462-E85C-3A6E-4944-DACA9A04F630}"/>
              </a:ext>
            </a:extLst>
          </p:cNvPr>
          <p:cNvSpPr>
            <a:spLocks noGrp="1"/>
          </p:cNvSpPr>
          <p:nvPr>
            <p:ph type="title"/>
          </p:nvPr>
        </p:nvSpPr>
        <p:spPr>
          <a:xfrm>
            <a:off x="838199" y="286603"/>
            <a:ext cx="10515599" cy="1450757"/>
          </a:xfrm>
        </p:spPr>
        <p:txBody>
          <a:bodyPr>
            <a:normAutofit fontScale="90000"/>
          </a:bodyPr>
          <a:lstStyle/>
          <a:p>
            <a:r>
              <a:rPr lang="en-US" sz="3600" b="1" dirty="0">
                <a:solidFill>
                  <a:srgbClr val="002060"/>
                </a:solidFill>
                <a:effectLst/>
                <a:latin typeface="Times New Roman" panose="02020603050405020304" pitchFamily="18" charset="0"/>
                <a:cs typeface="Times New Roman" panose="02020603050405020304" pitchFamily="18" charset="0"/>
              </a:rPr>
              <a:t>Training Plan: Integrating AWS Basics resources with Azure DevOps for Infrastructure Deployment</a:t>
            </a:r>
            <a:br>
              <a:rPr lang="en-US" dirty="0">
                <a:effectLst/>
              </a:rPr>
            </a:br>
            <a:endParaRPr lang="en-IN" dirty="0"/>
          </a:p>
        </p:txBody>
      </p:sp>
      <p:graphicFrame>
        <p:nvGraphicFramePr>
          <p:cNvPr id="6" name="Content Placeholder 5">
            <a:extLst>
              <a:ext uri="{FF2B5EF4-FFF2-40B4-BE49-F238E27FC236}">
                <a16:creationId xmlns:a16="http://schemas.microsoft.com/office/drawing/2014/main" id="{BBD94F02-DAA0-22FD-1FA0-C5BB596E7C4B}"/>
              </a:ext>
            </a:extLst>
          </p:cNvPr>
          <p:cNvGraphicFramePr>
            <a:graphicFrameLocks noGrp="1"/>
          </p:cNvGraphicFramePr>
          <p:nvPr>
            <p:ph idx="1"/>
            <p:extLst>
              <p:ext uri="{D42A27DB-BD31-4B8C-83A1-F6EECF244321}">
                <p14:modId xmlns:p14="http://schemas.microsoft.com/office/powerpoint/2010/main" val="1919858468"/>
              </p:ext>
            </p:extLst>
          </p:nvPr>
        </p:nvGraphicFramePr>
        <p:xfrm>
          <a:off x="838200" y="1376414"/>
          <a:ext cx="10515599" cy="4851133"/>
        </p:xfrm>
        <a:graphic>
          <a:graphicData uri="http://schemas.openxmlformats.org/drawingml/2006/table">
            <a:tbl>
              <a:tblPr firstRow="1" firstCol="1" bandRow="1">
                <a:tableStyleId>{5C22544A-7EE6-4342-B048-85BDC9FD1C3A}</a:tableStyleId>
              </a:tblPr>
              <a:tblGrid>
                <a:gridCol w="952145">
                  <a:extLst>
                    <a:ext uri="{9D8B030D-6E8A-4147-A177-3AD203B41FA5}">
                      <a16:colId xmlns:a16="http://schemas.microsoft.com/office/drawing/2014/main" val="2071439483"/>
                    </a:ext>
                  </a:extLst>
                </a:gridCol>
                <a:gridCol w="3801933">
                  <a:extLst>
                    <a:ext uri="{9D8B030D-6E8A-4147-A177-3AD203B41FA5}">
                      <a16:colId xmlns:a16="http://schemas.microsoft.com/office/drawing/2014/main" val="1063945562"/>
                    </a:ext>
                  </a:extLst>
                </a:gridCol>
                <a:gridCol w="5761521">
                  <a:extLst>
                    <a:ext uri="{9D8B030D-6E8A-4147-A177-3AD203B41FA5}">
                      <a16:colId xmlns:a16="http://schemas.microsoft.com/office/drawing/2014/main" val="853178798"/>
                    </a:ext>
                  </a:extLst>
                </a:gridCol>
              </a:tblGrid>
              <a:tr h="190739">
                <a:tc>
                  <a:txBody>
                    <a:bodyPr/>
                    <a:lstStyle/>
                    <a:p>
                      <a:pPr algn="ctr" fontAlgn="ctr"/>
                      <a:r>
                        <a:rPr lang="en-IN" sz="1200" u="none" strike="noStrike">
                          <a:effectLst/>
                        </a:rPr>
                        <a:t>Week</a:t>
                      </a:r>
                      <a:endParaRPr lang="en-IN" sz="1200" b="1" i="0" u="none" strike="noStrike">
                        <a:solidFill>
                          <a:srgbClr val="000000"/>
                        </a:solidFill>
                        <a:effectLst/>
                        <a:latin typeface="Calibri" panose="020F0502020204030204" pitchFamily="34" charset="0"/>
                      </a:endParaRPr>
                    </a:p>
                  </a:txBody>
                  <a:tcPr marL="5703" marR="5703" marT="5703" marB="0" anchor="ctr"/>
                </a:tc>
                <a:tc>
                  <a:txBody>
                    <a:bodyPr/>
                    <a:lstStyle/>
                    <a:p>
                      <a:pPr algn="ctr" fontAlgn="ctr"/>
                      <a:r>
                        <a:rPr lang="en-IN" sz="1200" u="none" strike="noStrike">
                          <a:effectLst/>
                        </a:rPr>
                        <a:t>Topic</a:t>
                      </a:r>
                      <a:endParaRPr lang="en-IN" sz="1200" b="1" i="0" u="none" strike="noStrike">
                        <a:solidFill>
                          <a:srgbClr val="000000"/>
                        </a:solidFill>
                        <a:effectLst/>
                        <a:latin typeface="Calibri" panose="020F0502020204030204" pitchFamily="34" charset="0"/>
                      </a:endParaRPr>
                    </a:p>
                  </a:txBody>
                  <a:tcPr marL="5703" marR="5703" marT="5703" marB="0" anchor="ctr"/>
                </a:tc>
                <a:tc>
                  <a:txBody>
                    <a:bodyPr/>
                    <a:lstStyle/>
                    <a:p>
                      <a:pPr algn="ctr" fontAlgn="ctr"/>
                      <a:r>
                        <a:rPr lang="en-IN" sz="1200" u="none" strike="noStrike" dirty="0">
                          <a:effectLst/>
                        </a:rPr>
                        <a:t>Content</a:t>
                      </a:r>
                      <a:endParaRPr lang="en-IN" sz="1200" b="1" i="0" u="none" strike="noStrike" dirty="0">
                        <a:solidFill>
                          <a:srgbClr val="000000"/>
                        </a:solidFill>
                        <a:effectLst/>
                        <a:latin typeface="Calibri" panose="020F0502020204030204" pitchFamily="34" charset="0"/>
                      </a:endParaRPr>
                    </a:p>
                  </a:txBody>
                  <a:tcPr marL="5703" marR="5703" marT="5703" marB="0" anchor="ctr"/>
                </a:tc>
                <a:extLst>
                  <a:ext uri="{0D108BD9-81ED-4DB2-BD59-A6C34878D82A}">
                    <a16:rowId xmlns:a16="http://schemas.microsoft.com/office/drawing/2014/main" val="730675528"/>
                  </a:ext>
                </a:extLst>
              </a:tr>
              <a:tr h="743882">
                <a:tc>
                  <a:txBody>
                    <a:bodyPr/>
                    <a:lstStyle/>
                    <a:p>
                      <a:pPr algn="l" fontAlgn="t"/>
                      <a:r>
                        <a:rPr lang="en-IN" sz="1200" u="none" strike="noStrike" dirty="0">
                          <a:effectLst/>
                        </a:rPr>
                        <a:t>Week 1.1</a:t>
                      </a:r>
                      <a:endParaRPr lang="en-IN" sz="1200" b="0" i="0" u="none" strike="noStrike" dirty="0">
                        <a:solidFill>
                          <a:srgbClr val="000000"/>
                        </a:solidFill>
                        <a:effectLst/>
                        <a:latin typeface="Calibri" panose="020F0502020204030204" pitchFamily="34" charset="0"/>
                      </a:endParaRPr>
                    </a:p>
                  </a:txBody>
                  <a:tcPr marL="5703" marR="5703" marT="5703" marB="0"/>
                </a:tc>
                <a:tc>
                  <a:txBody>
                    <a:bodyPr/>
                    <a:lstStyle/>
                    <a:p>
                      <a:pPr algn="l" fontAlgn="t"/>
                      <a:r>
                        <a:rPr lang="en-IN" sz="1200" u="none" strike="noStrike" dirty="0">
                          <a:effectLst/>
                          <a:latin typeface="Times New Roman" panose="02020603050405020304" pitchFamily="18" charset="0"/>
                          <a:cs typeface="Times New Roman" panose="02020603050405020304" pitchFamily="18" charset="0"/>
                        </a:rPr>
                        <a:t>Setting the Stage - Understanding the Landscape &amp; Core AWS Services</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703" marR="5703" marT="5703" marB="0"/>
                </a:tc>
                <a:tc>
                  <a:txBody>
                    <a:bodyPr/>
                    <a:lstStyle/>
                    <a:p>
                      <a:pPr marL="0" algn="l" defTabSz="914400" rtl="0" eaLnBrk="1" fontAlgn="t" latinLnBrk="0" hangingPunct="1"/>
                      <a:r>
                        <a:rPr lang="en-I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Introduction to AWS and Azure DevOps: Why integrate them?; Brief overview of core AWS services: Amazon EC2: Virtual servers in the cloud; Amazon S3: Scalable object storage; Amazon VPC: Logically isolated virtual network; Amazon CloudFront: Content Delivery Network (CDN).</a:t>
                      </a:r>
                    </a:p>
                  </a:txBody>
                  <a:tcPr marL="5703" marR="5703" marT="5703" marB="0"/>
                </a:tc>
                <a:extLst>
                  <a:ext uri="{0D108BD9-81ED-4DB2-BD59-A6C34878D82A}">
                    <a16:rowId xmlns:a16="http://schemas.microsoft.com/office/drawing/2014/main" val="3421231852"/>
                  </a:ext>
                </a:extLst>
              </a:tr>
              <a:tr h="559502">
                <a:tc>
                  <a:txBody>
                    <a:bodyPr/>
                    <a:lstStyle/>
                    <a:p>
                      <a:pPr algn="l" fontAlgn="ctr"/>
                      <a:r>
                        <a:rPr lang="en-IN" sz="1200" u="none" strike="noStrike" dirty="0">
                          <a:effectLst/>
                        </a:rPr>
                        <a:t>Week 1.2</a:t>
                      </a:r>
                      <a:endParaRPr lang="en-IN" sz="1200" b="0" i="0" u="none" strike="noStrike" dirty="0">
                        <a:solidFill>
                          <a:srgbClr val="000000"/>
                        </a:solidFill>
                        <a:effectLst/>
                        <a:latin typeface="Calibri" panose="020F0502020204030204" pitchFamily="34" charset="0"/>
                      </a:endParaRPr>
                    </a:p>
                  </a:txBody>
                  <a:tcPr marL="5703" marR="5703" marT="5703" marB="0" anchor="ctr"/>
                </a:tc>
                <a:tc>
                  <a:txBody>
                    <a:bodyPr/>
                    <a:lstStyle/>
                    <a:p>
                      <a:pPr algn="l" fontAlgn="ctr"/>
                      <a:r>
                        <a:rPr lang="en-IN" sz="1200" u="none" strike="noStrike" dirty="0">
                          <a:effectLst/>
                        </a:rPr>
                        <a:t>Authentication &amp; Authorization - The Secure Connection</a:t>
                      </a:r>
                      <a:endParaRPr lang="en-IN" sz="1200" b="0" i="0" u="none" strike="noStrike" dirty="0">
                        <a:solidFill>
                          <a:srgbClr val="000000"/>
                        </a:solidFill>
                        <a:effectLst/>
                        <a:latin typeface="Calibri" panose="020F0502020204030204" pitchFamily="34" charset="0"/>
                      </a:endParaRPr>
                    </a:p>
                  </a:txBody>
                  <a:tcPr marL="5703" marR="5703" marT="5703" marB="0" anchor="ctr"/>
                </a:tc>
                <a:tc>
                  <a:txBody>
                    <a:bodyPr/>
                    <a:lstStyle/>
                    <a:p>
                      <a:pPr marL="0" algn="l" defTabSz="914400" rtl="0" eaLnBrk="1" fontAlgn="t" latinLnBrk="0" hangingPunct="1"/>
                      <a:r>
                        <a:rPr lang="en-IN" sz="1200" u="none" strike="noStrike" kern="1200" dirty="0">
                          <a:solidFill>
                            <a:schemeClr val="dk1"/>
                          </a:solidFill>
                          <a:effectLst/>
                          <a:latin typeface="+mn-lt"/>
                          <a:ea typeface="+mn-ea"/>
                          <a:cs typeface="+mn-cs"/>
                        </a:rPr>
                        <a:t>Securely connecting Azure DevOps to AWS; Understanding AWS IAM roles for cross-service access; Setting up Azure DevOps service connections for AWS.</a:t>
                      </a:r>
                    </a:p>
                  </a:txBody>
                  <a:tcPr marL="5703" marR="5703" marT="5703" marB="0" anchor="ctr"/>
                </a:tc>
                <a:extLst>
                  <a:ext uri="{0D108BD9-81ED-4DB2-BD59-A6C34878D82A}">
                    <a16:rowId xmlns:a16="http://schemas.microsoft.com/office/drawing/2014/main" val="2281750928"/>
                  </a:ext>
                </a:extLst>
              </a:tr>
              <a:tr h="559502">
                <a:tc>
                  <a:txBody>
                    <a:bodyPr/>
                    <a:lstStyle/>
                    <a:p>
                      <a:pPr algn="l" fontAlgn="ctr"/>
                      <a:r>
                        <a:rPr lang="en-IN" sz="1200" u="none" strike="noStrike" dirty="0">
                          <a:effectLst/>
                        </a:rPr>
                        <a:t>Week 2.1</a:t>
                      </a:r>
                      <a:endParaRPr lang="en-IN" sz="1200" b="0" i="0" u="none" strike="noStrike" dirty="0">
                        <a:solidFill>
                          <a:srgbClr val="000000"/>
                        </a:solidFill>
                        <a:effectLst/>
                        <a:latin typeface="Calibri" panose="020F0502020204030204" pitchFamily="34" charset="0"/>
                      </a:endParaRPr>
                    </a:p>
                  </a:txBody>
                  <a:tcPr marL="5703" marR="5703" marT="5703" marB="0" anchor="ctr"/>
                </a:tc>
                <a:tc>
                  <a:txBody>
                    <a:bodyPr/>
                    <a:lstStyle/>
                    <a:p>
                      <a:pPr algn="l" fontAlgn="ctr"/>
                      <a:r>
                        <a:rPr lang="en-IN" sz="1200" u="none" strike="noStrike" dirty="0">
                          <a:effectLst/>
                        </a:rPr>
                        <a:t>Infrastructure as Code (</a:t>
                      </a:r>
                      <a:r>
                        <a:rPr lang="en-IN" sz="1200" u="none" strike="noStrike" dirty="0" err="1">
                          <a:effectLst/>
                        </a:rPr>
                        <a:t>IaC</a:t>
                      </a:r>
                      <a:r>
                        <a:rPr lang="en-IN" sz="1200" u="none" strike="noStrike" dirty="0">
                          <a:effectLst/>
                        </a:rPr>
                        <a:t>) - Defining Your AWS Resources (Part 1)</a:t>
                      </a:r>
                      <a:endParaRPr lang="en-IN" sz="1200" b="0" i="0" u="none" strike="noStrike" dirty="0">
                        <a:solidFill>
                          <a:srgbClr val="000000"/>
                        </a:solidFill>
                        <a:effectLst/>
                        <a:latin typeface="Calibri" panose="020F0502020204030204" pitchFamily="34" charset="0"/>
                      </a:endParaRPr>
                    </a:p>
                  </a:txBody>
                  <a:tcPr marL="5703" marR="5703" marT="5703" marB="0" anchor="ctr"/>
                </a:tc>
                <a:tc>
                  <a:txBody>
                    <a:bodyPr/>
                    <a:lstStyle/>
                    <a:p>
                      <a:pPr marL="0" algn="l" defTabSz="914400" rtl="0" eaLnBrk="1" fontAlgn="t" latinLnBrk="0" hangingPunct="1"/>
                      <a:r>
                        <a:rPr lang="en-IN" sz="1200" u="none" strike="noStrike" kern="1200" dirty="0">
                          <a:solidFill>
                            <a:schemeClr val="dk1"/>
                          </a:solidFill>
                          <a:effectLst/>
                          <a:latin typeface="+mn-lt"/>
                          <a:ea typeface="+mn-ea"/>
                          <a:cs typeface="+mn-cs"/>
                        </a:rPr>
                        <a:t>Introduction to </a:t>
                      </a:r>
                      <a:r>
                        <a:rPr lang="en-IN" sz="1200" u="none" strike="noStrike" kern="1200" dirty="0" err="1">
                          <a:solidFill>
                            <a:schemeClr val="dk1"/>
                          </a:solidFill>
                          <a:effectLst/>
                          <a:latin typeface="+mn-lt"/>
                          <a:ea typeface="+mn-ea"/>
                          <a:cs typeface="+mn-cs"/>
                        </a:rPr>
                        <a:t>IaC</a:t>
                      </a:r>
                      <a:r>
                        <a:rPr lang="en-IN" sz="1200" u="none" strike="noStrike" kern="1200" dirty="0">
                          <a:solidFill>
                            <a:schemeClr val="dk1"/>
                          </a:solidFill>
                          <a:effectLst/>
                          <a:latin typeface="+mn-lt"/>
                          <a:ea typeface="+mn-ea"/>
                          <a:cs typeface="+mn-cs"/>
                        </a:rPr>
                        <a:t> concepts and benefits; Overview of AWS CloudFormation for defining infrastructure; Defining an EC2 Instance using a simple CloudFormation snippet (AMI, instance type).</a:t>
                      </a:r>
                    </a:p>
                  </a:txBody>
                  <a:tcPr marL="5703" marR="5703" marT="5703" marB="0" anchor="ctr"/>
                </a:tc>
                <a:extLst>
                  <a:ext uri="{0D108BD9-81ED-4DB2-BD59-A6C34878D82A}">
                    <a16:rowId xmlns:a16="http://schemas.microsoft.com/office/drawing/2014/main" val="1897754108"/>
                  </a:ext>
                </a:extLst>
              </a:tr>
              <a:tr h="559502">
                <a:tc>
                  <a:txBody>
                    <a:bodyPr/>
                    <a:lstStyle/>
                    <a:p>
                      <a:pPr algn="l" fontAlgn="ctr"/>
                      <a:r>
                        <a:rPr lang="en-IN" sz="1200" u="none" strike="noStrike" dirty="0">
                          <a:effectLst/>
                        </a:rPr>
                        <a:t>Week 2.2</a:t>
                      </a:r>
                      <a:endParaRPr lang="en-IN" sz="1200" b="0" i="0" u="none" strike="noStrike" dirty="0">
                        <a:solidFill>
                          <a:srgbClr val="000000"/>
                        </a:solidFill>
                        <a:effectLst/>
                        <a:latin typeface="Calibri" panose="020F0502020204030204" pitchFamily="34" charset="0"/>
                      </a:endParaRPr>
                    </a:p>
                  </a:txBody>
                  <a:tcPr marL="5703" marR="5703" marT="5703" marB="0" anchor="ctr"/>
                </a:tc>
                <a:tc>
                  <a:txBody>
                    <a:bodyPr/>
                    <a:lstStyle/>
                    <a:p>
                      <a:pPr algn="l" fontAlgn="ctr"/>
                      <a:r>
                        <a:rPr lang="en-IN" sz="1200" u="none" strike="noStrike" dirty="0">
                          <a:effectLst/>
                        </a:rPr>
                        <a:t>Infrastructure as Code (</a:t>
                      </a:r>
                      <a:r>
                        <a:rPr lang="en-IN" sz="1200" u="none" strike="noStrike" dirty="0" err="1">
                          <a:effectLst/>
                        </a:rPr>
                        <a:t>IaC</a:t>
                      </a:r>
                      <a:r>
                        <a:rPr lang="en-IN" sz="1200" u="none" strike="noStrike" dirty="0">
                          <a:effectLst/>
                        </a:rPr>
                        <a:t>) - Defining Your AWS Resources (Part 2)</a:t>
                      </a:r>
                      <a:endParaRPr lang="en-IN" sz="1200" b="0" i="0" u="none" strike="noStrike" dirty="0">
                        <a:solidFill>
                          <a:srgbClr val="000000"/>
                        </a:solidFill>
                        <a:effectLst/>
                        <a:latin typeface="Calibri" panose="020F0502020204030204" pitchFamily="34" charset="0"/>
                      </a:endParaRPr>
                    </a:p>
                  </a:txBody>
                  <a:tcPr marL="5703" marR="5703" marT="5703" marB="0" anchor="ctr"/>
                </a:tc>
                <a:tc>
                  <a:txBody>
                    <a:bodyPr/>
                    <a:lstStyle/>
                    <a:p>
                      <a:pPr marL="0" algn="l" defTabSz="914400" rtl="0" eaLnBrk="1" fontAlgn="t" latinLnBrk="0" hangingPunct="1"/>
                      <a:r>
                        <a:rPr lang="en-IN" sz="1200" u="none" strike="noStrike" kern="1200" dirty="0">
                          <a:solidFill>
                            <a:schemeClr val="dk1"/>
                          </a:solidFill>
                          <a:effectLst/>
                          <a:latin typeface="+mn-lt"/>
                          <a:ea typeface="+mn-ea"/>
                          <a:cs typeface="+mn-cs"/>
                        </a:rPr>
                        <a:t>Defining a VPC, subnets, and routing tables within a CloudFormation template; Emphasizing network isolation and control; Illustrating how to define a CloudFront distribution, linking it to an S3 bucket or EC2 as an origin.</a:t>
                      </a:r>
                    </a:p>
                  </a:txBody>
                  <a:tcPr marL="5703" marR="5703" marT="5703" marB="0" anchor="ctr"/>
                </a:tc>
                <a:extLst>
                  <a:ext uri="{0D108BD9-81ED-4DB2-BD59-A6C34878D82A}">
                    <a16:rowId xmlns:a16="http://schemas.microsoft.com/office/drawing/2014/main" val="4268594459"/>
                  </a:ext>
                </a:extLst>
              </a:tr>
              <a:tr h="559502">
                <a:tc>
                  <a:txBody>
                    <a:bodyPr/>
                    <a:lstStyle/>
                    <a:p>
                      <a:pPr algn="l" fontAlgn="ctr"/>
                      <a:r>
                        <a:rPr lang="en-IN" sz="1200" u="none" strike="noStrike" dirty="0">
                          <a:effectLst/>
                        </a:rPr>
                        <a:t>Week 3.1</a:t>
                      </a:r>
                      <a:endParaRPr lang="en-IN" sz="1200" b="0" i="0" u="none" strike="noStrike" dirty="0">
                        <a:solidFill>
                          <a:srgbClr val="000000"/>
                        </a:solidFill>
                        <a:effectLst/>
                        <a:latin typeface="Calibri" panose="020F0502020204030204" pitchFamily="34" charset="0"/>
                      </a:endParaRPr>
                    </a:p>
                  </a:txBody>
                  <a:tcPr marL="5703" marR="5703" marT="5703" marB="0" anchor="ctr"/>
                </a:tc>
                <a:tc>
                  <a:txBody>
                    <a:bodyPr/>
                    <a:lstStyle/>
                    <a:p>
                      <a:pPr algn="l" fontAlgn="ctr"/>
                      <a:r>
                        <a:rPr lang="en-IN" sz="1200" u="none" strike="noStrike" dirty="0">
                          <a:effectLst/>
                        </a:rPr>
                        <a:t>Building Your First Deployment Pipeline - CloudFormation</a:t>
                      </a:r>
                      <a:endParaRPr lang="en-IN" sz="1200" b="0" i="0" u="none" strike="noStrike" dirty="0">
                        <a:solidFill>
                          <a:srgbClr val="000000"/>
                        </a:solidFill>
                        <a:effectLst/>
                        <a:latin typeface="Calibri" panose="020F0502020204030204" pitchFamily="34" charset="0"/>
                      </a:endParaRPr>
                    </a:p>
                  </a:txBody>
                  <a:tcPr marL="5703" marR="5703" marT="5703" marB="0" anchor="ctr"/>
                </a:tc>
                <a:tc>
                  <a:txBody>
                    <a:bodyPr/>
                    <a:lstStyle/>
                    <a:p>
                      <a:pPr marL="0" algn="l" defTabSz="914400" rtl="0" eaLnBrk="1" fontAlgn="t" latinLnBrk="0" hangingPunct="1"/>
                      <a:r>
                        <a:rPr lang="en-IN" sz="1200" u="none" strike="noStrike" kern="1200" dirty="0">
                          <a:solidFill>
                            <a:schemeClr val="dk1"/>
                          </a:solidFill>
                          <a:effectLst/>
                          <a:latin typeface="+mn-lt"/>
                          <a:ea typeface="+mn-ea"/>
                          <a:cs typeface="+mn-cs"/>
                        </a:rPr>
                        <a:t>Hands-on demonstration: Creating an Azure DevOps pipeline; Deploying a simple CloudFormation stack (e.g., EC2 instance or basic VPC setup); Key steps: Source control, build, release definition.</a:t>
                      </a:r>
                    </a:p>
                  </a:txBody>
                  <a:tcPr marL="5703" marR="5703" marT="5703" marB="0" anchor="ctr"/>
                </a:tc>
                <a:extLst>
                  <a:ext uri="{0D108BD9-81ED-4DB2-BD59-A6C34878D82A}">
                    <a16:rowId xmlns:a16="http://schemas.microsoft.com/office/drawing/2014/main" val="3259031072"/>
                  </a:ext>
                </a:extLst>
              </a:tr>
              <a:tr h="375120">
                <a:tc>
                  <a:txBody>
                    <a:bodyPr/>
                    <a:lstStyle/>
                    <a:p>
                      <a:pPr algn="l" fontAlgn="ctr"/>
                      <a:r>
                        <a:rPr lang="en-IN" sz="1200" u="none" strike="noStrike" dirty="0">
                          <a:effectLst/>
                        </a:rPr>
                        <a:t>Week 3.2</a:t>
                      </a:r>
                      <a:endParaRPr lang="en-IN" sz="1200" b="0" i="0" u="none" strike="noStrike" dirty="0">
                        <a:solidFill>
                          <a:srgbClr val="000000"/>
                        </a:solidFill>
                        <a:effectLst/>
                        <a:latin typeface="Calibri" panose="020F0502020204030204" pitchFamily="34" charset="0"/>
                      </a:endParaRPr>
                    </a:p>
                  </a:txBody>
                  <a:tcPr marL="5703" marR="5703" marT="5703" marB="0" anchor="ctr"/>
                </a:tc>
                <a:tc>
                  <a:txBody>
                    <a:bodyPr/>
                    <a:lstStyle/>
                    <a:p>
                      <a:pPr algn="l" fontAlgn="ctr"/>
                      <a:r>
                        <a:rPr lang="en-IN" sz="1200" u="none" strike="noStrike" dirty="0">
                          <a:effectLst/>
                        </a:rPr>
                        <a:t>Advanced Pipeline Concepts &amp; Best Practices</a:t>
                      </a:r>
                      <a:endParaRPr lang="en-IN" sz="1200" b="0" i="0" u="none" strike="noStrike" dirty="0">
                        <a:solidFill>
                          <a:srgbClr val="000000"/>
                        </a:solidFill>
                        <a:effectLst/>
                        <a:latin typeface="Calibri" panose="020F0502020204030204" pitchFamily="34" charset="0"/>
                      </a:endParaRPr>
                    </a:p>
                  </a:txBody>
                  <a:tcPr marL="5703" marR="5703" marT="5703" marB="0" anchor="ctr"/>
                </a:tc>
                <a:tc>
                  <a:txBody>
                    <a:bodyPr/>
                    <a:lstStyle/>
                    <a:p>
                      <a:pPr marL="0" algn="l" defTabSz="914400" rtl="0" eaLnBrk="1" fontAlgn="t" latinLnBrk="0" hangingPunct="1"/>
                      <a:r>
                        <a:rPr lang="en-IN" sz="1200" u="none" strike="noStrike" kern="1200" dirty="0">
                          <a:solidFill>
                            <a:schemeClr val="dk1"/>
                          </a:solidFill>
                          <a:effectLst/>
                          <a:latin typeface="+mn-lt"/>
                          <a:ea typeface="+mn-ea"/>
                          <a:cs typeface="+mn-cs"/>
                        </a:rPr>
                        <a:t>Enhancing pipelines with variables; Introduction to multi-stage deployments; Implementing approvals and gates for controlled deployments.</a:t>
                      </a:r>
                    </a:p>
                  </a:txBody>
                  <a:tcPr marL="5703" marR="5703" marT="5703" marB="0" anchor="ctr"/>
                </a:tc>
                <a:extLst>
                  <a:ext uri="{0D108BD9-81ED-4DB2-BD59-A6C34878D82A}">
                    <a16:rowId xmlns:a16="http://schemas.microsoft.com/office/drawing/2014/main" val="1216339046"/>
                  </a:ext>
                </a:extLst>
              </a:tr>
              <a:tr h="559502">
                <a:tc>
                  <a:txBody>
                    <a:bodyPr/>
                    <a:lstStyle/>
                    <a:p>
                      <a:pPr algn="l" fontAlgn="ctr"/>
                      <a:r>
                        <a:rPr lang="en-IN" sz="1200" u="none" strike="noStrike" dirty="0">
                          <a:effectLst/>
                        </a:rPr>
                        <a:t>Week 4.1</a:t>
                      </a:r>
                      <a:endParaRPr lang="en-IN" sz="1200" b="0" i="0" u="none" strike="noStrike" dirty="0">
                        <a:solidFill>
                          <a:srgbClr val="000000"/>
                        </a:solidFill>
                        <a:effectLst/>
                        <a:latin typeface="Calibri" panose="020F0502020204030204" pitchFamily="34" charset="0"/>
                      </a:endParaRPr>
                    </a:p>
                  </a:txBody>
                  <a:tcPr marL="5703" marR="5703" marT="5703" marB="0" anchor="ctr"/>
                </a:tc>
                <a:tc>
                  <a:txBody>
                    <a:bodyPr/>
                    <a:lstStyle/>
                    <a:p>
                      <a:pPr algn="l" fontAlgn="ctr"/>
                      <a:r>
                        <a:rPr lang="en-IN" sz="1200" u="none" strike="noStrike" dirty="0">
                          <a:effectLst/>
                        </a:rPr>
                        <a:t>Real-World Scenarios, Monitoring, and Next Steps (Part 1)</a:t>
                      </a:r>
                      <a:endParaRPr lang="en-IN" sz="1200" b="0" i="0" u="none" strike="noStrike" dirty="0">
                        <a:solidFill>
                          <a:srgbClr val="000000"/>
                        </a:solidFill>
                        <a:effectLst/>
                        <a:latin typeface="Calibri" panose="020F0502020204030204" pitchFamily="34" charset="0"/>
                      </a:endParaRPr>
                    </a:p>
                  </a:txBody>
                  <a:tcPr marL="5703" marR="5703" marT="5703" marB="0" anchor="ctr"/>
                </a:tc>
                <a:tc>
                  <a:txBody>
                    <a:bodyPr/>
                    <a:lstStyle/>
                    <a:p>
                      <a:pPr marL="0" algn="l" defTabSz="914400" rtl="0" eaLnBrk="1" fontAlgn="t" latinLnBrk="0" hangingPunct="1"/>
                      <a:r>
                        <a:rPr lang="en-IN" sz="1200" u="none" strike="noStrike" kern="1200" dirty="0">
                          <a:solidFill>
                            <a:schemeClr val="dk1"/>
                          </a:solidFill>
                          <a:effectLst/>
                          <a:latin typeface="+mn-lt"/>
                          <a:ea typeface="+mn-ea"/>
                          <a:cs typeface="+mn-cs"/>
                        </a:rPr>
                        <a:t>Demonstrating deploying a more elaborate architecture (multiple EC2 instances within a custom VPC, potentially behind a load balancer); Serving content via CloudFront in a more complex setup.</a:t>
                      </a:r>
                    </a:p>
                  </a:txBody>
                  <a:tcPr marL="5703" marR="5703" marT="5703" marB="0" anchor="ctr"/>
                </a:tc>
                <a:extLst>
                  <a:ext uri="{0D108BD9-81ED-4DB2-BD59-A6C34878D82A}">
                    <a16:rowId xmlns:a16="http://schemas.microsoft.com/office/drawing/2014/main" val="244893898"/>
                  </a:ext>
                </a:extLst>
              </a:tr>
              <a:tr h="743882">
                <a:tc>
                  <a:txBody>
                    <a:bodyPr/>
                    <a:lstStyle/>
                    <a:p>
                      <a:pPr algn="l" fontAlgn="ctr"/>
                      <a:r>
                        <a:rPr lang="en-IN" sz="1200" u="none" strike="noStrike" dirty="0">
                          <a:effectLst/>
                        </a:rPr>
                        <a:t>Week 4.2</a:t>
                      </a:r>
                      <a:endParaRPr lang="en-IN" sz="1200" b="0" i="0" u="none" strike="noStrike" dirty="0">
                        <a:solidFill>
                          <a:srgbClr val="000000"/>
                        </a:solidFill>
                        <a:effectLst/>
                        <a:latin typeface="Calibri" panose="020F0502020204030204" pitchFamily="34" charset="0"/>
                      </a:endParaRPr>
                    </a:p>
                  </a:txBody>
                  <a:tcPr marL="5703" marR="5703" marT="5703" marB="0" anchor="ctr"/>
                </a:tc>
                <a:tc>
                  <a:txBody>
                    <a:bodyPr/>
                    <a:lstStyle/>
                    <a:p>
                      <a:pPr algn="l" fontAlgn="ctr"/>
                      <a:r>
                        <a:rPr lang="en-IN" sz="1200" u="none" strike="noStrike" dirty="0">
                          <a:effectLst/>
                        </a:rPr>
                        <a:t>Real-World Scenarios, Monitoring, and Next Steps (Part 2)</a:t>
                      </a:r>
                      <a:endParaRPr lang="en-IN" sz="1200" b="0" i="0" u="none" strike="noStrike" dirty="0">
                        <a:solidFill>
                          <a:srgbClr val="000000"/>
                        </a:solidFill>
                        <a:effectLst/>
                        <a:latin typeface="Calibri" panose="020F0502020204030204" pitchFamily="34" charset="0"/>
                      </a:endParaRPr>
                    </a:p>
                  </a:txBody>
                  <a:tcPr marL="5703" marR="5703" marT="5703" marB="0" anchor="ctr"/>
                </a:tc>
                <a:tc>
                  <a:txBody>
                    <a:bodyPr/>
                    <a:lstStyle/>
                    <a:p>
                      <a:pPr marL="0" algn="l" defTabSz="914400" rtl="0" eaLnBrk="1" fontAlgn="t" latinLnBrk="0" hangingPunct="1"/>
                      <a:r>
                        <a:rPr lang="en-IN" sz="1200" u="none" strike="noStrike" kern="1200" dirty="0">
                          <a:solidFill>
                            <a:schemeClr val="dk1"/>
                          </a:solidFill>
                          <a:effectLst/>
                          <a:latin typeface="+mn-lt"/>
                          <a:ea typeface="+mn-ea"/>
                          <a:cs typeface="+mn-cs"/>
                        </a:rPr>
                        <a:t>Troubleshooting common deployment issues (EC2, VPC, CloudFront) via pipelines; Brief overview of monitoring: CloudWatch for EC2 instances, VPC flow logs, CloudFront access logs; Q&amp;A and next steps for continuous learning.</a:t>
                      </a:r>
                    </a:p>
                  </a:txBody>
                  <a:tcPr marL="5703" marR="5703" marT="5703" marB="0" anchor="ctr"/>
                </a:tc>
                <a:extLst>
                  <a:ext uri="{0D108BD9-81ED-4DB2-BD59-A6C34878D82A}">
                    <a16:rowId xmlns:a16="http://schemas.microsoft.com/office/drawing/2014/main" val="3681641206"/>
                  </a:ext>
                </a:extLst>
              </a:tr>
            </a:tbl>
          </a:graphicData>
        </a:graphic>
      </p:graphicFrame>
    </p:spTree>
    <p:extLst>
      <p:ext uri="{BB962C8B-B14F-4D97-AF65-F5344CB8AC3E}">
        <p14:creationId xmlns:p14="http://schemas.microsoft.com/office/powerpoint/2010/main" val="3300277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54A76-EE85-54F9-7013-2720750CA7F2}"/>
              </a:ext>
            </a:extLst>
          </p:cNvPr>
          <p:cNvSpPr>
            <a:spLocks noGrp="1"/>
          </p:cNvSpPr>
          <p:nvPr>
            <p:ph type="title"/>
          </p:nvPr>
        </p:nvSpPr>
        <p:spPr/>
        <p:txBody>
          <a:bodyPr>
            <a:normAutofit fontScale="90000"/>
          </a:bodyPr>
          <a:lstStyle/>
          <a:p>
            <a:pPr marL="0" algn="l" rtl="0" eaLnBrk="1" fontAlgn="t" latinLnBrk="0" hangingPunct="1">
              <a:spcBef>
                <a:spcPts val="0"/>
              </a:spcBef>
              <a:spcAft>
                <a:spcPts val="0"/>
              </a:spcAft>
            </a:pPr>
            <a:r>
              <a:rPr lang="en-IN" sz="2200" b="1" i="0" u="none" strike="noStrike" kern="1200" dirty="0">
                <a:solidFill>
                  <a:srgbClr val="002060"/>
                </a:solidFill>
                <a:effectLst/>
                <a:latin typeface="Calibri" panose="020F0502020204030204" pitchFamily="34" charset="0"/>
              </a:rPr>
              <a:t>Week 1.1</a:t>
            </a:r>
            <a:r>
              <a:rPr lang="en-IN" sz="2200" kern="1200" dirty="0">
                <a:solidFill>
                  <a:srgbClr val="002060"/>
                </a:solidFill>
                <a:latin typeface="Arial" panose="020B0604020202020204" pitchFamily="34" charset="0"/>
              </a:rPr>
              <a:t>  </a:t>
            </a:r>
            <a:br>
              <a:rPr lang="en-IN" sz="1800" kern="1200" dirty="0">
                <a:solidFill>
                  <a:srgbClr val="002060"/>
                </a:solidFill>
                <a:latin typeface="Arial" panose="020B0604020202020204" pitchFamily="34" charset="0"/>
              </a:rPr>
            </a:br>
            <a:r>
              <a:rPr lang="en-IN" sz="2700" b="1" i="0" u="none" strike="noStrike" kern="1200" dirty="0">
                <a:solidFill>
                  <a:srgbClr val="002060"/>
                </a:solidFill>
                <a:effectLst/>
                <a:latin typeface="Times New Roman" panose="02020603050405020304" pitchFamily="18" charset="0"/>
                <a:cs typeface="Times New Roman" panose="02020603050405020304" pitchFamily="18" charset="0"/>
              </a:rPr>
              <a:t>Setting the Stage - Understanding the Landscape &amp; Core AWS Services</a:t>
            </a:r>
            <a:br>
              <a:rPr lang="en-IN" sz="1800" b="0" i="0" u="none" strike="noStrike" dirty="0">
                <a:solidFill>
                  <a:srgbClr val="002060"/>
                </a:solidFill>
                <a:effectLst/>
                <a:latin typeface="Arial" panose="020B0604020202020204" pitchFamily="34" charset="0"/>
              </a:rPr>
            </a:br>
            <a:br>
              <a:rPr lang="en-IN" sz="1800" b="0" i="0" u="none" strike="noStrike" dirty="0">
                <a:solidFill>
                  <a:srgbClr val="002060"/>
                </a:solidFill>
                <a:effectLst/>
                <a:latin typeface="Arial" panose="020B0604020202020204" pitchFamily="34" charset="0"/>
              </a:rPr>
            </a:br>
            <a:endParaRPr lang="en-IN" dirty="0">
              <a:solidFill>
                <a:srgbClr val="002060"/>
              </a:solidFill>
            </a:endParaRPr>
          </a:p>
        </p:txBody>
      </p:sp>
      <p:sp>
        <p:nvSpPr>
          <p:cNvPr id="3" name="Content Placeholder 2">
            <a:extLst>
              <a:ext uri="{FF2B5EF4-FFF2-40B4-BE49-F238E27FC236}">
                <a16:creationId xmlns:a16="http://schemas.microsoft.com/office/drawing/2014/main" id="{0B6BC1C0-B332-C670-DA39-877BD2C471F8}"/>
              </a:ext>
            </a:extLst>
          </p:cNvPr>
          <p:cNvSpPr>
            <a:spLocks noGrp="1"/>
          </p:cNvSpPr>
          <p:nvPr>
            <p:ph idx="1"/>
          </p:nvPr>
        </p:nvSpPr>
        <p:spPr>
          <a:xfrm>
            <a:off x="1029903" y="1845734"/>
            <a:ext cx="10125777" cy="4023360"/>
          </a:xfrm>
        </p:spPr>
        <p:txBody>
          <a:bodyPr>
            <a:normAutofit/>
          </a:bodyPr>
          <a:lstStyle/>
          <a:p>
            <a:pPr>
              <a:buFont typeface="Arial" panose="020B0604020202020204" pitchFamily="34" charset="0"/>
              <a:buChar char="•"/>
            </a:pPr>
            <a:r>
              <a:rPr lang="en-IN" u="none" strike="noStrike" kern="1200" dirty="0">
                <a:solidFill>
                  <a:schemeClr val="dk1"/>
                </a:solidFill>
                <a:effectLst/>
                <a:latin typeface="Times New Roman" panose="02020603050405020304" pitchFamily="18" charset="0"/>
                <a:ea typeface="+mn-ea"/>
                <a:cs typeface="Times New Roman" panose="02020603050405020304" pitchFamily="18" charset="0"/>
              </a:rPr>
              <a:t>Introduction to AWS/Cloud and Azure DevOps </a:t>
            </a:r>
          </a:p>
          <a:p>
            <a:pPr>
              <a:buFont typeface="Arial" panose="020B0604020202020204" pitchFamily="34" charset="0"/>
              <a:buChar char="•"/>
            </a:pPr>
            <a:r>
              <a:rPr lang="en-IN" u="none" strike="noStrike" kern="1200" dirty="0">
                <a:solidFill>
                  <a:schemeClr val="dk1"/>
                </a:solidFill>
                <a:effectLst/>
                <a:latin typeface="Times New Roman" panose="02020603050405020304" pitchFamily="18" charset="0"/>
                <a:ea typeface="+mn-ea"/>
                <a:cs typeface="Times New Roman" panose="02020603050405020304" pitchFamily="18" charset="0"/>
              </a:rPr>
              <a:t>Why we integrate AWS and Azure DevOps ?</a:t>
            </a:r>
          </a:p>
          <a:p>
            <a:pPr>
              <a:buFont typeface="Arial" panose="020B0604020202020204" pitchFamily="34" charset="0"/>
              <a:buChar char="•"/>
            </a:pPr>
            <a:r>
              <a:rPr lang="en-IN" u="none" strike="noStrike" kern="1200" dirty="0">
                <a:solidFill>
                  <a:schemeClr val="dk1"/>
                </a:solidFill>
                <a:effectLst/>
                <a:latin typeface="Times New Roman" panose="02020603050405020304" pitchFamily="18" charset="0"/>
                <a:ea typeface="+mn-ea"/>
                <a:cs typeface="Times New Roman" panose="02020603050405020304" pitchFamily="18" charset="0"/>
              </a:rPr>
              <a:t>Brief overview of core AWS services(Compute, storage</a:t>
            </a:r>
            <a:r>
              <a:rPr lang="en-IN" dirty="0">
                <a:solidFill>
                  <a:schemeClr val="dk1"/>
                </a:solidFill>
                <a:latin typeface="Times New Roman" panose="02020603050405020304" pitchFamily="18" charset="0"/>
                <a:cs typeface="Times New Roman" panose="02020603050405020304" pitchFamily="18" charset="0"/>
              </a:rPr>
              <a:t>, </a:t>
            </a:r>
            <a:r>
              <a:rPr lang="en-IN" u="none" strike="noStrike" kern="1200" dirty="0">
                <a:solidFill>
                  <a:schemeClr val="dk1"/>
                </a:solidFill>
                <a:effectLst/>
                <a:latin typeface="Times New Roman" panose="02020603050405020304" pitchFamily="18" charset="0"/>
                <a:ea typeface="+mn-ea"/>
                <a:cs typeface="Times New Roman" panose="02020603050405020304" pitchFamily="18" charset="0"/>
              </a:rPr>
              <a:t>Networking etc.)</a:t>
            </a:r>
          </a:p>
          <a:p>
            <a:pPr>
              <a:buFont typeface="Arial" panose="020B0604020202020204" pitchFamily="34" charset="0"/>
              <a:buChar char="•"/>
            </a:pPr>
            <a:r>
              <a:rPr lang="en-IN" u="none" strike="noStrike" kern="1200" dirty="0">
                <a:solidFill>
                  <a:schemeClr val="dk1"/>
                </a:solidFill>
                <a:effectLst/>
                <a:latin typeface="Times New Roman" panose="02020603050405020304" pitchFamily="18" charset="0"/>
                <a:ea typeface="+mn-ea"/>
                <a:cs typeface="Times New Roman" panose="02020603050405020304" pitchFamily="18" charset="0"/>
              </a:rPr>
              <a:t>Amazon EC2: Virtual servers in the cloud</a:t>
            </a:r>
          </a:p>
          <a:p>
            <a:pPr>
              <a:buFont typeface="Arial" panose="020B0604020202020204" pitchFamily="34" charset="0"/>
              <a:buChar char="•"/>
            </a:pPr>
            <a:r>
              <a:rPr lang="en-IN" u="none" strike="noStrike" kern="1200" dirty="0">
                <a:solidFill>
                  <a:schemeClr val="dk1"/>
                </a:solidFill>
                <a:effectLst/>
                <a:latin typeface="Times New Roman" panose="02020603050405020304" pitchFamily="18" charset="0"/>
                <a:ea typeface="+mn-ea"/>
                <a:cs typeface="Times New Roman" panose="02020603050405020304" pitchFamily="18" charset="0"/>
              </a:rPr>
              <a:t>Amazon S3: Scalable object storage</a:t>
            </a:r>
          </a:p>
          <a:p>
            <a:pPr>
              <a:buFont typeface="Arial" panose="020B0604020202020204" pitchFamily="34" charset="0"/>
              <a:buChar char="•"/>
            </a:pPr>
            <a:r>
              <a:rPr lang="en-IN" u="none" strike="noStrike" kern="1200" dirty="0">
                <a:solidFill>
                  <a:schemeClr val="dk1"/>
                </a:solidFill>
                <a:effectLst/>
                <a:latin typeface="Times New Roman" panose="02020603050405020304" pitchFamily="18" charset="0"/>
                <a:ea typeface="+mn-ea"/>
                <a:cs typeface="Times New Roman" panose="02020603050405020304" pitchFamily="18" charset="0"/>
              </a:rPr>
              <a:t>Amazon VPC: Logically isolated virtual network</a:t>
            </a:r>
          </a:p>
          <a:p>
            <a:pPr>
              <a:buFont typeface="Arial" panose="020B0604020202020204" pitchFamily="34" charset="0"/>
              <a:buChar char="•"/>
            </a:pPr>
            <a:r>
              <a:rPr lang="en-IN" u="none" strike="noStrike" kern="1200" dirty="0">
                <a:solidFill>
                  <a:schemeClr val="dk1"/>
                </a:solidFill>
                <a:effectLst/>
                <a:latin typeface="Times New Roman" panose="02020603050405020304" pitchFamily="18" charset="0"/>
                <a:ea typeface="+mn-ea"/>
                <a:cs typeface="Times New Roman" panose="02020603050405020304" pitchFamily="18" charset="0"/>
              </a:rPr>
              <a:t>Amazon CloudFront: Content Delivery Network (CDN).</a:t>
            </a:r>
          </a:p>
          <a:p>
            <a:pPr marL="0" indent="0">
              <a:buNone/>
            </a:pPr>
            <a:r>
              <a:rPr lang="en-IN" b="1" dirty="0">
                <a:solidFill>
                  <a:srgbClr val="7030A0"/>
                </a:solidFill>
                <a:latin typeface="Times New Roman" panose="02020603050405020304" pitchFamily="18" charset="0"/>
                <a:cs typeface="Times New Roman" panose="02020603050405020304" pitchFamily="18" charset="0"/>
              </a:rPr>
              <a:t>Account setup : AWS and Azure DevOps and </a:t>
            </a:r>
            <a:r>
              <a:rPr lang="en-IN" b="1" dirty="0" err="1">
                <a:solidFill>
                  <a:srgbClr val="7030A0"/>
                </a:solidFill>
                <a:latin typeface="Times New Roman" panose="02020603050405020304" pitchFamily="18" charset="0"/>
                <a:cs typeface="Times New Roman" panose="02020603050405020304" pitchFamily="18" charset="0"/>
              </a:rPr>
              <a:t>Github</a:t>
            </a:r>
            <a:r>
              <a:rPr lang="en-IN" b="1" dirty="0">
                <a:solidFill>
                  <a:srgbClr val="7030A0"/>
                </a:solidFill>
                <a:latin typeface="Times New Roman" panose="02020603050405020304" pitchFamily="18" charset="0"/>
                <a:cs typeface="Times New Roman" panose="02020603050405020304" pitchFamily="18" charset="0"/>
              </a:rPr>
              <a:t> repo.</a:t>
            </a:r>
          </a:p>
          <a:p>
            <a:pPr marL="0" indent="0">
              <a:buNone/>
            </a:pPr>
            <a:r>
              <a:rPr lang="en-IN" b="1" u="none" strike="noStrike" kern="1200" dirty="0">
                <a:solidFill>
                  <a:srgbClr val="7030A0"/>
                </a:solidFill>
                <a:effectLst/>
                <a:latin typeface="Times New Roman" panose="02020603050405020304" pitchFamily="18" charset="0"/>
                <a:ea typeface="+mn-ea"/>
                <a:cs typeface="Times New Roman" panose="02020603050405020304" pitchFamily="18" charset="0"/>
              </a:rPr>
              <a:t>Task: create </a:t>
            </a:r>
            <a:r>
              <a:rPr lang="en-IN" b="1" dirty="0">
                <a:solidFill>
                  <a:srgbClr val="7030A0"/>
                </a:solidFill>
                <a:latin typeface="Times New Roman" panose="02020603050405020304" pitchFamily="18" charset="0"/>
                <a:cs typeface="Times New Roman" panose="02020603050405020304" pitchFamily="18" charset="0"/>
              </a:rPr>
              <a:t>AWS and Azure DevOps and </a:t>
            </a:r>
            <a:r>
              <a:rPr lang="en-IN" b="1" dirty="0" err="1">
                <a:solidFill>
                  <a:srgbClr val="7030A0"/>
                </a:solidFill>
                <a:latin typeface="Times New Roman" panose="02020603050405020304" pitchFamily="18" charset="0"/>
                <a:cs typeface="Times New Roman" panose="02020603050405020304" pitchFamily="18" charset="0"/>
              </a:rPr>
              <a:t>Github</a:t>
            </a:r>
            <a:r>
              <a:rPr lang="en-IN" b="1" dirty="0">
                <a:solidFill>
                  <a:srgbClr val="7030A0"/>
                </a:solidFill>
                <a:latin typeface="Times New Roman" panose="02020603050405020304" pitchFamily="18" charset="0"/>
                <a:cs typeface="Times New Roman" panose="02020603050405020304" pitchFamily="18" charset="0"/>
              </a:rPr>
              <a:t> repo</a:t>
            </a:r>
            <a:r>
              <a:rPr lang="en-IN" b="1" u="none" strike="noStrike" kern="1200" dirty="0">
                <a:solidFill>
                  <a:srgbClr val="7030A0"/>
                </a:solidFill>
                <a:effectLst/>
                <a:latin typeface="Times New Roman" panose="02020603050405020304" pitchFamily="18" charset="0"/>
                <a:ea typeface="+mn-ea"/>
                <a:cs typeface="Times New Roman" panose="02020603050405020304" pitchFamily="18" charset="0"/>
              </a:rPr>
              <a:t> in your own environment.</a:t>
            </a:r>
          </a:p>
          <a:p>
            <a:endParaRPr lang="en-IN" dirty="0"/>
          </a:p>
        </p:txBody>
      </p:sp>
    </p:spTree>
    <p:extLst>
      <p:ext uri="{BB962C8B-B14F-4D97-AF65-F5344CB8AC3E}">
        <p14:creationId xmlns:p14="http://schemas.microsoft.com/office/powerpoint/2010/main" val="1402786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E0B6D-7A06-A6EF-956F-7E9416463240}"/>
              </a:ext>
            </a:extLst>
          </p:cNvPr>
          <p:cNvSpPr>
            <a:spLocks noGrp="1"/>
          </p:cNvSpPr>
          <p:nvPr>
            <p:ph type="title"/>
          </p:nvPr>
        </p:nvSpPr>
        <p:spPr/>
        <p:txBody>
          <a:bodyPr>
            <a:normAutofit/>
          </a:bodyPr>
          <a:lstStyle/>
          <a:p>
            <a:r>
              <a:rPr lang="en-IN" sz="2400" b="1" i="0" u="none" strike="noStrike" kern="1200" dirty="0">
                <a:solidFill>
                  <a:srgbClr val="002060"/>
                </a:solidFill>
                <a:effectLst/>
                <a:latin typeface="Calibri" panose="020F0502020204030204" pitchFamily="34" charset="0"/>
              </a:rPr>
              <a:t>Week 1.1</a:t>
            </a:r>
            <a:r>
              <a:rPr lang="en-IN" sz="2400" kern="1200" dirty="0">
                <a:solidFill>
                  <a:srgbClr val="002060"/>
                </a:solidFill>
                <a:latin typeface="Arial" panose="020B0604020202020204" pitchFamily="34" charset="0"/>
              </a:rPr>
              <a:t>  </a:t>
            </a:r>
            <a:br>
              <a:rPr lang="en-IN" sz="2400" kern="1200" dirty="0">
                <a:solidFill>
                  <a:srgbClr val="002060"/>
                </a:solidFill>
                <a:latin typeface="Arial" panose="020B0604020202020204" pitchFamily="34" charset="0"/>
              </a:rPr>
            </a:br>
            <a:r>
              <a:rPr lang="en-IN" sz="2400" b="1" i="0" u="none" strike="noStrike" kern="1200" dirty="0">
                <a:solidFill>
                  <a:srgbClr val="002060"/>
                </a:solidFill>
                <a:effectLst/>
                <a:latin typeface="Times New Roman" panose="02020603050405020304" pitchFamily="18" charset="0"/>
                <a:cs typeface="Times New Roman" panose="02020603050405020304" pitchFamily="18" charset="0"/>
              </a:rPr>
              <a:t>Setting the Stage - Understanding the Landscape &amp; Core AWS Services</a:t>
            </a:r>
            <a:br>
              <a:rPr lang="en-IN" sz="2400" b="0" i="0" u="none" strike="noStrike" dirty="0">
                <a:solidFill>
                  <a:srgbClr val="002060"/>
                </a:solidFill>
                <a:effectLst/>
                <a:latin typeface="Arial" panose="020B0604020202020204" pitchFamily="34" charset="0"/>
              </a:rPr>
            </a:br>
            <a:br>
              <a:rPr lang="en-IN" sz="2400" b="0" i="0" u="none" strike="noStrike" dirty="0">
                <a:solidFill>
                  <a:srgbClr val="002060"/>
                </a:solidFill>
                <a:effectLst/>
                <a:latin typeface="Arial" panose="020B0604020202020204" pitchFamily="34" charset="0"/>
              </a:rPr>
            </a:br>
            <a:endParaRPr lang="en-IN" sz="2400" dirty="0"/>
          </a:p>
        </p:txBody>
      </p:sp>
      <p:sp>
        <p:nvSpPr>
          <p:cNvPr id="3" name="Content Placeholder 2">
            <a:extLst>
              <a:ext uri="{FF2B5EF4-FFF2-40B4-BE49-F238E27FC236}">
                <a16:creationId xmlns:a16="http://schemas.microsoft.com/office/drawing/2014/main" id="{6C10E9F5-A6EC-E8FE-02CA-4A2912466FD3}"/>
              </a:ext>
            </a:extLst>
          </p:cNvPr>
          <p:cNvSpPr>
            <a:spLocks noGrp="1"/>
          </p:cNvSpPr>
          <p:nvPr>
            <p:ph idx="1"/>
          </p:nvPr>
        </p:nvSpPr>
        <p:spPr/>
        <p:txBody>
          <a:bodyPr>
            <a:normAutofit lnSpcReduction="10000"/>
          </a:bodyPr>
          <a:lstStyle/>
          <a:p>
            <a:pPr>
              <a:buFont typeface="Arial" panose="020B0604020202020204" pitchFamily="34" charset="0"/>
              <a:buChar char="•"/>
            </a:pPr>
            <a:r>
              <a:rPr lang="en-IN" b="1" spc="-50" dirty="0">
                <a:solidFill>
                  <a:srgbClr val="002060"/>
                </a:solidFill>
                <a:latin typeface="Times New Roman" panose="02020603050405020304" pitchFamily="18" charset="0"/>
                <a:ea typeface="+mj-ea"/>
                <a:cs typeface="Times New Roman" panose="02020603050405020304" pitchFamily="18" charset="0"/>
              </a:rPr>
              <a:t>Introduction to AWS/Cloud and Azure DevOps :</a:t>
            </a:r>
            <a:r>
              <a:rPr lang="en-IN" sz="1600" spc="-50" dirty="0">
                <a:solidFill>
                  <a:schemeClr val="tx1"/>
                </a:solidFill>
                <a:latin typeface="Times New Roman" panose="02020603050405020304" pitchFamily="18" charset="0"/>
                <a:ea typeface="+mj-ea"/>
                <a:cs typeface="Times New Roman" panose="02020603050405020304" pitchFamily="18" charset="0"/>
              </a:rPr>
              <a:t>Azure DevOps, developed by Microsoft, is a suite of tools designed to support the software development lifecycle. It includes:</a:t>
            </a:r>
          </a:p>
          <a:p>
            <a:pPr marL="0" indent="0">
              <a:buNone/>
            </a:pPr>
            <a:r>
              <a:rPr lang="en-IN" sz="1600" b="1" spc="-50" dirty="0">
                <a:solidFill>
                  <a:schemeClr val="tx1"/>
                </a:solidFill>
                <a:latin typeface="Times New Roman" panose="02020603050405020304" pitchFamily="18" charset="0"/>
                <a:ea typeface="+mj-ea"/>
                <a:cs typeface="Times New Roman" panose="02020603050405020304" pitchFamily="18" charset="0"/>
              </a:rPr>
              <a:t>Azure Boards,   Azure Repos,  Azure Test Plans,  Azure Artifacts.</a:t>
            </a:r>
          </a:p>
          <a:p>
            <a:pPr>
              <a:buFont typeface="Arial" panose="020B0604020202020204" pitchFamily="34" charset="0"/>
              <a:buChar char="•"/>
              <a:tabLst>
                <a:tab pos="457200" algn="l"/>
              </a:tabLst>
            </a:pPr>
            <a:r>
              <a:rPr lang="en-IN" b="1" spc="-50" dirty="0">
                <a:solidFill>
                  <a:srgbClr val="002060"/>
                </a:solidFill>
                <a:latin typeface="Times New Roman" panose="02020603050405020304" pitchFamily="18" charset="0"/>
                <a:ea typeface="+mj-ea"/>
                <a:cs typeface="Times New Roman" panose="02020603050405020304" pitchFamily="18" charset="0"/>
              </a:rPr>
              <a:t>Why we integrate AWS and Azure DevOps : </a:t>
            </a:r>
            <a:r>
              <a:rPr lang="en-US" sz="1400" b="0" i="0" u="none" strike="noStrike" baseline="0" dirty="0">
                <a:solidFill>
                  <a:srgbClr val="000000"/>
                </a:solidFill>
                <a:latin typeface="Times New Roman" panose="02020603050405020304" pitchFamily="18" charset="0"/>
              </a:rPr>
              <a:t>Integrating AWS and Azure DevOps allows organizations to combine AWS’s robust cloud infrastructure with Azure DevOps’ advanced development tools. </a:t>
            </a:r>
          </a:p>
          <a:p>
            <a:pPr algn="l"/>
            <a:r>
              <a:rPr lang="en-US" sz="1400" dirty="0">
                <a:solidFill>
                  <a:srgbClr val="000000"/>
                </a:solidFill>
                <a:latin typeface="Times New Roman" panose="02020603050405020304" pitchFamily="18" charset="0"/>
                <a:cs typeface="Times New Roman" panose="02020603050405020304" pitchFamily="18" charset="0"/>
              </a:rPr>
              <a:t>    </a:t>
            </a:r>
            <a:r>
              <a:rPr lang="en-US" sz="1400" b="1" dirty="0" err="1">
                <a:solidFill>
                  <a:srgbClr val="000000"/>
                </a:solidFill>
                <a:latin typeface="Times New Roman" panose="02020603050405020304" pitchFamily="18" charset="0"/>
                <a:cs typeface="Times New Roman" panose="02020603050405020304" pitchFamily="18" charset="0"/>
              </a:rPr>
              <a:t>Multicloud</a:t>
            </a:r>
            <a:r>
              <a:rPr lang="en-US" sz="1400" b="1" dirty="0">
                <a:solidFill>
                  <a:srgbClr val="000000"/>
                </a:solidFill>
                <a:latin typeface="Times New Roman" panose="02020603050405020304" pitchFamily="18" charset="0"/>
                <a:cs typeface="Times New Roman" panose="02020603050405020304" pitchFamily="18" charset="0"/>
              </a:rPr>
              <a:t> Strategy,  </a:t>
            </a:r>
            <a:r>
              <a:rPr lang="en-IN" sz="1800" b="1" dirty="0">
                <a:solidFill>
                  <a:srgbClr val="000000"/>
                </a:solidFill>
              </a:rPr>
              <a:t> </a:t>
            </a:r>
            <a:r>
              <a:rPr lang="en-IN" sz="1400" b="1" dirty="0">
                <a:solidFill>
                  <a:srgbClr val="000000"/>
                </a:solidFill>
                <a:latin typeface="Times New Roman" panose="02020603050405020304" pitchFamily="18" charset="0"/>
                <a:cs typeface="Times New Roman" panose="02020603050405020304" pitchFamily="18" charset="0"/>
              </a:rPr>
              <a:t>Automation and CI/CD,  Migration and Hybrid Environments , Security and Compliance , Flexibility.</a:t>
            </a:r>
          </a:p>
          <a:p>
            <a:pPr algn="l">
              <a:buFont typeface="Arial" panose="020B0604020202020204" pitchFamily="34" charset="0"/>
              <a:buChar char="•"/>
            </a:pPr>
            <a:r>
              <a:rPr lang="en-IN" b="1" spc="-50" dirty="0">
                <a:solidFill>
                  <a:srgbClr val="002060"/>
                </a:solidFill>
                <a:latin typeface="Times New Roman" panose="02020603050405020304" pitchFamily="18" charset="0"/>
                <a:ea typeface="+mj-ea"/>
                <a:cs typeface="Times New Roman" panose="02020603050405020304" pitchFamily="18" charset="0"/>
              </a:rPr>
              <a:t>Brief overview of core AWS services: </a:t>
            </a:r>
          </a:p>
          <a:p>
            <a:pPr marL="0" indent="0" algn="l">
              <a:buNone/>
            </a:pPr>
            <a:r>
              <a:rPr lang="en-IN" sz="1600" b="1" spc="-50" dirty="0">
                <a:solidFill>
                  <a:schemeClr val="tx1"/>
                </a:solidFill>
                <a:latin typeface="Times New Roman" panose="02020603050405020304" pitchFamily="18" charset="0"/>
                <a:ea typeface="+mj-ea"/>
                <a:cs typeface="Times New Roman" panose="02020603050405020304" pitchFamily="18" charset="0"/>
              </a:rPr>
              <a:t>Compute : </a:t>
            </a:r>
            <a:r>
              <a:rPr lang="en-US" sz="1600" b="1" spc="-50" dirty="0">
                <a:solidFill>
                  <a:srgbClr val="000000"/>
                </a:solidFill>
                <a:latin typeface="Times New Roman" panose="02020603050405020304" pitchFamily="18" charset="0"/>
                <a:ea typeface="+mj-ea"/>
                <a:cs typeface="Times New Roman" panose="02020603050405020304" pitchFamily="18" charset="0"/>
              </a:rPr>
              <a:t>O</a:t>
            </a:r>
            <a:r>
              <a:rPr lang="en-US" sz="1600" dirty="0">
                <a:solidFill>
                  <a:srgbClr val="000000"/>
                </a:solidFill>
                <a:latin typeface="Times New Roman" panose="02020603050405020304" pitchFamily="18" charset="0"/>
              </a:rPr>
              <a:t>n-demand, scalable, cost-effective virtual processing power and resources to run applications and workloads .</a:t>
            </a:r>
          </a:p>
          <a:p>
            <a:pPr marL="0" indent="0" algn="l">
              <a:buNone/>
            </a:pPr>
            <a:r>
              <a:rPr lang="en-IN" sz="1600" b="1" spc="-50" dirty="0">
                <a:solidFill>
                  <a:schemeClr val="tx1"/>
                </a:solidFill>
                <a:latin typeface="Times New Roman" panose="02020603050405020304" pitchFamily="18" charset="0"/>
                <a:ea typeface="+mj-ea"/>
                <a:cs typeface="Times New Roman" panose="02020603050405020304" pitchFamily="18" charset="0"/>
              </a:rPr>
              <a:t>                       EC2, Elastic Beanstalk, Lambda etc.</a:t>
            </a:r>
          </a:p>
          <a:p>
            <a:pPr marL="0" indent="0" algn="l">
              <a:buNone/>
            </a:pPr>
            <a:r>
              <a:rPr lang="en-IN" sz="1600" b="1" spc="-50" dirty="0">
                <a:solidFill>
                  <a:schemeClr val="tx1"/>
                </a:solidFill>
                <a:latin typeface="Times New Roman" panose="02020603050405020304" pitchFamily="18" charset="0"/>
                <a:ea typeface="+mj-ea"/>
                <a:cs typeface="Times New Roman" panose="02020603050405020304" pitchFamily="18" charset="0"/>
              </a:rPr>
              <a:t>Networking: VPC: </a:t>
            </a:r>
            <a:r>
              <a:rPr lang="en-US" sz="1600" dirty="0">
                <a:solidFill>
                  <a:srgbClr val="000000"/>
                </a:solidFill>
                <a:latin typeface="Times New Roman" panose="02020603050405020304" pitchFamily="18" charset="0"/>
              </a:rPr>
              <a:t>building, managing, and securing your virtual network.(VPC)</a:t>
            </a:r>
            <a:endParaRPr lang="en-IN" sz="1600" dirty="0">
              <a:solidFill>
                <a:srgbClr val="000000"/>
              </a:solidFill>
              <a:latin typeface="Times New Roman" panose="02020603050405020304" pitchFamily="18" charset="0"/>
            </a:endParaRPr>
          </a:p>
          <a:p>
            <a:pPr marL="0" indent="0" algn="l">
              <a:buNone/>
            </a:pPr>
            <a:r>
              <a:rPr lang="en-IN" sz="1600" b="1" spc="-50" dirty="0">
                <a:solidFill>
                  <a:schemeClr val="tx1"/>
                </a:solidFill>
                <a:latin typeface="Times New Roman" panose="02020603050405020304" pitchFamily="18" charset="0"/>
                <a:ea typeface="+mj-ea"/>
                <a:cs typeface="Times New Roman" panose="02020603050405020304" pitchFamily="18" charset="0"/>
              </a:rPr>
              <a:t>Storage : </a:t>
            </a:r>
            <a:r>
              <a:rPr lang="en-IN" sz="1600" spc="-50" dirty="0">
                <a:solidFill>
                  <a:schemeClr val="tx1"/>
                </a:solidFill>
                <a:latin typeface="Times New Roman" panose="02020603050405020304" pitchFamily="18" charset="0"/>
                <a:ea typeface="+mj-ea"/>
                <a:cs typeface="Times New Roman" panose="02020603050405020304" pitchFamily="18" charset="0"/>
              </a:rPr>
              <a:t>Block storage, File storage, Object storage. (S3).</a:t>
            </a:r>
            <a:endParaRPr lang="en-IN" sz="1600" b="1" spc="-50" dirty="0">
              <a:solidFill>
                <a:schemeClr val="tx1"/>
              </a:solidFill>
              <a:latin typeface="Times New Roman" panose="02020603050405020304" pitchFamily="18" charset="0"/>
              <a:ea typeface="+mj-ea"/>
              <a:cs typeface="Times New Roman" panose="02020603050405020304" pitchFamily="18" charset="0"/>
            </a:endParaRPr>
          </a:p>
          <a:p>
            <a:pPr algn="l"/>
            <a:endParaRPr lang="en-IN" sz="1400" dirty="0">
              <a:solidFill>
                <a:srgbClr val="000000"/>
              </a:solidFill>
              <a:latin typeface="Times New Roman" panose="02020603050405020304" pitchFamily="18" charset="0"/>
              <a:cs typeface="Times New Roman" panose="02020603050405020304" pitchFamily="18" charset="0"/>
            </a:endParaRPr>
          </a:p>
          <a:p>
            <a:pPr algn="l"/>
            <a:endParaRPr lang="en-IN" sz="1400" dirty="0">
              <a:solidFill>
                <a:srgbClr val="000000"/>
              </a:solidFill>
              <a:latin typeface="Times New Roman" panose="02020603050405020304" pitchFamily="18" charset="0"/>
              <a:cs typeface="Times New Roman" panose="02020603050405020304" pitchFamily="18" charset="0"/>
            </a:endParaRPr>
          </a:p>
          <a:p>
            <a:pPr algn="l"/>
            <a:endParaRPr lang="en-IN" sz="1400" dirty="0">
              <a:solidFill>
                <a:srgbClr val="000000"/>
              </a:solidFill>
              <a:latin typeface="Times New Roman" panose="02020603050405020304" pitchFamily="18" charset="0"/>
              <a:cs typeface="Times New Roman" panose="02020603050405020304" pitchFamily="18" charset="0"/>
            </a:endParaRPr>
          </a:p>
          <a:p>
            <a:pPr algn="l"/>
            <a:endParaRPr lang="en-IN" sz="1400" dirty="0">
              <a:solidFill>
                <a:schemeClr val="dk1"/>
              </a:solidFill>
              <a:latin typeface="Times New Roman" panose="02020603050405020304" pitchFamily="18" charset="0"/>
              <a:cs typeface="Times New Roman" panose="02020603050405020304" pitchFamily="18" charset="0"/>
            </a:endParaRPr>
          </a:p>
          <a:p>
            <a:pPr marL="0" lvl="0" indent="0">
              <a:lnSpc>
                <a:spcPct val="107000"/>
              </a:lnSpc>
              <a:spcAft>
                <a:spcPts val="800"/>
              </a:spcAft>
              <a:buSzPts val="1000"/>
              <a:buNone/>
              <a:tabLst>
                <a:tab pos="457200" algn="l"/>
              </a:tabLst>
            </a:pP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dirty="0"/>
          </a:p>
        </p:txBody>
      </p:sp>
    </p:spTree>
    <p:extLst>
      <p:ext uri="{BB962C8B-B14F-4D97-AF65-F5344CB8AC3E}">
        <p14:creationId xmlns:p14="http://schemas.microsoft.com/office/powerpoint/2010/main" val="360744488"/>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1F2A7-9E00-6013-3B07-66815E605620}"/>
              </a:ext>
            </a:extLst>
          </p:cNvPr>
          <p:cNvSpPr>
            <a:spLocks noGrp="1"/>
          </p:cNvSpPr>
          <p:nvPr>
            <p:ph type="title"/>
          </p:nvPr>
        </p:nvSpPr>
        <p:spPr/>
        <p:txBody>
          <a:bodyPr>
            <a:normAutofit/>
          </a:bodyPr>
          <a:lstStyle/>
          <a:p>
            <a:r>
              <a:rPr lang="en-IN" sz="2400" b="1" i="0" u="none" strike="noStrike" kern="1200" dirty="0">
                <a:solidFill>
                  <a:srgbClr val="002060"/>
                </a:solidFill>
                <a:effectLst/>
                <a:latin typeface="Calibri" panose="020F0502020204030204" pitchFamily="34" charset="0"/>
              </a:rPr>
              <a:t>Week 1.1</a:t>
            </a:r>
            <a:r>
              <a:rPr lang="en-IN" sz="2400" kern="1200" dirty="0">
                <a:solidFill>
                  <a:srgbClr val="002060"/>
                </a:solidFill>
                <a:latin typeface="Arial" panose="020B0604020202020204" pitchFamily="34" charset="0"/>
              </a:rPr>
              <a:t>  </a:t>
            </a:r>
            <a:br>
              <a:rPr lang="en-IN" sz="2400" kern="1200" dirty="0">
                <a:solidFill>
                  <a:srgbClr val="002060"/>
                </a:solidFill>
                <a:latin typeface="Arial" panose="020B0604020202020204" pitchFamily="34" charset="0"/>
              </a:rPr>
            </a:br>
            <a:r>
              <a:rPr lang="en-IN" sz="2400" b="1" i="0" u="none" strike="noStrike" kern="1200" dirty="0">
                <a:solidFill>
                  <a:srgbClr val="002060"/>
                </a:solidFill>
                <a:effectLst/>
                <a:latin typeface="Times New Roman" panose="02020603050405020304" pitchFamily="18" charset="0"/>
                <a:cs typeface="Times New Roman" panose="02020603050405020304" pitchFamily="18" charset="0"/>
              </a:rPr>
              <a:t>Setting the Stage - Understanding the Landscape &amp; Core AWS Services</a:t>
            </a:r>
            <a:br>
              <a:rPr lang="en-IN" sz="2400" b="0" i="0" u="none" strike="noStrike" dirty="0">
                <a:solidFill>
                  <a:srgbClr val="002060"/>
                </a:solidFill>
                <a:effectLst/>
                <a:latin typeface="Arial" panose="020B0604020202020204" pitchFamily="34" charset="0"/>
              </a:rPr>
            </a:br>
            <a:br>
              <a:rPr lang="en-IN" sz="2400" b="0" i="0" u="none" strike="noStrike" dirty="0">
                <a:solidFill>
                  <a:srgbClr val="002060"/>
                </a:solidFill>
                <a:effectLst/>
                <a:latin typeface="Arial" panose="020B0604020202020204" pitchFamily="34" charset="0"/>
              </a:rPr>
            </a:br>
            <a:endParaRPr lang="en-IN" sz="2400" dirty="0"/>
          </a:p>
        </p:txBody>
      </p:sp>
      <p:sp>
        <p:nvSpPr>
          <p:cNvPr id="3" name="Content Placeholder 2">
            <a:extLst>
              <a:ext uri="{FF2B5EF4-FFF2-40B4-BE49-F238E27FC236}">
                <a16:creationId xmlns:a16="http://schemas.microsoft.com/office/drawing/2014/main" id="{CD512D9C-664E-E4E7-FA33-F44D8C8E119B}"/>
              </a:ext>
            </a:extLst>
          </p:cNvPr>
          <p:cNvSpPr>
            <a:spLocks noGrp="1"/>
          </p:cNvSpPr>
          <p:nvPr>
            <p:ph idx="1"/>
          </p:nvPr>
        </p:nvSpPr>
        <p:spPr>
          <a:xfrm>
            <a:off x="1097280" y="1845734"/>
            <a:ext cx="10058400" cy="4247058"/>
          </a:xfrm>
        </p:spPr>
        <p:txBody>
          <a:bodyPr>
            <a:normAutofit/>
          </a:bodyPr>
          <a:lstStyle/>
          <a:p>
            <a:pPr>
              <a:buFont typeface="Arial" panose="020B0604020202020204" pitchFamily="34" charset="0"/>
              <a:buChar char="•"/>
            </a:pPr>
            <a:r>
              <a:rPr lang="en-IN" b="1" u="none" strike="noStrike" kern="1200" dirty="0">
                <a:solidFill>
                  <a:srgbClr val="002060"/>
                </a:solidFill>
                <a:effectLst/>
                <a:latin typeface="Times New Roman" panose="02020603050405020304" pitchFamily="18" charset="0"/>
                <a:ea typeface="+mn-ea"/>
                <a:cs typeface="Times New Roman" panose="02020603050405020304" pitchFamily="18" charset="0"/>
              </a:rPr>
              <a:t>Amazon EC2: Virtual servers in the cloud: </a:t>
            </a:r>
          </a:p>
          <a:p>
            <a:r>
              <a:rPr lang="en-IN" dirty="0"/>
              <a:t> </a:t>
            </a:r>
            <a:r>
              <a:rPr lang="en-US" sz="1800" dirty="0">
                <a:latin typeface="Times New Roman" panose="02020603050405020304" pitchFamily="18" charset="0"/>
                <a:cs typeface="Times New Roman" panose="02020603050405020304" pitchFamily="18" charset="0"/>
              </a:rPr>
              <a:t>EC2 provides resizable compute capacity in the cloud, allowing users to launch virtual servers, known as instances, as needed.</a:t>
            </a:r>
          </a:p>
          <a:p>
            <a:r>
              <a:rPr lang="en-US" sz="1800" dirty="0">
                <a:latin typeface="Times New Roman" panose="02020603050405020304" pitchFamily="18" charset="0"/>
                <a:cs typeface="Times New Roman" panose="02020603050405020304" pitchFamily="18" charset="0"/>
              </a:rPr>
              <a:t>Type:</a:t>
            </a:r>
          </a:p>
          <a:p>
            <a:r>
              <a:rPr lang="en-US" sz="1800" dirty="0">
                <a:latin typeface="Times New Roman" panose="02020603050405020304" pitchFamily="18" charset="0"/>
                <a:cs typeface="Times New Roman" panose="02020603050405020304" pitchFamily="18" charset="0"/>
              </a:rPr>
              <a:t>Based and purchasing option</a:t>
            </a:r>
          </a:p>
          <a:p>
            <a:r>
              <a:rPr lang="en-US" sz="1600" dirty="0">
                <a:latin typeface="Times New Roman" panose="02020603050405020304" pitchFamily="18" charset="0"/>
                <a:cs typeface="Times New Roman" panose="02020603050405020304" pitchFamily="18" charset="0"/>
              </a:rPr>
              <a:t>On-demand, reserved, scheduled, spot etc.</a:t>
            </a:r>
          </a:p>
          <a:p>
            <a:r>
              <a:rPr lang="en-US" sz="1800" dirty="0">
                <a:latin typeface="Times New Roman" panose="02020603050405020304" pitchFamily="18" charset="0"/>
                <a:cs typeface="Times New Roman" panose="02020603050405020304" pitchFamily="18" charset="0"/>
              </a:rPr>
              <a:t>Based on workloads:</a:t>
            </a:r>
          </a:p>
          <a:p>
            <a:r>
              <a:rPr lang="en-US" sz="1800" dirty="0">
                <a:latin typeface="Times New Roman" panose="02020603050405020304" pitchFamily="18" charset="0"/>
                <a:cs typeface="Times New Roman" panose="02020603050405020304" pitchFamily="18" charset="0"/>
              </a:rPr>
              <a:t>Compute optimized, memory optimized, accelerated optimized, storage optimized etc.</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9120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D1C26-488F-DE52-32FD-E9F71FF2592B}"/>
              </a:ext>
            </a:extLst>
          </p:cNvPr>
          <p:cNvSpPr>
            <a:spLocks noGrp="1"/>
          </p:cNvSpPr>
          <p:nvPr>
            <p:ph type="title"/>
          </p:nvPr>
        </p:nvSpPr>
        <p:spPr/>
        <p:txBody>
          <a:bodyPr>
            <a:normAutofit/>
          </a:bodyPr>
          <a:lstStyle/>
          <a:p>
            <a:r>
              <a:rPr lang="en-IN" sz="2400" b="1" i="0" u="none" strike="noStrike" kern="1200" dirty="0">
                <a:solidFill>
                  <a:srgbClr val="002060"/>
                </a:solidFill>
                <a:effectLst/>
                <a:latin typeface="Calibri" panose="020F0502020204030204" pitchFamily="34" charset="0"/>
              </a:rPr>
              <a:t>Week 1.1</a:t>
            </a:r>
            <a:r>
              <a:rPr lang="en-IN" sz="2400" kern="1200" dirty="0">
                <a:solidFill>
                  <a:srgbClr val="002060"/>
                </a:solidFill>
                <a:latin typeface="Arial" panose="020B0604020202020204" pitchFamily="34" charset="0"/>
              </a:rPr>
              <a:t>  </a:t>
            </a:r>
            <a:br>
              <a:rPr lang="en-IN" sz="2400" kern="1200" dirty="0">
                <a:solidFill>
                  <a:srgbClr val="002060"/>
                </a:solidFill>
                <a:latin typeface="Arial" panose="020B0604020202020204" pitchFamily="34" charset="0"/>
              </a:rPr>
            </a:br>
            <a:r>
              <a:rPr lang="en-IN" sz="2400" b="1" i="0" u="none" strike="noStrike" kern="1200" dirty="0">
                <a:solidFill>
                  <a:srgbClr val="002060"/>
                </a:solidFill>
                <a:effectLst/>
                <a:latin typeface="Times New Roman" panose="02020603050405020304" pitchFamily="18" charset="0"/>
                <a:cs typeface="Times New Roman" panose="02020603050405020304" pitchFamily="18" charset="0"/>
              </a:rPr>
              <a:t>Setting the Stage - Understanding the Landscape &amp; Core AWS Services</a:t>
            </a:r>
            <a:br>
              <a:rPr lang="en-IN" sz="2400" b="0" i="0" u="none" strike="noStrike" dirty="0">
                <a:solidFill>
                  <a:srgbClr val="002060"/>
                </a:solidFill>
                <a:effectLst/>
                <a:latin typeface="Arial" panose="020B0604020202020204" pitchFamily="34" charset="0"/>
              </a:rPr>
            </a:br>
            <a:br>
              <a:rPr lang="en-IN" sz="2400" b="0" i="0" u="none" strike="noStrike" dirty="0">
                <a:solidFill>
                  <a:srgbClr val="002060"/>
                </a:solidFill>
                <a:effectLst/>
                <a:latin typeface="Arial" panose="020B0604020202020204" pitchFamily="34" charset="0"/>
              </a:rPr>
            </a:br>
            <a:endParaRPr lang="en-IN" sz="2400" dirty="0"/>
          </a:p>
        </p:txBody>
      </p:sp>
      <p:sp>
        <p:nvSpPr>
          <p:cNvPr id="3" name="Content Placeholder 2">
            <a:extLst>
              <a:ext uri="{FF2B5EF4-FFF2-40B4-BE49-F238E27FC236}">
                <a16:creationId xmlns:a16="http://schemas.microsoft.com/office/drawing/2014/main" id="{EE436395-3D79-AC3A-F097-F83483B81CB6}"/>
              </a:ext>
            </a:extLst>
          </p:cNvPr>
          <p:cNvSpPr>
            <a:spLocks noGrp="1"/>
          </p:cNvSpPr>
          <p:nvPr>
            <p:ph idx="1"/>
          </p:nvPr>
        </p:nvSpPr>
        <p:spPr/>
        <p:txBody>
          <a:bodyPr>
            <a:normAutofit fontScale="77500" lnSpcReduction="20000"/>
          </a:bodyPr>
          <a:lstStyle/>
          <a:p>
            <a:pPr>
              <a:buFont typeface="Arial" panose="020B0604020202020204" pitchFamily="34" charset="0"/>
              <a:buChar char="•"/>
            </a:pPr>
            <a:r>
              <a:rPr lang="en-IN" sz="2300" b="1" dirty="0">
                <a:solidFill>
                  <a:srgbClr val="002060"/>
                </a:solidFill>
                <a:latin typeface="Times New Roman" panose="02020603050405020304" pitchFamily="18" charset="0"/>
                <a:cs typeface="Times New Roman" panose="02020603050405020304" pitchFamily="18" charset="0"/>
              </a:rPr>
              <a:t>Amazon S3: Scalable object storage: </a:t>
            </a:r>
            <a:r>
              <a:rPr lang="en-US" sz="2100" dirty="0">
                <a:solidFill>
                  <a:srgbClr val="000000"/>
                </a:solidFill>
                <a:latin typeface="Times New Roman" panose="02020603050405020304" pitchFamily="18" charset="0"/>
                <a:cs typeface="Times New Roman" panose="02020603050405020304" pitchFamily="18" charset="0"/>
              </a:rPr>
              <a:t>(Simple Storage Service) is an object storage service offered by AWS. It's designed to provide highly scalable, durable, and available storage for a wide variety of data types, ranging from backups and archives to static website content, data for big data analytics, and more.</a:t>
            </a:r>
          </a:p>
          <a:p>
            <a:pPr marL="0" indent="0">
              <a:buNone/>
            </a:pPr>
            <a:r>
              <a:rPr lang="en-US"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S3 Standard</a:t>
            </a:r>
          </a:p>
          <a:p>
            <a:pPr marL="0" indent="0">
              <a:buNone/>
            </a:pPr>
            <a:r>
              <a:rPr lang="en-IN" sz="1600" b="1" dirty="0">
                <a:latin typeface="Times New Roman" panose="02020603050405020304" pitchFamily="18" charset="0"/>
                <a:cs typeface="Times New Roman" panose="02020603050405020304" pitchFamily="18" charset="0"/>
              </a:rPr>
              <a:t>S3 Standard-Infrequent Access </a:t>
            </a:r>
          </a:p>
          <a:p>
            <a:pPr marL="0" indent="0">
              <a:buNone/>
            </a:pPr>
            <a:r>
              <a:rPr lang="en-IN" sz="1600" b="1" dirty="0">
                <a:latin typeface="Times New Roman" panose="02020603050405020304" pitchFamily="18" charset="0"/>
                <a:cs typeface="Times New Roman" panose="02020603050405020304" pitchFamily="18" charset="0"/>
              </a:rPr>
              <a:t>S3 One Zone-Infrequent Access</a:t>
            </a:r>
          </a:p>
          <a:p>
            <a:pPr marL="0" indent="0">
              <a:buNone/>
            </a:pPr>
            <a:r>
              <a:rPr lang="en-IN" sz="1600" b="1" dirty="0">
                <a:latin typeface="Times New Roman" panose="02020603050405020304" pitchFamily="18" charset="0"/>
                <a:cs typeface="Times New Roman" panose="02020603050405020304" pitchFamily="18" charset="0"/>
              </a:rPr>
              <a:t>Amazon S3 Glacier </a:t>
            </a:r>
          </a:p>
          <a:p>
            <a:pPr marL="0" indent="0">
              <a:buNone/>
            </a:pPr>
            <a:r>
              <a:rPr lang="en-IN" sz="1600" b="1" dirty="0">
                <a:latin typeface="Times New Roman" panose="02020603050405020304" pitchFamily="18" charset="0"/>
                <a:cs typeface="Times New Roman" panose="02020603050405020304" pitchFamily="18" charset="0"/>
              </a:rPr>
              <a:t>Amazon S3 Glacier Deep Archive</a:t>
            </a:r>
          </a:p>
          <a:p>
            <a:pPr marL="0" indent="0">
              <a:buNone/>
            </a:pPr>
            <a:r>
              <a:rPr lang="en-IN" sz="1600" b="1" dirty="0">
                <a:latin typeface="Times New Roman" panose="02020603050405020304" pitchFamily="18" charset="0"/>
                <a:cs typeface="Times New Roman" panose="02020603050405020304" pitchFamily="18" charset="0"/>
              </a:rPr>
              <a:t>S3 Intelligent-Tiering</a:t>
            </a:r>
            <a:endParaRPr lang="en-IN" sz="2000" b="1" dirty="0">
              <a:solidFill>
                <a:srgbClr val="002060"/>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2000" b="1" dirty="0">
                <a:solidFill>
                  <a:srgbClr val="002060"/>
                </a:solidFill>
                <a:latin typeface="Times New Roman" panose="02020603050405020304" pitchFamily="18" charset="0"/>
                <a:cs typeface="Times New Roman" panose="02020603050405020304" pitchFamily="18" charset="0"/>
              </a:rPr>
              <a:t>Amazon VPC: Logically isolated virtual network :</a:t>
            </a:r>
            <a:r>
              <a:rPr lang="en-IN" sz="2100" dirty="0">
                <a:solidFill>
                  <a:srgbClr val="000000"/>
                </a:solidFill>
                <a:latin typeface="Times New Roman" panose="02020603050405020304" pitchFamily="18" charset="0"/>
                <a:cs typeface="Times New Roman" panose="02020603050405020304" pitchFamily="18" charset="0"/>
              </a:rPr>
              <a:t>Ama</a:t>
            </a:r>
            <a:r>
              <a:rPr lang="en-US" sz="2100" b="0" i="0" u="none" strike="noStrike" baseline="0" dirty="0" err="1">
                <a:solidFill>
                  <a:srgbClr val="000000"/>
                </a:solidFill>
                <a:latin typeface="Times New Roman" panose="02020603050405020304" pitchFamily="18" charset="0"/>
              </a:rPr>
              <a:t>zon</a:t>
            </a:r>
            <a:r>
              <a:rPr lang="en-US" sz="2100" b="0" i="0" u="none" strike="noStrike" baseline="0" dirty="0">
                <a:solidFill>
                  <a:srgbClr val="000000"/>
                </a:solidFill>
                <a:latin typeface="Times New Roman" panose="02020603050405020304" pitchFamily="18" charset="0"/>
              </a:rPr>
              <a:t> VPC allows users to create a logically isolated virtual network in the AWS Cloud, providing control over networking configurations</a:t>
            </a:r>
            <a:r>
              <a:rPr lang="en-US" sz="1800" b="0" i="0" u="none" strike="noStrike" baseline="0" dirty="0">
                <a:solidFill>
                  <a:srgbClr val="000000"/>
                </a:solidFill>
                <a:latin typeface="Times New Roman" panose="02020603050405020304" pitchFamily="18" charset="0"/>
              </a:rPr>
              <a:t>. (subnet, internet </a:t>
            </a:r>
            <a:r>
              <a:rPr lang="en-US" sz="1800" b="0" i="0" u="none" strike="noStrike" baseline="0" dirty="0" err="1">
                <a:solidFill>
                  <a:srgbClr val="000000"/>
                </a:solidFill>
                <a:latin typeface="Times New Roman" panose="02020603050405020304" pitchFamily="18" charset="0"/>
              </a:rPr>
              <a:t>gatway</a:t>
            </a:r>
            <a:r>
              <a:rPr lang="en-US" sz="1800" b="0" i="0" u="none" strike="noStrike" baseline="0" dirty="0">
                <a:solidFill>
                  <a:srgbClr val="000000"/>
                </a:solidFill>
                <a:latin typeface="Times New Roman" panose="02020603050405020304" pitchFamily="18" charset="0"/>
              </a:rPr>
              <a:t>, route table etc.)</a:t>
            </a:r>
          </a:p>
          <a:p>
            <a:pPr>
              <a:buFont typeface="Arial" panose="020B0604020202020204" pitchFamily="34" charset="0"/>
              <a:buChar char="•"/>
            </a:pPr>
            <a:endParaRPr lang="en-IN" sz="2000" b="1" dirty="0">
              <a:solidFill>
                <a:srgbClr val="002060"/>
              </a:solidFill>
              <a:latin typeface="Times New Roman" panose="02020603050405020304" pitchFamily="18" charset="0"/>
              <a:cs typeface="Times New Roman" panose="02020603050405020304" pitchFamily="18" charset="0"/>
            </a:endParaRPr>
          </a:p>
          <a:p>
            <a:pPr marL="292608" lvl="1" indent="0">
              <a:buNone/>
            </a:pPr>
            <a:endParaRPr lang="en-IN" sz="1600" b="1" dirty="0">
              <a:latin typeface="Times New Roman" panose="02020603050405020304" pitchFamily="18" charset="0"/>
              <a:cs typeface="Times New Roman" panose="02020603050405020304" pitchFamily="18" charset="0"/>
            </a:endParaRPr>
          </a:p>
          <a:p>
            <a:pPr marL="292608" lvl="1" indent="0">
              <a:buNone/>
            </a:pPr>
            <a:endParaRPr lang="en-IN" sz="1600" b="1" dirty="0">
              <a:latin typeface="Times New Roman" panose="02020603050405020304" pitchFamily="18" charset="0"/>
              <a:cs typeface="Times New Roman" panose="02020603050405020304" pitchFamily="18" charset="0"/>
            </a:endParaRPr>
          </a:p>
          <a:p>
            <a:pPr marL="292608" lvl="1" indent="0">
              <a:buNone/>
            </a:pPr>
            <a:r>
              <a:rPr lang="en-IN" sz="1600" b="1" dirty="0">
                <a:latin typeface="Times New Roman" panose="02020603050405020304" pitchFamily="18" charset="0"/>
                <a:cs typeface="Times New Roman" panose="02020603050405020304" pitchFamily="18" charset="0"/>
              </a:rPr>
              <a:t>		</a:t>
            </a:r>
            <a:endParaRPr lang="en-US" sz="1600" b="1" dirty="0">
              <a:latin typeface="Times New Roman" panose="02020603050405020304" pitchFamily="18" charset="0"/>
              <a:cs typeface="Times New Roman" panose="02020603050405020304" pitchFamily="18" charset="0"/>
            </a:endParaRPr>
          </a:p>
          <a:p>
            <a:pPr marL="0" indent="0">
              <a:buNone/>
            </a:pPr>
            <a:endParaRPr lang="en-IN" sz="1600" b="1"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877431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06AF2-C2EB-A7E5-FC00-F9B7875033F2}"/>
              </a:ext>
            </a:extLst>
          </p:cNvPr>
          <p:cNvSpPr>
            <a:spLocks noGrp="1"/>
          </p:cNvSpPr>
          <p:nvPr>
            <p:ph type="title"/>
          </p:nvPr>
        </p:nvSpPr>
        <p:spPr/>
        <p:txBody>
          <a:bodyPr>
            <a:normAutofit/>
          </a:bodyPr>
          <a:lstStyle/>
          <a:p>
            <a:r>
              <a:rPr lang="en-IN" sz="2400" b="1" i="0" u="none" strike="noStrike" kern="1200" dirty="0">
                <a:solidFill>
                  <a:srgbClr val="002060"/>
                </a:solidFill>
                <a:effectLst/>
                <a:latin typeface="Calibri" panose="020F0502020204030204" pitchFamily="34" charset="0"/>
              </a:rPr>
              <a:t>Week 1.1</a:t>
            </a:r>
            <a:r>
              <a:rPr lang="en-IN" sz="2400" kern="1200" dirty="0">
                <a:solidFill>
                  <a:srgbClr val="002060"/>
                </a:solidFill>
                <a:latin typeface="Arial" panose="020B0604020202020204" pitchFamily="34" charset="0"/>
              </a:rPr>
              <a:t>  </a:t>
            </a:r>
            <a:br>
              <a:rPr lang="en-IN" sz="2400" kern="1200" dirty="0">
                <a:solidFill>
                  <a:srgbClr val="002060"/>
                </a:solidFill>
                <a:latin typeface="Arial" panose="020B0604020202020204" pitchFamily="34" charset="0"/>
              </a:rPr>
            </a:br>
            <a:r>
              <a:rPr lang="en-IN" sz="2400" b="1" i="0" u="none" strike="noStrike" kern="1200" dirty="0">
                <a:solidFill>
                  <a:srgbClr val="002060"/>
                </a:solidFill>
                <a:effectLst/>
                <a:latin typeface="Times New Roman" panose="02020603050405020304" pitchFamily="18" charset="0"/>
                <a:cs typeface="Times New Roman" panose="02020603050405020304" pitchFamily="18" charset="0"/>
              </a:rPr>
              <a:t>Setting the Stage - Understanding the Landscape &amp; Core AWS Services</a:t>
            </a:r>
            <a:br>
              <a:rPr lang="en-IN" sz="2400" b="0" i="0" u="none" strike="noStrike" dirty="0">
                <a:solidFill>
                  <a:srgbClr val="002060"/>
                </a:solidFill>
                <a:effectLst/>
                <a:latin typeface="Arial" panose="020B0604020202020204" pitchFamily="34" charset="0"/>
              </a:rPr>
            </a:br>
            <a:br>
              <a:rPr lang="en-IN" sz="2400" b="0" i="0" u="none" strike="noStrike" dirty="0">
                <a:solidFill>
                  <a:srgbClr val="002060"/>
                </a:solidFill>
                <a:effectLst/>
                <a:latin typeface="Arial" panose="020B0604020202020204" pitchFamily="34" charset="0"/>
              </a:rPr>
            </a:br>
            <a:endParaRPr lang="en-IN" sz="2400" dirty="0"/>
          </a:p>
        </p:txBody>
      </p:sp>
      <p:sp>
        <p:nvSpPr>
          <p:cNvPr id="3" name="Content Placeholder 2">
            <a:extLst>
              <a:ext uri="{FF2B5EF4-FFF2-40B4-BE49-F238E27FC236}">
                <a16:creationId xmlns:a16="http://schemas.microsoft.com/office/drawing/2014/main" id="{31C230C4-F9EC-671F-626A-69E9ED553351}"/>
              </a:ext>
            </a:extLst>
          </p:cNvPr>
          <p:cNvSpPr>
            <a:spLocks noGrp="1"/>
          </p:cNvSpPr>
          <p:nvPr>
            <p:ph idx="1"/>
          </p:nvPr>
        </p:nvSpPr>
        <p:spPr/>
        <p:txBody>
          <a:bodyPr>
            <a:normAutofit/>
          </a:bodyPr>
          <a:lstStyle/>
          <a:p>
            <a:pPr marL="0" indent="0" algn="l">
              <a:buNone/>
            </a:pPr>
            <a:r>
              <a:rPr lang="en-IN" b="1" u="none" strike="noStrike" kern="1200" dirty="0">
                <a:solidFill>
                  <a:srgbClr val="002060"/>
                </a:solidFill>
                <a:effectLst/>
                <a:latin typeface="Times New Roman" panose="02020603050405020304" pitchFamily="18" charset="0"/>
                <a:ea typeface="+mn-ea"/>
                <a:cs typeface="Times New Roman" panose="02020603050405020304" pitchFamily="18" charset="0"/>
              </a:rPr>
              <a:t>Amazon CloudFront: Content Delivery Network (CDN): </a:t>
            </a:r>
            <a:endParaRPr lang="en-IN" sz="18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  </a:t>
            </a:r>
            <a:r>
              <a:rPr lang="en-US" sz="1600" b="0" i="0" u="none" strike="noStrike" baseline="0" dirty="0">
                <a:solidFill>
                  <a:srgbClr val="000000"/>
                </a:solidFill>
                <a:latin typeface="Times New Roman" panose="02020603050405020304" pitchFamily="18" charset="0"/>
              </a:rPr>
              <a:t>Amazon CloudFront is a content delivery network (CDN) that delivers static and dynamic content globally with low latency and high transfer speeds. </a:t>
            </a:r>
            <a:r>
              <a:rPr lang="en-US" sz="1600" b="1" i="0" u="none" strike="noStrike" baseline="0" dirty="0">
                <a:solidFill>
                  <a:srgbClr val="000000"/>
                </a:solidFill>
                <a:latin typeface="Times New Roman" panose="02020603050405020304" pitchFamily="18" charset="0"/>
              </a:rPr>
              <a:t>(Region)</a:t>
            </a:r>
          </a:p>
          <a:p>
            <a:pPr marL="0" indent="0">
              <a:buNone/>
            </a:pPr>
            <a:r>
              <a:rPr lang="en-US" sz="1800" b="0" i="0" u="none" strike="noStrike" baseline="0" dirty="0">
                <a:solidFill>
                  <a:srgbClr val="000000"/>
                </a:solidFill>
                <a:latin typeface="Times New Roman" panose="02020603050405020304" pitchFamily="18" charset="0"/>
              </a:rPr>
              <a:t>Key Features: </a:t>
            </a:r>
          </a:p>
          <a:p>
            <a:pPr marL="0" indent="0">
              <a:buNone/>
            </a:pPr>
            <a:r>
              <a:rPr lang="en-US" sz="1800" b="1" i="0" u="none" strike="noStrike" baseline="0" dirty="0">
                <a:solidFill>
                  <a:srgbClr val="000000"/>
                </a:solidFill>
                <a:latin typeface="Times New Roman" panose="02020603050405020304" pitchFamily="18" charset="0"/>
              </a:rPr>
              <a:t>Global Reach</a:t>
            </a:r>
            <a:r>
              <a:rPr lang="en-US" sz="1800" b="0" i="0" u="none" strike="noStrike" baseline="0" dirty="0">
                <a:solidFill>
                  <a:srgbClr val="000000"/>
                </a:solidFill>
                <a:latin typeface="Times New Roman" panose="02020603050405020304" pitchFamily="18" charset="0"/>
              </a:rPr>
              <a:t>: Operates over 600 Points of Presence (</a:t>
            </a:r>
            <a:r>
              <a:rPr lang="en-US" sz="1800" b="0" i="0" u="none" strike="noStrike" baseline="0" dirty="0" err="1">
                <a:solidFill>
                  <a:srgbClr val="000000"/>
                </a:solidFill>
                <a:latin typeface="Times New Roman" panose="02020603050405020304" pitchFamily="18" charset="0"/>
              </a:rPr>
              <a:t>PoPs</a:t>
            </a:r>
            <a:r>
              <a:rPr lang="en-US" sz="1800" b="0" i="0" u="none" strike="noStrike" baseline="0" dirty="0">
                <a:solidFill>
                  <a:srgbClr val="000000"/>
                </a:solidFill>
                <a:latin typeface="Times New Roman" panose="02020603050405020304" pitchFamily="18" charset="0"/>
              </a:rPr>
              <a:t>) worldwide for fast content delivery. </a:t>
            </a:r>
          </a:p>
          <a:p>
            <a:pPr marL="0" indent="0">
              <a:buNone/>
            </a:pPr>
            <a:r>
              <a:rPr lang="en-US" sz="1800" b="1" i="0" u="none" strike="noStrike" baseline="0" dirty="0">
                <a:solidFill>
                  <a:srgbClr val="000000"/>
                </a:solidFill>
                <a:latin typeface="Times New Roman" panose="02020603050405020304" pitchFamily="18" charset="0"/>
              </a:rPr>
              <a:t>Caching</a:t>
            </a:r>
            <a:r>
              <a:rPr lang="en-US" sz="1800" b="0" i="0" u="none" strike="noStrike" baseline="0" dirty="0">
                <a:solidFill>
                  <a:srgbClr val="000000"/>
                </a:solidFill>
                <a:latin typeface="Times New Roman" panose="02020603050405020304" pitchFamily="18" charset="0"/>
              </a:rPr>
              <a:t>: Caches content at edge locations to reduce latency for repeated requests. </a:t>
            </a:r>
          </a:p>
          <a:p>
            <a:pPr marL="0" indent="0">
              <a:buNone/>
            </a:pPr>
            <a:r>
              <a:rPr lang="en-US" sz="1800" b="1" i="0" u="none" strike="noStrike" baseline="0" dirty="0">
                <a:solidFill>
                  <a:srgbClr val="000000"/>
                </a:solidFill>
                <a:latin typeface="Times New Roman" panose="02020603050405020304" pitchFamily="18" charset="0"/>
              </a:rPr>
              <a:t>Security</a:t>
            </a:r>
            <a:r>
              <a:rPr lang="en-US" sz="1800" b="0" i="0" u="none" strike="noStrike" baseline="0" dirty="0">
                <a:solidFill>
                  <a:srgbClr val="000000"/>
                </a:solidFill>
                <a:latin typeface="Times New Roman" panose="02020603050405020304" pitchFamily="18" charset="0"/>
              </a:rPr>
              <a:t>: Supports HTTPS, AWS WAF, and AWS Shield Standard for DDoS protection. </a:t>
            </a:r>
          </a:p>
          <a:p>
            <a:pPr marL="0" indent="0">
              <a:buNone/>
            </a:pPr>
            <a:r>
              <a:rPr lang="en-US" sz="1800" b="1" i="0" u="none" strike="noStrike" baseline="0" dirty="0">
                <a:solidFill>
                  <a:srgbClr val="000000"/>
                </a:solidFill>
                <a:latin typeface="Times New Roman" panose="02020603050405020304" pitchFamily="18" charset="0"/>
              </a:rPr>
              <a:t>Dynamic Content</a:t>
            </a:r>
            <a:r>
              <a:rPr lang="en-US" sz="1800" b="0" i="0" u="none" strike="noStrike" baseline="0" dirty="0">
                <a:solidFill>
                  <a:srgbClr val="000000"/>
                </a:solidFill>
                <a:latin typeface="Times New Roman" panose="02020603050405020304" pitchFamily="18" charset="0"/>
              </a:rPr>
              <a:t>: Can deliver both static (e.g., images) and dynamic (e.g., APIs) content. </a:t>
            </a:r>
          </a:p>
          <a:p>
            <a:pPr algn="l"/>
            <a:r>
              <a:rPr lang="en-US" sz="1800" b="1" i="0" u="none" strike="noStrike" baseline="0" dirty="0">
                <a:solidFill>
                  <a:srgbClr val="000000"/>
                </a:solidFill>
                <a:latin typeface="Times New Roman" panose="02020603050405020304" pitchFamily="18" charset="0"/>
              </a:rPr>
              <a:t>Use Cases</a:t>
            </a:r>
            <a:r>
              <a:rPr lang="en-US" sz="1800" b="0" i="0" u="none" strike="noStrike" baseline="0" dirty="0">
                <a:solidFill>
                  <a:srgbClr val="000000"/>
                </a:solidFill>
                <a:latin typeface="Times New Roman" panose="02020603050405020304" pitchFamily="18" charset="0"/>
              </a:rPr>
              <a:t>: Accelerating website performance, streaming ,  </a:t>
            </a:r>
            <a:r>
              <a:rPr lang="en-IN" sz="1800" b="0" i="0" u="none" strike="noStrike" baseline="0" dirty="0">
                <a:solidFill>
                  <a:srgbClr val="000000"/>
                </a:solidFill>
              </a:rPr>
              <a:t>media, and serving APIs </a:t>
            </a:r>
          </a:p>
          <a:p>
            <a:pPr marL="0" indent="0">
              <a:buNone/>
            </a:pPr>
            <a:endParaRPr lang="en-US" sz="1800" b="0" i="0" u="none" strike="noStrike" baseline="0" dirty="0">
              <a:solidFill>
                <a:srgbClr val="000000"/>
              </a:solidFill>
              <a:latin typeface="Times New Roman" panose="02020603050405020304" pitchFamily="18" charset="0"/>
            </a:endParaRPr>
          </a:p>
          <a:p>
            <a:endParaRPr lang="en-US" sz="1800" b="0" i="0" u="none" strike="noStrike" baseline="0" dirty="0">
              <a:solidFill>
                <a:srgbClr val="000000"/>
              </a:solidFill>
              <a:latin typeface="Times New Roman" panose="02020603050405020304" pitchFamily="18" charset="0"/>
            </a:endParaRPr>
          </a:p>
          <a:p>
            <a:pPr>
              <a:buFont typeface="Arial" panose="020B0604020202020204" pitchFamily="34" charset="0"/>
              <a:buChar char="•"/>
            </a:pPr>
            <a:endParaRPr lang="en-IN" b="1" u="none" strike="noStrike" kern="1200" dirty="0">
              <a:solidFill>
                <a:srgbClr val="002060"/>
              </a:solidFill>
              <a:effectLst/>
              <a:latin typeface="Times New Roman" panose="02020603050405020304" pitchFamily="18" charset="0"/>
              <a:ea typeface="+mn-ea"/>
              <a:cs typeface="Times New Roman" panose="02020603050405020304" pitchFamily="18" charset="0"/>
            </a:endParaRPr>
          </a:p>
          <a:p>
            <a:endParaRPr lang="en-IN" dirty="0"/>
          </a:p>
        </p:txBody>
      </p:sp>
    </p:spTree>
    <p:extLst>
      <p:ext uri="{BB962C8B-B14F-4D97-AF65-F5344CB8AC3E}">
        <p14:creationId xmlns:p14="http://schemas.microsoft.com/office/powerpoint/2010/main" val="3156954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074D1-A8AE-B448-306B-9E59C9995D9D}"/>
              </a:ext>
            </a:extLst>
          </p:cNvPr>
          <p:cNvSpPr>
            <a:spLocks noGrp="1"/>
          </p:cNvSpPr>
          <p:nvPr>
            <p:ph type="title"/>
          </p:nvPr>
        </p:nvSpPr>
        <p:spPr/>
        <p:txBody>
          <a:bodyPr>
            <a:normAutofit fontScale="90000"/>
          </a:bodyPr>
          <a:lstStyle/>
          <a:p>
            <a:r>
              <a:rPr lang="en-IN" sz="2700" b="1" i="0" u="none" strike="noStrike" kern="1200" dirty="0">
                <a:solidFill>
                  <a:srgbClr val="002060"/>
                </a:solidFill>
                <a:effectLst/>
                <a:latin typeface="Calibri" panose="020F0502020204030204" pitchFamily="34" charset="0"/>
              </a:rPr>
              <a:t>Week 1.1</a:t>
            </a:r>
            <a:r>
              <a:rPr lang="en-IN" sz="2700" kern="1200" dirty="0">
                <a:solidFill>
                  <a:srgbClr val="002060"/>
                </a:solidFill>
                <a:latin typeface="Arial" panose="020B0604020202020204" pitchFamily="34" charset="0"/>
              </a:rPr>
              <a:t>  </a:t>
            </a:r>
            <a:br>
              <a:rPr lang="en-IN" sz="2700" kern="1200" dirty="0">
                <a:solidFill>
                  <a:srgbClr val="002060"/>
                </a:solidFill>
                <a:latin typeface="Arial" panose="020B0604020202020204" pitchFamily="34" charset="0"/>
              </a:rPr>
            </a:br>
            <a:r>
              <a:rPr lang="en-IN" sz="2700" b="1" i="0" u="none" strike="noStrike" kern="1200" dirty="0">
                <a:solidFill>
                  <a:srgbClr val="002060"/>
                </a:solidFill>
                <a:effectLst/>
                <a:latin typeface="Times New Roman" panose="02020603050405020304" pitchFamily="18" charset="0"/>
                <a:cs typeface="Times New Roman" panose="02020603050405020304" pitchFamily="18" charset="0"/>
              </a:rPr>
              <a:t>Setting the Stage - Understanding the Landscape &amp; Core AWS Services</a:t>
            </a:r>
            <a:br>
              <a:rPr lang="en-IN" sz="3200" b="0" i="0" u="none" strike="noStrike" dirty="0">
                <a:solidFill>
                  <a:srgbClr val="002060"/>
                </a:solidFill>
                <a:effectLst/>
                <a:latin typeface="Arial" panose="020B0604020202020204" pitchFamily="34" charset="0"/>
              </a:rPr>
            </a:br>
            <a:br>
              <a:rPr lang="en-IN" sz="3200" b="0" i="0" u="none" strike="noStrike" dirty="0">
                <a:solidFill>
                  <a:srgbClr val="002060"/>
                </a:solidFill>
                <a:effectLst/>
                <a:latin typeface="Arial" panose="020B0604020202020204" pitchFamily="34" charset="0"/>
              </a:rPr>
            </a:br>
            <a:r>
              <a:rPr lang="en-US" sz="3200" b="1" dirty="0">
                <a:solidFill>
                  <a:srgbClr val="002060"/>
                </a:solidFill>
              </a:rPr>
              <a:t>AWS Resources</a:t>
            </a:r>
            <a:endParaRPr lang="en-IN" sz="3200" b="1" dirty="0">
              <a:solidFill>
                <a:srgbClr val="002060"/>
              </a:solidFill>
            </a:endParaRPr>
          </a:p>
        </p:txBody>
      </p:sp>
      <p:sp>
        <p:nvSpPr>
          <p:cNvPr id="3" name="Content Placeholder 2">
            <a:extLst>
              <a:ext uri="{FF2B5EF4-FFF2-40B4-BE49-F238E27FC236}">
                <a16:creationId xmlns:a16="http://schemas.microsoft.com/office/drawing/2014/main" id="{128CD9BD-42E8-421F-A107-45E2691763C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09DA434-7FBB-55C7-9B79-9E4F05C4E6A8}"/>
              </a:ext>
            </a:extLst>
          </p:cNvPr>
          <p:cNvPicPr>
            <a:picLocks noChangeAspect="1"/>
          </p:cNvPicPr>
          <p:nvPr/>
        </p:nvPicPr>
        <p:blipFill>
          <a:blip r:embed="rId2"/>
          <a:stretch>
            <a:fillRect/>
          </a:stretch>
        </p:blipFill>
        <p:spPr>
          <a:xfrm>
            <a:off x="1097280" y="1845735"/>
            <a:ext cx="9997440" cy="4023360"/>
          </a:xfrm>
          <a:prstGeom prst="rect">
            <a:avLst/>
          </a:prstGeom>
        </p:spPr>
      </p:pic>
    </p:spTree>
    <p:extLst>
      <p:ext uri="{BB962C8B-B14F-4D97-AF65-F5344CB8AC3E}">
        <p14:creationId xmlns:p14="http://schemas.microsoft.com/office/powerpoint/2010/main" val="2523051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7DFBC-95B9-A563-26A6-614B5E39EE38}"/>
              </a:ext>
            </a:extLst>
          </p:cNvPr>
          <p:cNvSpPr>
            <a:spLocks noGrp="1"/>
          </p:cNvSpPr>
          <p:nvPr>
            <p:ph type="title"/>
          </p:nvPr>
        </p:nvSpPr>
        <p:spPr>
          <a:xfrm>
            <a:off x="1097280" y="125128"/>
            <a:ext cx="10058400" cy="1472666"/>
          </a:xfrm>
        </p:spPr>
        <p:txBody>
          <a:bodyPr>
            <a:normAutofit fontScale="90000"/>
          </a:bodyPr>
          <a:lstStyle/>
          <a:p>
            <a:r>
              <a:rPr lang="en-IN" sz="2700" b="1" i="0" u="none" strike="noStrike" kern="1200" dirty="0">
                <a:solidFill>
                  <a:srgbClr val="002060"/>
                </a:solidFill>
                <a:effectLst/>
                <a:latin typeface="Calibri" panose="020F0502020204030204" pitchFamily="34" charset="0"/>
              </a:rPr>
              <a:t>Week 1.1</a:t>
            </a:r>
            <a:r>
              <a:rPr lang="en-IN" sz="2700" kern="1200" dirty="0">
                <a:solidFill>
                  <a:srgbClr val="002060"/>
                </a:solidFill>
                <a:latin typeface="Arial" panose="020B0604020202020204" pitchFamily="34" charset="0"/>
              </a:rPr>
              <a:t>  </a:t>
            </a:r>
            <a:br>
              <a:rPr lang="en-IN" sz="2700" kern="1200" dirty="0">
                <a:solidFill>
                  <a:srgbClr val="002060"/>
                </a:solidFill>
                <a:latin typeface="Arial" panose="020B0604020202020204" pitchFamily="34" charset="0"/>
              </a:rPr>
            </a:br>
            <a:r>
              <a:rPr lang="en-IN" sz="2700" b="1" i="0" u="none" strike="noStrike" kern="1200" dirty="0">
                <a:solidFill>
                  <a:srgbClr val="002060"/>
                </a:solidFill>
                <a:effectLst/>
                <a:latin typeface="Times New Roman" panose="02020603050405020304" pitchFamily="18" charset="0"/>
                <a:cs typeface="Times New Roman" panose="02020603050405020304" pitchFamily="18" charset="0"/>
              </a:rPr>
              <a:t>Setting the Stage - Understanding the Landscape &amp; Core AWS Services</a:t>
            </a:r>
            <a:br>
              <a:rPr lang="en-IN" sz="3200" b="0" i="0" u="none" strike="noStrike" dirty="0">
                <a:solidFill>
                  <a:srgbClr val="002060"/>
                </a:solidFill>
                <a:effectLst/>
                <a:latin typeface="Arial" panose="020B0604020202020204" pitchFamily="34" charset="0"/>
              </a:rPr>
            </a:br>
            <a:br>
              <a:rPr lang="en-IN" sz="3200" b="0" i="0" u="none" strike="noStrike" dirty="0">
                <a:solidFill>
                  <a:srgbClr val="002060"/>
                </a:solidFill>
                <a:effectLst/>
                <a:latin typeface="Arial" panose="020B0604020202020204" pitchFamily="34" charset="0"/>
              </a:rPr>
            </a:br>
            <a:r>
              <a:rPr lang="en-IN" sz="3200" b="1" u="none" strike="noStrike" kern="1200" dirty="0">
                <a:solidFill>
                  <a:srgbClr val="002060"/>
                </a:solidFill>
                <a:effectLst/>
                <a:latin typeface="Times New Roman" panose="02020603050405020304" pitchFamily="18" charset="0"/>
                <a:ea typeface="+mn-ea"/>
                <a:cs typeface="Times New Roman" panose="02020603050405020304" pitchFamily="18" charset="0"/>
              </a:rPr>
              <a:t>Brief overview of core AWS services</a:t>
            </a:r>
            <a:endParaRPr lang="en-IN" sz="3200" b="1" dirty="0">
              <a:solidFill>
                <a:srgbClr val="002060"/>
              </a:solidFill>
            </a:endParaRPr>
          </a:p>
        </p:txBody>
      </p:sp>
      <p:pic>
        <p:nvPicPr>
          <p:cNvPr id="5" name="Content Placeholder 4">
            <a:extLst>
              <a:ext uri="{FF2B5EF4-FFF2-40B4-BE49-F238E27FC236}">
                <a16:creationId xmlns:a16="http://schemas.microsoft.com/office/drawing/2014/main" id="{FA64ACF1-0E1D-2C59-A743-73BD7C569A0C}"/>
              </a:ext>
            </a:extLst>
          </p:cNvPr>
          <p:cNvPicPr>
            <a:picLocks noGrp="1" noChangeAspect="1"/>
          </p:cNvPicPr>
          <p:nvPr>
            <p:ph idx="1"/>
          </p:nvPr>
        </p:nvPicPr>
        <p:blipFill>
          <a:blip r:embed="rId2"/>
          <a:stretch>
            <a:fillRect/>
          </a:stretch>
        </p:blipFill>
        <p:spPr>
          <a:xfrm>
            <a:off x="2770015" y="2739968"/>
            <a:ext cx="6712295" cy="2235315"/>
          </a:xfrm>
        </p:spPr>
      </p:pic>
    </p:spTree>
    <p:extLst>
      <p:ext uri="{BB962C8B-B14F-4D97-AF65-F5344CB8AC3E}">
        <p14:creationId xmlns:p14="http://schemas.microsoft.com/office/powerpoint/2010/main" val="1519140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54A76-EE85-54F9-7013-2720750CA7F2}"/>
              </a:ext>
            </a:extLst>
          </p:cNvPr>
          <p:cNvSpPr>
            <a:spLocks noGrp="1"/>
          </p:cNvSpPr>
          <p:nvPr>
            <p:ph type="title"/>
          </p:nvPr>
        </p:nvSpPr>
        <p:spPr>
          <a:xfrm>
            <a:off x="1097280" y="866274"/>
            <a:ext cx="10058400" cy="871086"/>
          </a:xfrm>
        </p:spPr>
        <p:txBody>
          <a:bodyPr>
            <a:normAutofit/>
          </a:bodyPr>
          <a:lstStyle/>
          <a:p>
            <a:pPr marL="0" algn="l" rtl="0" eaLnBrk="1" fontAlgn="ctr" latinLnBrk="0" hangingPunct="1">
              <a:spcBef>
                <a:spcPts val="0"/>
              </a:spcBef>
              <a:spcAft>
                <a:spcPts val="0"/>
              </a:spcAft>
            </a:pPr>
            <a:r>
              <a:rPr lang="en-IN" sz="2400" b="1" i="0" u="none" strike="noStrike" kern="1200" dirty="0">
                <a:solidFill>
                  <a:srgbClr val="002060"/>
                </a:solidFill>
                <a:effectLst/>
                <a:latin typeface="Calibri" panose="020F0502020204030204" pitchFamily="34" charset="0"/>
              </a:rPr>
              <a:t>Week 1.2</a:t>
            </a:r>
            <a:br>
              <a:rPr lang="en-IN" sz="2400" b="0" i="0" u="none" strike="noStrike" dirty="0">
                <a:solidFill>
                  <a:srgbClr val="002060"/>
                </a:solidFill>
                <a:effectLst/>
                <a:latin typeface="Arial" panose="020B0604020202020204" pitchFamily="34" charset="0"/>
              </a:rPr>
            </a:br>
            <a:r>
              <a:rPr lang="en-IN" sz="2400" b="1" i="0" u="none" strike="noStrike" kern="1200" dirty="0">
                <a:solidFill>
                  <a:srgbClr val="002060"/>
                </a:solidFill>
                <a:effectLst/>
                <a:latin typeface="Calibri" panose="020F0502020204030204" pitchFamily="34" charset="0"/>
              </a:rPr>
              <a:t>Authentication &amp; Authorization - The Secure Connection</a:t>
            </a:r>
            <a:endParaRPr lang="en-IN" sz="2400" b="0" i="0" u="none" strike="noStrike" dirty="0">
              <a:solidFill>
                <a:srgbClr val="002060"/>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0B6BC1C0-B332-C670-DA39-877BD2C471F8}"/>
              </a:ext>
            </a:extLst>
          </p:cNvPr>
          <p:cNvSpPr>
            <a:spLocks noGrp="1"/>
          </p:cNvSpPr>
          <p:nvPr>
            <p:ph idx="1"/>
          </p:nvPr>
        </p:nvSpPr>
        <p:spPr>
          <a:xfrm>
            <a:off x="1029903" y="1845734"/>
            <a:ext cx="10125777" cy="4023360"/>
          </a:xfrm>
        </p:spPr>
        <p:txBody>
          <a:bodyPr>
            <a:normAutofit/>
          </a:bodyPr>
          <a:lstStyle/>
          <a:p>
            <a:pPr marL="0" indent="0">
              <a:buNone/>
            </a:pPr>
            <a:r>
              <a:rPr lang="en-IN" b="1" dirty="0">
                <a:solidFill>
                  <a:srgbClr val="7030A0"/>
                </a:solidFill>
                <a:latin typeface="Times New Roman" panose="02020603050405020304" pitchFamily="18" charset="0"/>
                <a:cs typeface="Times New Roman" panose="02020603050405020304" pitchFamily="18" charset="0"/>
              </a:rPr>
              <a:t>Account setup : AWS and Azure DevOps and </a:t>
            </a:r>
            <a:r>
              <a:rPr lang="en-IN" b="1" dirty="0" err="1">
                <a:solidFill>
                  <a:srgbClr val="7030A0"/>
                </a:solidFill>
                <a:latin typeface="Times New Roman" panose="02020603050405020304" pitchFamily="18" charset="0"/>
                <a:cs typeface="Times New Roman" panose="02020603050405020304" pitchFamily="18" charset="0"/>
              </a:rPr>
              <a:t>Github</a:t>
            </a:r>
            <a:r>
              <a:rPr lang="en-IN" b="1" dirty="0">
                <a:solidFill>
                  <a:srgbClr val="7030A0"/>
                </a:solidFill>
                <a:latin typeface="Times New Roman" panose="02020603050405020304" pitchFamily="18" charset="0"/>
                <a:cs typeface="Times New Roman" panose="02020603050405020304" pitchFamily="18" charset="0"/>
              </a:rPr>
              <a:t> repo.</a:t>
            </a:r>
          </a:p>
          <a:p>
            <a:pPr marL="0" indent="0">
              <a:buNone/>
            </a:pPr>
            <a:r>
              <a:rPr lang="en-IN" b="1" u="none" strike="noStrike" kern="1200" dirty="0">
                <a:solidFill>
                  <a:srgbClr val="7030A0"/>
                </a:solidFill>
                <a:effectLst/>
                <a:latin typeface="Times New Roman" panose="02020603050405020304" pitchFamily="18" charset="0"/>
                <a:ea typeface="+mn-ea"/>
                <a:cs typeface="Times New Roman" panose="02020603050405020304" pitchFamily="18" charset="0"/>
              </a:rPr>
              <a:t>Task: create </a:t>
            </a:r>
            <a:r>
              <a:rPr lang="en-IN" b="1" dirty="0">
                <a:solidFill>
                  <a:srgbClr val="7030A0"/>
                </a:solidFill>
                <a:latin typeface="Times New Roman" panose="02020603050405020304" pitchFamily="18" charset="0"/>
                <a:cs typeface="Times New Roman" panose="02020603050405020304" pitchFamily="18" charset="0"/>
              </a:rPr>
              <a:t>AWS and Azure DevOps and </a:t>
            </a:r>
            <a:r>
              <a:rPr lang="en-IN" b="1" dirty="0" err="1">
                <a:solidFill>
                  <a:srgbClr val="7030A0"/>
                </a:solidFill>
                <a:latin typeface="Times New Roman" panose="02020603050405020304" pitchFamily="18" charset="0"/>
                <a:cs typeface="Times New Roman" panose="02020603050405020304" pitchFamily="18" charset="0"/>
              </a:rPr>
              <a:t>Github</a:t>
            </a:r>
            <a:r>
              <a:rPr lang="en-IN" b="1" dirty="0">
                <a:solidFill>
                  <a:srgbClr val="7030A0"/>
                </a:solidFill>
                <a:latin typeface="Times New Roman" panose="02020603050405020304" pitchFamily="18" charset="0"/>
                <a:cs typeface="Times New Roman" panose="02020603050405020304" pitchFamily="18" charset="0"/>
              </a:rPr>
              <a:t> repo</a:t>
            </a:r>
            <a:r>
              <a:rPr lang="en-IN" b="1" u="none" strike="noStrike" kern="1200" dirty="0">
                <a:solidFill>
                  <a:srgbClr val="7030A0"/>
                </a:solidFill>
                <a:effectLst/>
                <a:latin typeface="Times New Roman" panose="02020603050405020304" pitchFamily="18" charset="0"/>
                <a:ea typeface="+mn-ea"/>
                <a:cs typeface="Times New Roman" panose="02020603050405020304" pitchFamily="18" charset="0"/>
              </a:rPr>
              <a:t> in your own environment.</a:t>
            </a:r>
          </a:p>
          <a:p>
            <a:pPr marL="0" indent="0">
              <a:buNone/>
            </a:pPr>
            <a:r>
              <a:rPr lang="en-IN" sz="2000" b="1" u="sng" strike="noStrike" kern="1200" dirty="0">
                <a:solidFill>
                  <a:schemeClr val="dk1"/>
                </a:solidFill>
                <a:effectLst/>
                <a:latin typeface="+mn-lt"/>
                <a:ea typeface="+mn-ea"/>
                <a:cs typeface="+mn-cs"/>
              </a:rPr>
              <a:t>Securely connecting Azure DevOps to AWS; Understanding AWS IAM roles for cross-service access; Setting up Azure DevOps service connections for AWS.</a:t>
            </a:r>
          </a:p>
          <a:p>
            <a:pPr lvl="1">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Why Connect Azure DevOps to AWS?</a:t>
            </a:r>
          </a:p>
          <a:p>
            <a:pPr lvl="1">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The Core Challenge: Cross-Cloud Security</a:t>
            </a:r>
          </a:p>
          <a:p>
            <a:pPr lvl="1">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Understanding AWS IAM Roles for Cross-Service Access</a:t>
            </a:r>
          </a:p>
          <a:p>
            <a:pPr lvl="1">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Setting up AWS OIDC Provider (OpenID Connect)</a:t>
            </a:r>
          </a:p>
          <a:p>
            <a:pPr lvl="1">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Configuring the AWS Service Connection in Azure DevOps</a:t>
            </a:r>
          </a:p>
          <a:p>
            <a:pPr lvl="1">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How it Works End-to-End</a:t>
            </a:r>
          </a:p>
          <a:p>
            <a:pPr lvl="1">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Best Practices</a:t>
            </a:r>
            <a:endParaRPr lang="en-US"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227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795AA-C097-6596-AC47-AA8A1C6EB136}"/>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1.2</a:t>
            </a:r>
            <a:br>
              <a:rPr lang="en-IN" sz="2800" b="0" i="0" u="none" strike="noStrike" dirty="0">
                <a:solidFill>
                  <a:srgbClr val="002060"/>
                </a:solidFill>
                <a:effectLst/>
                <a:latin typeface="Arial" panose="020B0604020202020204" pitchFamily="34" charset="0"/>
              </a:rPr>
            </a:br>
            <a:r>
              <a:rPr lang="en-IN" sz="2800" b="1" i="0" u="none" strike="noStrike" kern="1200" dirty="0">
                <a:solidFill>
                  <a:srgbClr val="002060"/>
                </a:solidFill>
                <a:effectLst/>
                <a:latin typeface="Calibri" panose="020F0502020204030204" pitchFamily="34" charset="0"/>
              </a:rPr>
              <a:t>Authentication &amp; Authorization - The Secure Connection</a:t>
            </a:r>
            <a:endParaRPr lang="en-IN" sz="2800" dirty="0"/>
          </a:p>
        </p:txBody>
      </p:sp>
      <p:sp>
        <p:nvSpPr>
          <p:cNvPr id="3" name="Content Placeholder 2">
            <a:extLst>
              <a:ext uri="{FF2B5EF4-FFF2-40B4-BE49-F238E27FC236}">
                <a16:creationId xmlns:a16="http://schemas.microsoft.com/office/drawing/2014/main" id="{19234783-FC65-2BAA-C79F-D1C589C23C37}"/>
              </a:ext>
            </a:extLst>
          </p:cNvPr>
          <p:cNvSpPr>
            <a:spLocks noGrp="1"/>
          </p:cNvSpPr>
          <p:nvPr>
            <p:ph idx="1"/>
          </p:nvPr>
        </p:nvSpPr>
        <p:spPr/>
        <p:txBody>
          <a:bodyPr>
            <a:normAutofit lnSpcReduction="10000"/>
          </a:bodyPr>
          <a:lstStyle/>
          <a:p>
            <a:r>
              <a:rPr lang="en-IN" sz="2400" b="1" dirty="0"/>
              <a:t>               Introduction to AWS IAM (Identity and Access Management)</a:t>
            </a:r>
          </a:p>
          <a:p>
            <a:pPr rtl="0">
              <a:buFont typeface="Arial" panose="020B0604020202020204" pitchFamily="34" charset="0"/>
              <a:buChar char="•"/>
            </a:pPr>
            <a:r>
              <a:rPr lang="en-IN" dirty="0"/>
              <a:t> </a:t>
            </a:r>
            <a:r>
              <a:rPr lang="en-US" b="1" dirty="0"/>
              <a:t>IAM: </a:t>
            </a:r>
            <a:r>
              <a:rPr lang="en-US" dirty="0"/>
              <a:t>AWS service for managing access to resources.</a:t>
            </a:r>
          </a:p>
          <a:p>
            <a:pPr rtl="0">
              <a:buFont typeface="Arial" panose="020B0604020202020204" pitchFamily="34" charset="0"/>
              <a:buChar char="•"/>
            </a:pPr>
            <a:r>
              <a:rPr lang="en-US" b="1" dirty="0"/>
              <a:t>Purpose: </a:t>
            </a:r>
            <a:r>
              <a:rPr lang="en-US" dirty="0"/>
              <a:t>Controls who (users, roles) can do what (actions) on which resources.</a:t>
            </a:r>
          </a:p>
          <a:p>
            <a:pPr rtl="0">
              <a:buFont typeface="Arial" panose="020B0604020202020204" pitchFamily="34" charset="0"/>
              <a:buChar char="•"/>
            </a:pPr>
            <a:r>
              <a:rPr lang="en-US" b="1" dirty="0"/>
              <a:t>Core Components: </a:t>
            </a:r>
            <a:r>
              <a:rPr lang="en-US" dirty="0"/>
              <a:t>Users, Groups, Roles, Policies, Permissions.</a:t>
            </a:r>
          </a:p>
          <a:p>
            <a:pPr rtl="0">
              <a:buFont typeface="Arial" panose="020B0604020202020204" pitchFamily="34" charset="0"/>
              <a:buChar char="•"/>
            </a:pPr>
            <a:r>
              <a:rPr lang="en-US" b="1" dirty="0"/>
              <a:t>Importance: </a:t>
            </a:r>
            <a:r>
              <a:rPr lang="en-US" dirty="0"/>
              <a:t>Enhances security and compliance in AWS environments.</a:t>
            </a:r>
          </a:p>
          <a:p>
            <a:pPr marL="0" indent="0">
              <a:buNone/>
            </a:pPr>
            <a:r>
              <a:rPr lang="en-US" dirty="0"/>
              <a:t>                                   </a:t>
            </a:r>
            <a:r>
              <a:rPr lang="en-US" b="1" dirty="0"/>
              <a:t>IAM Identities and Their Roles </a:t>
            </a:r>
          </a:p>
          <a:p>
            <a:pPr rtl="0">
              <a:buFont typeface="Arial" panose="020B0604020202020204" pitchFamily="34" charset="0"/>
              <a:buChar char="•"/>
            </a:pPr>
            <a:r>
              <a:rPr lang="en-US" b="1" dirty="0"/>
              <a:t>IAM Users: </a:t>
            </a:r>
            <a:r>
              <a:rPr lang="en-US" dirty="0"/>
              <a:t>Represent individuals </a:t>
            </a:r>
          </a:p>
          <a:p>
            <a:pPr rtl="0">
              <a:buFont typeface="Arial" panose="020B0604020202020204" pitchFamily="34" charset="0"/>
              <a:buChar char="•"/>
            </a:pPr>
            <a:r>
              <a:rPr lang="en-US" b="1" dirty="0"/>
              <a:t>IAM Groups: </a:t>
            </a:r>
            <a:r>
              <a:rPr lang="en-US" dirty="0"/>
              <a:t>Collections of users with shared permissions.</a:t>
            </a:r>
          </a:p>
          <a:p>
            <a:pPr rtl="0">
              <a:buFont typeface="Arial" panose="020B0604020202020204" pitchFamily="34" charset="0"/>
              <a:buChar char="•"/>
            </a:pPr>
            <a:r>
              <a:rPr lang="en-US" b="1" dirty="0"/>
              <a:t>IAM Roles: </a:t>
            </a:r>
            <a:r>
              <a:rPr lang="en-US" dirty="0"/>
              <a:t>Temporary credentials for AWS services or external entities.</a:t>
            </a:r>
          </a:p>
          <a:p>
            <a:pPr rtl="0">
              <a:buFont typeface="Arial" panose="020B0604020202020204" pitchFamily="34" charset="0"/>
              <a:buChar char="•"/>
            </a:pPr>
            <a:endParaRPr lang="en-US" b="1" dirty="0"/>
          </a:p>
          <a:p>
            <a:pPr marL="0" indent="0" rtl="0">
              <a:buNone/>
            </a:pPr>
            <a:endParaRPr lang="en-US" dirty="0"/>
          </a:p>
          <a:p>
            <a:endParaRPr lang="en-IN" dirty="0"/>
          </a:p>
        </p:txBody>
      </p:sp>
    </p:spTree>
    <p:extLst>
      <p:ext uri="{BB962C8B-B14F-4D97-AF65-F5344CB8AC3E}">
        <p14:creationId xmlns:p14="http://schemas.microsoft.com/office/powerpoint/2010/main" val="1835690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795AA-C097-6596-AC47-AA8A1C6EB136}"/>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1.2</a:t>
            </a:r>
            <a:br>
              <a:rPr lang="en-IN" sz="2800" b="0" i="0" u="none" strike="noStrike" dirty="0">
                <a:solidFill>
                  <a:srgbClr val="002060"/>
                </a:solidFill>
                <a:effectLst/>
                <a:latin typeface="Arial" panose="020B0604020202020204" pitchFamily="34" charset="0"/>
              </a:rPr>
            </a:br>
            <a:r>
              <a:rPr lang="en-IN" sz="2800" b="1" i="0" u="none" strike="noStrike" kern="1200" dirty="0">
                <a:solidFill>
                  <a:srgbClr val="002060"/>
                </a:solidFill>
                <a:effectLst/>
                <a:latin typeface="Calibri" panose="020F0502020204030204" pitchFamily="34" charset="0"/>
              </a:rPr>
              <a:t>Authentication &amp; Authorization - The Secure Connection</a:t>
            </a:r>
            <a:endParaRPr lang="en-IN" sz="2800" dirty="0"/>
          </a:p>
        </p:txBody>
      </p:sp>
      <p:sp>
        <p:nvSpPr>
          <p:cNvPr id="3" name="Content Placeholder 2">
            <a:extLst>
              <a:ext uri="{FF2B5EF4-FFF2-40B4-BE49-F238E27FC236}">
                <a16:creationId xmlns:a16="http://schemas.microsoft.com/office/drawing/2014/main" id="{19234783-FC65-2BAA-C79F-D1C589C23C37}"/>
              </a:ext>
            </a:extLst>
          </p:cNvPr>
          <p:cNvSpPr>
            <a:spLocks noGrp="1"/>
          </p:cNvSpPr>
          <p:nvPr>
            <p:ph idx="1"/>
          </p:nvPr>
        </p:nvSpPr>
        <p:spPr>
          <a:xfrm>
            <a:off x="1097280" y="1845734"/>
            <a:ext cx="10703293" cy="4023360"/>
          </a:xfrm>
        </p:spPr>
        <p:txBody>
          <a:bodyPr/>
          <a:lstStyle/>
          <a:p>
            <a:r>
              <a:rPr lang="en-IN" b="1" dirty="0"/>
              <a:t>IAM Policies and Permissions</a:t>
            </a:r>
          </a:p>
          <a:p>
            <a:pPr rtl="0">
              <a:buFont typeface="Arial" panose="020B0604020202020204" pitchFamily="34" charset="0"/>
              <a:buChar char="•"/>
            </a:pPr>
            <a:r>
              <a:rPr lang="en-US" b="1" dirty="0"/>
              <a:t>Policies: </a:t>
            </a:r>
            <a:r>
              <a:rPr lang="en-US" dirty="0"/>
              <a:t>JSON documents defining permissions.</a:t>
            </a:r>
          </a:p>
          <a:p>
            <a:pPr rtl="0">
              <a:buFont typeface="Arial" panose="020B0604020202020204" pitchFamily="34" charset="0"/>
              <a:buChar char="•"/>
            </a:pPr>
            <a:r>
              <a:rPr lang="en-US" b="1" dirty="0"/>
              <a:t>Types: </a:t>
            </a:r>
            <a:r>
              <a:rPr lang="en-US" dirty="0"/>
              <a:t>Managed (AWS or Customer), Inline.</a:t>
            </a:r>
          </a:p>
          <a:p>
            <a:pPr rtl="0">
              <a:buFont typeface="Arial" panose="020B0604020202020204" pitchFamily="34" charset="0"/>
              <a:buChar char="•"/>
            </a:pPr>
            <a:r>
              <a:rPr lang="en-US" b="1" dirty="0"/>
              <a:t>Structure: </a:t>
            </a:r>
            <a:r>
              <a:rPr lang="en-US" dirty="0"/>
              <a:t>Effect (Allow/Deny), Action, Resource, Condition.</a:t>
            </a:r>
          </a:p>
          <a:p>
            <a:pPr rtl="0">
              <a:buFont typeface="Arial" panose="020B0604020202020204" pitchFamily="34" charset="0"/>
              <a:buChar char="•"/>
            </a:pPr>
            <a:r>
              <a:rPr lang="en-US" b="1" dirty="0"/>
              <a:t>Example: </a:t>
            </a:r>
            <a:r>
              <a:rPr lang="en-US" dirty="0"/>
              <a:t>Allow s3:PutObject on specific bucket.</a:t>
            </a:r>
          </a:p>
          <a:p>
            <a:endParaRPr lang="en-IN" dirty="0"/>
          </a:p>
        </p:txBody>
      </p:sp>
      <p:pic>
        <p:nvPicPr>
          <p:cNvPr id="6" name="Picture 5">
            <a:extLst>
              <a:ext uri="{FF2B5EF4-FFF2-40B4-BE49-F238E27FC236}">
                <a16:creationId xmlns:a16="http://schemas.microsoft.com/office/drawing/2014/main" id="{98E456C8-3FDE-E237-38FE-5C5A83AC185C}"/>
              </a:ext>
            </a:extLst>
          </p:cNvPr>
          <p:cNvPicPr>
            <a:picLocks noChangeAspect="1"/>
          </p:cNvPicPr>
          <p:nvPr/>
        </p:nvPicPr>
        <p:blipFill>
          <a:blip r:embed="rId2"/>
          <a:stretch>
            <a:fillRect/>
          </a:stretch>
        </p:blipFill>
        <p:spPr>
          <a:xfrm>
            <a:off x="7524510" y="1845734"/>
            <a:ext cx="4667490" cy="2635385"/>
          </a:xfrm>
          <a:prstGeom prst="rect">
            <a:avLst/>
          </a:prstGeom>
        </p:spPr>
      </p:pic>
    </p:spTree>
    <p:extLst>
      <p:ext uri="{BB962C8B-B14F-4D97-AF65-F5344CB8AC3E}">
        <p14:creationId xmlns:p14="http://schemas.microsoft.com/office/powerpoint/2010/main" val="3295047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795AA-C097-6596-AC47-AA8A1C6EB136}"/>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1.2</a:t>
            </a:r>
            <a:br>
              <a:rPr lang="en-IN" sz="2800" b="0" i="0" u="none" strike="noStrike" dirty="0">
                <a:solidFill>
                  <a:srgbClr val="002060"/>
                </a:solidFill>
                <a:effectLst/>
                <a:latin typeface="Arial" panose="020B0604020202020204" pitchFamily="34" charset="0"/>
              </a:rPr>
            </a:br>
            <a:r>
              <a:rPr lang="en-IN" sz="2800" b="1" i="0" u="none" strike="noStrike" kern="1200" dirty="0">
                <a:solidFill>
                  <a:srgbClr val="002060"/>
                </a:solidFill>
                <a:effectLst/>
                <a:latin typeface="Calibri" panose="020F0502020204030204" pitchFamily="34" charset="0"/>
              </a:rPr>
              <a:t>Authentication &amp; Authorization - The Secure Connection</a:t>
            </a:r>
            <a:endParaRPr lang="en-IN" sz="2800" dirty="0"/>
          </a:p>
        </p:txBody>
      </p:sp>
      <p:sp>
        <p:nvSpPr>
          <p:cNvPr id="3" name="Content Placeholder 2">
            <a:extLst>
              <a:ext uri="{FF2B5EF4-FFF2-40B4-BE49-F238E27FC236}">
                <a16:creationId xmlns:a16="http://schemas.microsoft.com/office/drawing/2014/main" id="{19234783-FC65-2BAA-C79F-D1C589C23C37}"/>
              </a:ext>
            </a:extLst>
          </p:cNvPr>
          <p:cNvSpPr>
            <a:spLocks noGrp="1"/>
          </p:cNvSpPr>
          <p:nvPr>
            <p:ph idx="1"/>
          </p:nvPr>
        </p:nvSpPr>
        <p:spPr/>
        <p:txBody>
          <a:bodyPr>
            <a:normAutofit lnSpcReduction="10000"/>
          </a:bodyPr>
          <a:lstStyle/>
          <a:p>
            <a:pPr>
              <a:buFont typeface="Arial" panose="020B0604020202020204" pitchFamily="34" charset="0"/>
              <a:buChar char="•"/>
            </a:pPr>
            <a:r>
              <a:rPr lang="en-US" sz="2800" b="1" spc="-50" dirty="0">
                <a:solidFill>
                  <a:srgbClr val="002060"/>
                </a:solidFill>
                <a:latin typeface="Calibri" panose="020F0502020204030204" pitchFamily="34" charset="0"/>
                <a:ea typeface="+mj-ea"/>
                <a:cs typeface="+mj-cs"/>
              </a:rPr>
              <a:t>Why Connect Azure DevOps to AWS?</a:t>
            </a:r>
          </a:p>
          <a:p>
            <a:pPr marL="0" indent="0">
              <a:buNone/>
            </a:pPr>
            <a:r>
              <a:rPr lang="en-US" sz="2800" b="1" spc="-50" dirty="0">
                <a:solidFill>
                  <a:srgbClr val="002060"/>
                </a:solidFill>
                <a:latin typeface="Calibri" panose="020F0502020204030204" pitchFamily="34" charset="0"/>
                <a:ea typeface="+mj-ea"/>
                <a:cs typeface="+mj-cs"/>
              </a:rPr>
              <a:t>   </a:t>
            </a:r>
            <a:r>
              <a:rPr lang="en-US" sz="1600" dirty="0">
                <a:solidFill>
                  <a:schemeClr val="tx1"/>
                </a:solidFill>
                <a:latin typeface="Times New Roman" panose="02020603050405020304" pitchFamily="18" charset="0"/>
                <a:cs typeface="Times New Roman" panose="02020603050405020304" pitchFamily="18" charset="0"/>
              </a:rPr>
              <a:t>Continuous Integration/Continuous Delivery (CI/CD)</a:t>
            </a:r>
          </a:p>
          <a:p>
            <a:pPr marL="0" indent="0">
              <a:buNone/>
            </a:pPr>
            <a:r>
              <a:rPr lang="en-US" sz="1600" dirty="0">
                <a:solidFill>
                  <a:schemeClr val="tx1"/>
                </a:solidFill>
                <a:latin typeface="Times New Roman" panose="02020603050405020304" pitchFamily="18" charset="0"/>
                <a:cs typeface="Times New Roman" panose="02020603050405020304" pitchFamily="18" charset="0"/>
              </a:rPr>
              <a:t>    Infrastructure as Code (</a:t>
            </a:r>
            <a:r>
              <a:rPr lang="en-US" sz="1600" dirty="0" err="1">
                <a:solidFill>
                  <a:schemeClr val="tx1"/>
                </a:solidFill>
                <a:latin typeface="Times New Roman" panose="02020603050405020304" pitchFamily="18" charset="0"/>
                <a:cs typeface="Times New Roman" panose="02020603050405020304" pitchFamily="18" charset="0"/>
              </a:rPr>
              <a:t>IaC</a:t>
            </a:r>
            <a:r>
              <a:rPr lang="en-US" sz="1600" dirty="0">
                <a:solidFill>
                  <a:schemeClr val="tx1"/>
                </a:solidFill>
                <a:latin typeface="Times New Roman" panose="02020603050405020304" pitchFamily="18" charset="0"/>
                <a:cs typeface="Times New Roman" panose="02020603050405020304" pitchFamily="18" charset="0"/>
              </a:rPr>
              <a:t>)</a:t>
            </a:r>
          </a:p>
          <a:p>
            <a:pPr marL="0" indent="0">
              <a:buNone/>
            </a:pPr>
            <a:r>
              <a:rPr lang="en-US" sz="1600" dirty="0">
                <a:solidFill>
                  <a:schemeClr val="tx1"/>
                </a:solidFill>
                <a:latin typeface="Times New Roman" panose="02020603050405020304" pitchFamily="18" charset="0"/>
                <a:cs typeface="Times New Roman" panose="02020603050405020304" pitchFamily="18" charset="0"/>
              </a:rPr>
              <a:t>    Centralized Orchestration</a:t>
            </a:r>
          </a:p>
          <a:p>
            <a:pPr marL="0" indent="0">
              <a:buNone/>
            </a:pPr>
            <a:r>
              <a:rPr lang="en-US" sz="1600" dirty="0">
                <a:solidFill>
                  <a:schemeClr val="tx1"/>
                </a:solidFill>
                <a:latin typeface="Times New Roman" panose="02020603050405020304" pitchFamily="18" charset="0"/>
                <a:cs typeface="Times New Roman" panose="02020603050405020304" pitchFamily="18" charset="0"/>
              </a:rPr>
              <a:t>    Hybrid Cloud Strategy</a:t>
            </a:r>
          </a:p>
          <a:p>
            <a:pPr>
              <a:buFont typeface="Arial" panose="020B0604020202020204" pitchFamily="34" charset="0"/>
              <a:buChar char="•"/>
            </a:pPr>
            <a:r>
              <a:rPr lang="en-US" sz="2800" b="1" spc="-50" dirty="0">
                <a:solidFill>
                  <a:srgbClr val="002060"/>
                </a:solidFill>
                <a:latin typeface="Calibri" panose="020F0502020204030204" pitchFamily="34" charset="0"/>
                <a:ea typeface="+mj-ea"/>
                <a:cs typeface="+mj-cs"/>
              </a:rPr>
              <a:t>The Core Challenge: Cross-Cloud Security</a:t>
            </a:r>
          </a:p>
          <a:p>
            <a:pPr marL="0" indent="0">
              <a:buNone/>
            </a:pPr>
            <a:r>
              <a:rPr lang="en-US" sz="2800" b="1" spc="-50" dirty="0">
                <a:solidFill>
                  <a:srgbClr val="002060"/>
                </a:solidFill>
                <a:latin typeface="Calibri" panose="020F0502020204030204" pitchFamily="34" charset="0"/>
                <a:ea typeface="+mj-ea"/>
                <a:cs typeface="+mj-cs"/>
              </a:rPr>
              <a:t>   </a:t>
            </a:r>
            <a:r>
              <a:rPr lang="en-IN" sz="1600" dirty="0">
                <a:solidFill>
                  <a:schemeClr val="tx1"/>
                </a:solidFill>
                <a:latin typeface="Times New Roman" panose="02020603050405020304" pitchFamily="18" charset="0"/>
                <a:cs typeface="Times New Roman" panose="02020603050405020304" pitchFamily="18" charset="0"/>
              </a:rPr>
              <a:t>Authentication &amp; Authorization</a:t>
            </a:r>
            <a:endParaRPr lang="en-US" sz="1600" dirty="0">
              <a:solidFill>
                <a:schemeClr val="tx1"/>
              </a:solidFill>
              <a:latin typeface="Times New Roman" panose="02020603050405020304" pitchFamily="18" charset="0"/>
              <a:cs typeface="Times New Roman" panose="02020603050405020304" pitchFamily="18" charset="0"/>
            </a:endParaRPr>
          </a:p>
          <a:p>
            <a:pPr marL="0" indent="0">
              <a:buNone/>
            </a:pPr>
            <a:r>
              <a:rPr lang="en-IN" sz="1600" dirty="0">
                <a:solidFill>
                  <a:schemeClr val="tx1"/>
                </a:solidFill>
                <a:latin typeface="Times New Roman" panose="02020603050405020304" pitchFamily="18" charset="0"/>
                <a:cs typeface="Times New Roman" panose="02020603050405020304" pitchFamily="18" charset="0"/>
              </a:rPr>
              <a:t>     Least Privilege Principle</a:t>
            </a:r>
            <a:endParaRPr lang="en-US" sz="1600" dirty="0">
              <a:solidFill>
                <a:schemeClr val="tx1"/>
              </a:solidFill>
              <a:latin typeface="Times New Roman" panose="02020603050405020304" pitchFamily="18" charset="0"/>
              <a:cs typeface="Times New Roman" panose="02020603050405020304" pitchFamily="18" charset="0"/>
            </a:endParaRPr>
          </a:p>
          <a:p>
            <a:pPr marL="0" indent="0">
              <a:buNone/>
            </a:pPr>
            <a:r>
              <a:rPr lang="en-IN" sz="1600" dirty="0">
                <a:solidFill>
                  <a:schemeClr val="tx1"/>
                </a:solidFill>
                <a:latin typeface="Times New Roman" panose="02020603050405020304" pitchFamily="18" charset="0"/>
                <a:cs typeface="Times New Roman" panose="02020603050405020304" pitchFamily="18" charset="0"/>
              </a:rPr>
              <a:t>     No Hardcoding Credentials</a:t>
            </a:r>
            <a:endParaRPr lang="en-US" sz="16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sz="1600" b="1" spc="-50" dirty="0">
              <a:solidFill>
                <a:schemeClr val="tx1"/>
              </a:solidFill>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3518480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795AA-C097-6596-AC47-AA8A1C6EB136}"/>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1.2</a:t>
            </a:r>
            <a:br>
              <a:rPr lang="en-IN" sz="2800" b="0" i="0" u="none" strike="noStrike" dirty="0">
                <a:solidFill>
                  <a:srgbClr val="002060"/>
                </a:solidFill>
                <a:effectLst/>
                <a:latin typeface="Arial" panose="020B0604020202020204" pitchFamily="34" charset="0"/>
              </a:rPr>
            </a:br>
            <a:r>
              <a:rPr lang="en-IN" sz="2800" b="1" i="0" u="none" strike="noStrike" kern="1200" dirty="0">
                <a:solidFill>
                  <a:srgbClr val="002060"/>
                </a:solidFill>
                <a:effectLst/>
                <a:latin typeface="Calibri" panose="020F0502020204030204" pitchFamily="34" charset="0"/>
              </a:rPr>
              <a:t>Authentication &amp; Authorization - The Secure Connection</a:t>
            </a:r>
            <a:endParaRPr lang="en-IN" sz="2800" dirty="0"/>
          </a:p>
        </p:txBody>
      </p:sp>
      <p:sp>
        <p:nvSpPr>
          <p:cNvPr id="3" name="Content Placeholder 2">
            <a:extLst>
              <a:ext uri="{FF2B5EF4-FFF2-40B4-BE49-F238E27FC236}">
                <a16:creationId xmlns:a16="http://schemas.microsoft.com/office/drawing/2014/main" id="{19234783-FC65-2BAA-C79F-D1C589C23C37}"/>
              </a:ext>
            </a:extLst>
          </p:cNvPr>
          <p:cNvSpPr>
            <a:spLocks noGrp="1"/>
          </p:cNvSpPr>
          <p:nvPr>
            <p:ph idx="1"/>
          </p:nvPr>
        </p:nvSpPr>
        <p:spPr/>
        <p:txBody>
          <a:bodyPr>
            <a:normAutofit/>
          </a:bodyPr>
          <a:lstStyle/>
          <a:p>
            <a:pPr>
              <a:buFont typeface="Arial" panose="020B0604020202020204" pitchFamily="34" charset="0"/>
              <a:buChar char="•"/>
            </a:pPr>
            <a:r>
              <a:rPr lang="en-US" sz="2000" b="1" dirty="0">
                <a:solidFill>
                  <a:srgbClr val="002060"/>
                </a:solidFill>
                <a:latin typeface="Times New Roman" panose="02020603050405020304" pitchFamily="18" charset="0"/>
                <a:cs typeface="Times New Roman" panose="02020603050405020304" pitchFamily="18" charset="0"/>
              </a:rPr>
              <a:t>Understanding AWS IAM Roles for Cross-Service Access</a:t>
            </a:r>
          </a:p>
          <a:p>
            <a:pPr marL="0" indent="0">
              <a:buNone/>
            </a:pPr>
            <a:r>
              <a:rPr lang="en-US" b="1" dirty="0">
                <a:solidFill>
                  <a:srgbClr val="002060"/>
                </a:solidFill>
                <a:latin typeface="Times New Roman" panose="02020603050405020304" pitchFamily="18" charset="0"/>
                <a:cs typeface="Times New Roman" panose="02020603050405020304" pitchFamily="18" charset="0"/>
              </a:rPr>
              <a:t>  </a:t>
            </a:r>
            <a:r>
              <a:rPr lang="en-IN" sz="1600" b="1" dirty="0">
                <a:solidFill>
                  <a:schemeClr val="tx1"/>
                </a:solidFill>
                <a:latin typeface="Times New Roman" panose="02020603050405020304" pitchFamily="18" charset="0"/>
                <a:cs typeface="Times New Roman" panose="02020603050405020304" pitchFamily="18" charset="0"/>
              </a:rPr>
              <a:t>IAM Role </a:t>
            </a:r>
            <a:r>
              <a:rPr lang="en-IN" sz="1600" dirty="0">
                <a:solidFill>
                  <a:schemeClr val="tx1"/>
                </a:solidFill>
                <a:latin typeface="Times New Roman" panose="02020603050405020304" pitchFamily="18" charset="0"/>
                <a:cs typeface="Times New Roman" panose="02020603050405020304" pitchFamily="18" charset="0"/>
              </a:rPr>
              <a:t>: </a:t>
            </a:r>
            <a:r>
              <a:rPr lang="en-IN" sz="1400" dirty="0"/>
              <a:t>Set of Permissions (</a:t>
            </a:r>
            <a:r>
              <a:rPr lang="en-US" sz="1200" dirty="0"/>
              <a:t>Service-to-service access, cross-account access, external integration.</a:t>
            </a:r>
            <a:r>
              <a:rPr lang="en-IN" sz="1400" dirty="0"/>
              <a:t>)</a:t>
            </a:r>
            <a:endParaRPr lang="en-IN" sz="1600" dirty="0">
              <a:solidFill>
                <a:schemeClr val="tx1"/>
              </a:solidFill>
              <a:latin typeface="Times New Roman" panose="02020603050405020304" pitchFamily="18" charset="0"/>
              <a:cs typeface="Times New Roman" panose="02020603050405020304" pitchFamily="18" charset="0"/>
            </a:endParaRPr>
          </a:p>
          <a:p>
            <a:pPr marL="0" indent="0">
              <a:buNone/>
            </a:pPr>
            <a:r>
              <a:rPr lang="en-IN" sz="1600" b="1" dirty="0">
                <a:solidFill>
                  <a:schemeClr val="tx1"/>
                </a:solidFill>
                <a:latin typeface="Times New Roman" panose="02020603050405020304" pitchFamily="18" charset="0"/>
                <a:cs typeface="Times New Roman" panose="02020603050405020304" pitchFamily="18" charset="0"/>
              </a:rPr>
              <a:t>  Trust Policy : </a:t>
            </a:r>
            <a:r>
              <a:rPr lang="en-IN" sz="1400" dirty="0"/>
              <a:t>OIDC provider.(</a:t>
            </a:r>
            <a:r>
              <a:rPr lang="en-US" sz="1200" dirty="0"/>
              <a:t>Define who can assume the role (e.g., EC2, Azure DevOps)</a:t>
            </a:r>
            <a:r>
              <a:rPr lang="en-IN" sz="1400" dirty="0"/>
              <a:t>)</a:t>
            </a:r>
            <a:endParaRPr lang="en-IN" sz="1600" dirty="0">
              <a:solidFill>
                <a:schemeClr val="tx1"/>
              </a:solidFill>
              <a:latin typeface="Times New Roman" panose="02020603050405020304" pitchFamily="18" charset="0"/>
              <a:cs typeface="Times New Roman" panose="02020603050405020304" pitchFamily="18" charset="0"/>
            </a:endParaRPr>
          </a:p>
          <a:p>
            <a:pPr marL="0" indent="0">
              <a:buNone/>
            </a:pPr>
            <a:r>
              <a:rPr lang="en-IN" sz="1600" b="1" dirty="0">
                <a:solidFill>
                  <a:schemeClr val="tx1"/>
                </a:solidFill>
                <a:latin typeface="Times New Roman" panose="02020603050405020304" pitchFamily="18" charset="0"/>
                <a:cs typeface="Times New Roman" panose="02020603050405020304" pitchFamily="18" charset="0"/>
              </a:rPr>
              <a:t>  Permissions Policy: </a:t>
            </a:r>
            <a:r>
              <a:rPr lang="en-IN" sz="1400" dirty="0"/>
              <a:t>s3:PutObject , arn:aws:s3:::my-bucket/*</a:t>
            </a:r>
            <a:endParaRPr lang="en-IN" sz="1600" dirty="0">
              <a:solidFill>
                <a:schemeClr val="tx1"/>
              </a:solidFill>
              <a:latin typeface="Times New Roman" panose="02020603050405020304" pitchFamily="18" charset="0"/>
              <a:cs typeface="Times New Roman" panose="02020603050405020304" pitchFamily="18" charset="0"/>
            </a:endParaRPr>
          </a:p>
          <a:p>
            <a:pPr marL="0" indent="0">
              <a:buNone/>
            </a:pPr>
            <a:r>
              <a:rPr lang="en-IN" sz="1600" dirty="0">
                <a:solidFill>
                  <a:schemeClr val="tx1"/>
                </a:solidFill>
                <a:latin typeface="Times New Roman" panose="02020603050405020304" pitchFamily="18" charset="0"/>
                <a:cs typeface="Times New Roman" panose="02020603050405020304" pitchFamily="18" charset="0"/>
              </a:rPr>
              <a:t>  </a:t>
            </a:r>
            <a:r>
              <a:rPr lang="en-IN" sz="1600" b="1" dirty="0">
                <a:solidFill>
                  <a:schemeClr val="tx1"/>
                </a:solidFill>
                <a:latin typeface="Times New Roman" panose="02020603050405020304" pitchFamily="18" charset="0"/>
                <a:cs typeface="Times New Roman" panose="02020603050405020304" pitchFamily="18" charset="0"/>
              </a:rPr>
              <a:t>Temporary Credentials  :  </a:t>
            </a:r>
            <a:r>
              <a:rPr lang="en-US" sz="1400" dirty="0"/>
              <a:t>a role provides short-lived access keys.</a:t>
            </a:r>
          </a:p>
          <a:p>
            <a:pPr>
              <a:buFont typeface="Arial" panose="020B0604020202020204" pitchFamily="34" charset="0"/>
              <a:buChar char="•"/>
            </a:pPr>
            <a:endParaRPr lang="en-US" b="1" dirty="0">
              <a:solidFill>
                <a:srgbClr val="002060"/>
              </a:solidFill>
              <a:latin typeface="Times New Roman" panose="02020603050405020304" pitchFamily="18" charset="0"/>
              <a:cs typeface="Times New Roman" panose="02020603050405020304" pitchFamily="18" charset="0"/>
            </a:endParaRPr>
          </a:p>
          <a:p>
            <a:pPr marL="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0" indent="0">
              <a:buNone/>
            </a:pPr>
            <a:r>
              <a:rPr lang="en-US" sz="1400" dirty="0">
                <a:solidFill>
                  <a:schemeClr val="tx1"/>
                </a:solidFill>
                <a:latin typeface="Times New Roman" panose="02020603050405020304" pitchFamily="18" charset="0"/>
                <a:cs typeface="Times New Roman" panose="02020603050405020304" pitchFamily="18" charset="0"/>
              </a:rPr>
              <a:t>   </a:t>
            </a:r>
            <a:endParaRPr lang="en-IN" sz="16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sz="16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2000" b="1"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18948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68138-A97E-DF5E-4397-B431100EBE4A}"/>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1.2</a:t>
            </a:r>
            <a:br>
              <a:rPr lang="en-IN" sz="2800" b="0" i="0" u="none" strike="noStrike" dirty="0">
                <a:solidFill>
                  <a:srgbClr val="002060"/>
                </a:solidFill>
                <a:effectLst/>
                <a:latin typeface="Arial" panose="020B0604020202020204" pitchFamily="34" charset="0"/>
              </a:rPr>
            </a:br>
            <a:r>
              <a:rPr lang="en-IN" sz="2800" b="1" i="0" u="none" strike="noStrike" kern="1200" dirty="0">
                <a:solidFill>
                  <a:srgbClr val="002060"/>
                </a:solidFill>
                <a:effectLst/>
                <a:latin typeface="Calibri" panose="020F0502020204030204" pitchFamily="34" charset="0"/>
              </a:rPr>
              <a:t>Authentication &amp; Authorization - The Secure Connection</a:t>
            </a:r>
            <a:endParaRPr lang="en-IN" sz="2800" dirty="0"/>
          </a:p>
        </p:txBody>
      </p:sp>
      <p:sp>
        <p:nvSpPr>
          <p:cNvPr id="3" name="Content Placeholder 2">
            <a:extLst>
              <a:ext uri="{FF2B5EF4-FFF2-40B4-BE49-F238E27FC236}">
                <a16:creationId xmlns:a16="http://schemas.microsoft.com/office/drawing/2014/main" id="{62C86333-836C-B303-C7E7-F5460B9D09CB}"/>
              </a:ext>
            </a:extLst>
          </p:cNvPr>
          <p:cNvSpPr>
            <a:spLocks noGrp="1"/>
          </p:cNvSpPr>
          <p:nvPr>
            <p:ph idx="1"/>
          </p:nvPr>
        </p:nvSpPr>
        <p:spPr/>
        <p:txBody>
          <a:bodyPr/>
          <a:lstStyle/>
          <a:p>
            <a:pPr>
              <a:buFont typeface="Arial" panose="020B0604020202020204" pitchFamily="34" charset="0"/>
              <a:buChar char="•"/>
            </a:pPr>
            <a:r>
              <a:rPr lang="en-US" b="1" dirty="0">
                <a:solidFill>
                  <a:srgbClr val="002060"/>
                </a:solidFill>
                <a:latin typeface="Times New Roman" panose="02020603050405020304" pitchFamily="18" charset="0"/>
                <a:cs typeface="Times New Roman" panose="02020603050405020304" pitchFamily="18" charset="0"/>
              </a:rPr>
              <a:t>Setting up AWS OIDC Provider (OpenID Connect)</a:t>
            </a:r>
          </a:p>
          <a:p>
            <a:pPr marL="0" indent="0">
              <a:buNone/>
            </a:pPr>
            <a:r>
              <a:rPr lang="en-US" b="1" dirty="0">
                <a:solidFill>
                  <a:srgbClr val="002060"/>
                </a:solidFill>
                <a:latin typeface="Times New Roman" panose="02020603050405020304" pitchFamily="18" charset="0"/>
                <a:cs typeface="Times New Roman" panose="02020603050405020304" pitchFamily="18" charset="0"/>
              </a:rPr>
              <a:t> </a:t>
            </a:r>
            <a:r>
              <a:rPr lang="en-IN" b="1" dirty="0"/>
              <a:t>Secure Federation:  </a:t>
            </a:r>
            <a:r>
              <a:rPr lang="en-US" dirty="0"/>
              <a:t>OIDC allows Azure DevOps to securely authenticate with AWS using a standard protocol.</a:t>
            </a:r>
            <a:endParaRPr lang="en-IN" dirty="0"/>
          </a:p>
          <a:p>
            <a:pPr marL="0" indent="0">
              <a:buNone/>
            </a:pPr>
            <a:r>
              <a:rPr lang="en-US" b="1" dirty="0">
                <a:solidFill>
                  <a:srgbClr val="002060"/>
                </a:solidFill>
                <a:latin typeface="Times New Roman" panose="02020603050405020304" pitchFamily="18" charset="0"/>
                <a:cs typeface="Times New Roman" panose="02020603050405020304" pitchFamily="18" charset="0"/>
              </a:rPr>
              <a:t> </a:t>
            </a:r>
            <a:r>
              <a:rPr lang="en-IN" b="1" dirty="0"/>
              <a:t>Azure DevOps as Identity Provider</a:t>
            </a:r>
            <a:r>
              <a:rPr lang="en-IN" dirty="0"/>
              <a:t>: </a:t>
            </a:r>
            <a:r>
              <a:rPr lang="en-US" dirty="0"/>
              <a:t>Azure DevOps acts as the Identity Provider (IdP), and AWS acts as the Relying Party.</a:t>
            </a:r>
            <a:endParaRPr lang="en-IN" dirty="0"/>
          </a:p>
          <a:p>
            <a:pPr marL="0" indent="0">
              <a:buNone/>
            </a:pPr>
            <a:r>
              <a:rPr lang="en-IN" dirty="0"/>
              <a:t> </a:t>
            </a:r>
            <a:r>
              <a:rPr lang="en-IN" b="1" dirty="0"/>
              <a:t>URL and Thumbprint:  </a:t>
            </a:r>
            <a:r>
              <a:rPr lang="en-IN" dirty="0"/>
              <a:t>Required </a:t>
            </a:r>
            <a:r>
              <a:rPr lang="en-US" dirty="0"/>
              <a:t>details from Azure DevOps (organization URL , unique thumbprint) to configure the OIDC provider in AWS IAM.</a:t>
            </a:r>
            <a:endParaRPr lang="en-IN" dirty="0"/>
          </a:p>
          <a:p>
            <a:pPr marL="0" indent="0">
              <a:buNone/>
            </a:pPr>
            <a:r>
              <a:rPr lang="en-IN" dirty="0"/>
              <a:t> </a:t>
            </a:r>
            <a:r>
              <a:rPr lang="en-IN" b="1" dirty="0"/>
              <a:t>Trust Policy Condition: </a:t>
            </a:r>
            <a:r>
              <a:rPr lang="en-IN" dirty="0"/>
              <a:t>This contains </a:t>
            </a:r>
            <a:r>
              <a:rPr lang="en-US" dirty="0"/>
              <a:t>conditions to ensure only your specific Azure DevOps organization can assume the role.</a:t>
            </a:r>
            <a:endParaRPr lang="en-US" b="1"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820418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795AA-C097-6596-AC47-AA8A1C6EB136}"/>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1.2</a:t>
            </a:r>
            <a:br>
              <a:rPr lang="en-IN" sz="2800" b="0" i="0" u="none" strike="noStrike" dirty="0">
                <a:solidFill>
                  <a:srgbClr val="002060"/>
                </a:solidFill>
                <a:effectLst/>
                <a:latin typeface="Arial" panose="020B0604020202020204" pitchFamily="34" charset="0"/>
              </a:rPr>
            </a:br>
            <a:r>
              <a:rPr lang="en-IN" sz="2800" b="1" i="0" u="none" strike="noStrike" kern="1200" dirty="0">
                <a:solidFill>
                  <a:srgbClr val="002060"/>
                </a:solidFill>
                <a:effectLst/>
                <a:latin typeface="Calibri" panose="020F0502020204030204" pitchFamily="34" charset="0"/>
              </a:rPr>
              <a:t>Authentication &amp; Authorization - The Secure Connection</a:t>
            </a:r>
            <a:endParaRPr lang="en-IN" sz="2800" dirty="0"/>
          </a:p>
        </p:txBody>
      </p:sp>
      <p:sp>
        <p:nvSpPr>
          <p:cNvPr id="3" name="Content Placeholder 2">
            <a:extLst>
              <a:ext uri="{FF2B5EF4-FFF2-40B4-BE49-F238E27FC236}">
                <a16:creationId xmlns:a16="http://schemas.microsoft.com/office/drawing/2014/main" id="{19234783-FC65-2BAA-C79F-D1C589C23C37}"/>
              </a:ext>
            </a:extLst>
          </p:cNvPr>
          <p:cNvSpPr>
            <a:spLocks noGrp="1"/>
          </p:cNvSpPr>
          <p:nvPr>
            <p:ph idx="1"/>
          </p:nvPr>
        </p:nvSpPr>
        <p:spPr/>
        <p:txBody>
          <a:bodyPr/>
          <a:lstStyle/>
          <a:p>
            <a:pPr>
              <a:buFont typeface="Arial" panose="020B0604020202020204" pitchFamily="34" charset="0"/>
              <a:buChar char="•"/>
            </a:pPr>
            <a:r>
              <a:rPr lang="en-US" sz="2000" b="1" dirty="0">
                <a:solidFill>
                  <a:srgbClr val="002060"/>
                </a:solidFill>
                <a:latin typeface="Times New Roman" panose="02020603050405020304" pitchFamily="18" charset="0"/>
                <a:cs typeface="Times New Roman" panose="02020603050405020304" pitchFamily="18" charset="0"/>
              </a:rPr>
              <a:t>Configuring the AWS Service Connection in Azure DevOps</a:t>
            </a:r>
          </a:p>
          <a:p>
            <a:pPr marL="0" indent="0">
              <a:buNone/>
            </a:pPr>
            <a:r>
              <a:rPr lang="en-US" b="1" dirty="0">
                <a:solidFill>
                  <a:srgbClr val="002060"/>
                </a:solidFill>
                <a:latin typeface="Times New Roman" panose="02020603050405020304" pitchFamily="18" charset="0"/>
                <a:cs typeface="Times New Roman" panose="02020603050405020304" pitchFamily="18" charset="0"/>
              </a:rPr>
              <a:t> </a:t>
            </a:r>
            <a:r>
              <a:rPr lang="en-US" sz="1600" b="1" dirty="0"/>
              <a:t>Service Connection Type:</a:t>
            </a:r>
            <a:r>
              <a:rPr lang="en-US" sz="1600" dirty="0"/>
              <a:t> Choose 'AWS' as the service connection type.</a:t>
            </a:r>
            <a:endParaRPr lang="en-US" sz="1600" b="1" dirty="0">
              <a:solidFill>
                <a:srgbClr val="002060"/>
              </a:solidFill>
              <a:latin typeface="Times New Roman" panose="02020603050405020304" pitchFamily="18" charset="0"/>
              <a:cs typeface="Times New Roman" panose="02020603050405020304" pitchFamily="18" charset="0"/>
            </a:endParaRPr>
          </a:p>
          <a:p>
            <a:pPr marL="0" indent="0">
              <a:buNone/>
            </a:pPr>
            <a:r>
              <a:rPr lang="en-US" sz="1600" b="1" dirty="0"/>
              <a:t>Authentication Method: Role-based:</a:t>
            </a:r>
            <a:r>
              <a:rPr lang="en-US" sz="1600" dirty="0"/>
              <a:t> Select 'Role-based authentication' (this is where OIDC comes in).</a:t>
            </a:r>
            <a:endParaRPr lang="en-US" sz="1600" b="1" dirty="0">
              <a:solidFill>
                <a:srgbClr val="002060"/>
              </a:solidFill>
              <a:latin typeface="Times New Roman" panose="02020603050405020304" pitchFamily="18" charset="0"/>
              <a:cs typeface="Times New Roman" panose="02020603050405020304" pitchFamily="18" charset="0"/>
            </a:endParaRPr>
          </a:p>
          <a:p>
            <a:pPr marL="0" indent="0">
              <a:buNone/>
            </a:pPr>
            <a:r>
              <a:rPr lang="en-US" sz="1600" b="1" dirty="0"/>
              <a:t>AWS Account ID:</a:t>
            </a:r>
            <a:r>
              <a:rPr lang="en-US" sz="1600" dirty="0"/>
              <a:t> Provide the target AWS account ID.</a:t>
            </a:r>
            <a:endParaRPr lang="en-US" sz="1600" b="1" dirty="0">
              <a:solidFill>
                <a:srgbClr val="002060"/>
              </a:solidFill>
              <a:latin typeface="Times New Roman" panose="02020603050405020304" pitchFamily="18" charset="0"/>
              <a:cs typeface="Times New Roman" panose="02020603050405020304" pitchFamily="18" charset="0"/>
            </a:endParaRPr>
          </a:p>
          <a:p>
            <a:pPr marL="0" indent="0">
              <a:buNone/>
            </a:pPr>
            <a:r>
              <a:rPr lang="en-US" sz="1600" b="1" dirty="0"/>
              <a:t>IAM Role ARN:</a:t>
            </a:r>
            <a:r>
              <a:rPr lang="en-US" sz="1600" dirty="0"/>
              <a:t> Specify the Amazon Resource Name (ARN) of the IAM role you created for Azure DevOps.</a:t>
            </a:r>
          </a:p>
          <a:p>
            <a:pPr marL="0" indent="0">
              <a:buNone/>
            </a:pPr>
            <a:r>
              <a:rPr lang="en-US" sz="1600" b="1" dirty="0"/>
              <a:t>IAM Role ARN:</a:t>
            </a:r>
            <a:r>
              <a:rPr lang="en-US" sz="1600" dirty="0"/>
              <a:t> Specify the Amazon Resource Name (ARN) of the IAM role you created for Azure DevOps.</a:t>
            </a:r>
          </a:p>
          <a:p>
            <a:pPr marL="0" indent="0">
              <a:buNone/>
            </a:pPr>
            <a:r>
              <a:rPr lang="en-US" sz="1600" b="1" dirty="0"/>
              <a:t>External ID (Optional but Recommended):</a:t>
            </a:r>
            <a:r>
              <a:rPr lang="en-US" sz="1600" dirty="0"/>
              <a:t> A unique string to prevent confused deputy problem.</a:t>
            </a:r>
            <a:endParaRPr lang="en-US" sz="1600" b="1" dirty="0">
              <a:solidFill>
                <a:srgbClr val="002060"/>
              </a:solidFill>
              <a:latin typeface="Times New Roman" panose="02020603050405020304" pitchFamily="18" charset="0"/>
              <a:cs typeface="Times New Roman" panose="02020603050405020304" pitchFamily="18" charset="0"/>
            </a:endParaRPr>
          </a:p>
          <a:p>
            <a:pPr marL="0" indent="0">
              <a:buNone/>
            </a:pPr>
            <a:endParaRPr lang="en-US" sz="2000" b="1" dirty="0">
              <a:solidFill>
                <a:srgbClr val="002060"/>
              </a:solidFill>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330820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795AA-C097-6596-AC47-AA8A1C6EB136}"/>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1.2</a:t>
            </a:r>
            <a:br>
              <a:rPr lang="en-IN" sz="2800" b="0" i="0" u="none" strike="noStrike" dirty="0">
                <a:solidFill>
                  <a:srgbClr val="002060"/>
                </a:solidFill>
                <a:effectLst/>
                <a:latin typeface="Arial" panose="020B0604020202020204" pitchFamily="34" charset="0"/>
              </a:rPr>
            </a:br>
            <a:r>
              <a:rPr lang="en-IN" sz="2800" b="1" i="0" u="none" strike="noStrike" kern="1200" dirty="0">
                <a:solidFill>
                  <a:srgbClr val="002060"/>
                </a:solidFill>
                <a:effectLst/>
                <a:latin typeface="Calibri" panose="020F0502020204030204" pitchFamily="34" charset="0"/>
              </a:rPr>
              <a:t>Authentication &amp; Authorization - The Secure Connection</a:t>
            </a:r>
            <a:endParaRPr lang="en-IN" sz="2800" dirty="0"/>
          </a:p>
        </p:txBody>
      </p:sp>
      <p:sp>
        <p:nvSpPr>
          <p:cNvPr id="3" name="Content Placeholder 2">
            <a:extLst>
              <a:ext uri="{FF2B5EF4-FFF2-40B4-BE49-F238E27FC236}">
                <a16:creationId xmlns:a16="http://schemas.microsoft.com/office/drawing/2014/main" id="{19234783-FC65-2BAA-C79F-D1C589C23C37}"/>
              </a:ext>
            </a:extLst>
          </p:cNvPr>
          <p:cNvSpPr>
            <a:spLocks noGrp="1"/>
          </p:cNvSpPr>
          <p:nvPr>
            <p:ph idx="1"/>
          </p:nvPr>
        </p:nvSpPr>
        <p:spPr>
          <a:xfrm>
            <a:off x="933651" y="1864985"/>
            <a:ext cx="10058400" cy="4023360"/>
          </a:xfrm>
        </p:spPr>
        <p:txBody>
          <a:bodyPr/>
          <a:lstStyle/>
          <a:p>
            <a:pPr>
              <a:buFont typeface="Arial" panose="020B0604020202020204" pitchFamily="34" charset="0"/>
              <a:buChar char="•"/>
            </a:pPr>
            <a:r>
              <a:rPr lang="en-IN" sz="2400" b="1" dirty="0">
                <a:solidFill>
                  <a:srgbClr val="002060"/>
                </a:solidFill>
                <a:latin typeface="Times New Roman" panose="02020603050405020304" pitchFamily="18" charset="0"/>
                <a:cs typeface="Times New Roman" panose="02020603050405020304" pitchFamily="18" charset="0"/>
              </a:rPr>
              <a:t>How it Works End-to-End</a:t>
            </a:r>
          </a:p>
          <a:p>
            <a:pPr marL="0" indent="0">
              <a:buNone/>
            </a:pPr>
            <a:r>
              <a:rPr lang="en-IN" sz="2400" b="1" dirty="0">
                <a:solidFill>
                  <a:srgbClr val="002060"/>
                </a:solidFill>
                <a:latin typeface="Times New Roman" panose="02020603050405020304" pitchFamily="18" charset="0"/>
                <a:cs typeface="Times New Roman" panose="02020603050405020304" pitchFamily="18" charset="0"/>
              </a:rPr>
              <a:t>  </a:t>
            </a:r>
          </a:p>
          <a:p>
            <a:endParaRPr lang="en-IN" dirty="0"/>
          </a:p>
        </p:txBody>
      </p:sp>
      <p:pic>
        <p:nvPicPr>
          <p:cNvPr id="5" name="Picture 4">
            <a:extLst>
              <a:ext uri="{FF2B5EF4-FFF2-40B4-BE49-F238E27FC236}">
                <a16:creationId xmlns:a16="http://schemas.microsoft.com/office/drawing/2014/main" id="{77BFFA8A-3CEB-DA64-BDC5-2AA5D9FCEFE7}"/>
              </a:ext>
            </a:extLst>
          </p:cNvPr>
          <p:cNvPicPr>
            <a:picLocks noChangeAspect="1"/>
          </p:cNvPicPr>
          <p:nvPr/>
        </p:nvPicPr>
        <p:blipFill>
          <a:blip r:embed="rId2"/>
          <a:stretch>
            <a:fillRect/>
          </a:stretch>
        </p:blipFill>
        <p:spPr>
          <a:xfrm>
            <a:off x="1097280" y="2416556"/>
            <a:ext cx="4597636" cy="3333921"/>
          </a:xfrm>
          <a:prstGeom prst="rect">
            <a:avLst/>
          </a:prstGeom>
        </p:spPr>
      </p:pic>
    </p:spTree>
    <p:extLst>
      <p:ext uri="{BB962C8B-B14F-4D97-AF65-F5344CB8AC3E}">
        <p14:creationId xmlns:p14="http://schemas.microsoft.com/office/powerpoint/2010/main" val="2013529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795AA-C097-6596-AC47-AA8A1C6EB136}"/>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1.2</a:t>
            </a:r>
            <a:br>
              <a:rPr lang="en-IN" sz="2800" b="0" i="0" u="none" strike="noStrike" dirty="0">
                <a:solidFill>
                  <a:srgbClr val="002060"/>
                </a:solidFill>
                <a:effectLst/>
                <a:latin typeface="Arial" panose="020B0604020202020204" pitchFamily="34" charset="0"/>
              </a:rPr>
            </a:br>
            <a:r>
              <a:rPr lang="en-IN" sz="2800" b="1" i="0" u="none" strike="noStrike" kern="1200" dirty="0">
                <a:solidFill>
                  <a:srgbClr val="002060"/>
                </a:solidFill>
                <a:effectLst/>
                <a:latin typeface="Calibri" panose="020F0502020204030204" pitchFamily="34" charset="0"/>
              </a:rPr>
              <a:t>Authentication &amp; Authorization - The Secure Connection</a:t>
            </a:r>
            <a:endParaRPr lang="en-IN" sz="2800" dirty="0"/>
          </a:p>
        </p:txBody>
      </p:sp>
      <p:sp>
        <p:nvSpPr>
          <p:cNvPr id="3" name="Content Placeholder 2">
            <a:extLst>
              <a:ext uri="{FF2B5EF4-FFF2-40B4-BE49-F238E27FC236}">
                <a16:creationId xmlns:a16="http://schemas.microsoft.com/office/drawing/2014/main" id="{19234783-FC65-2BAA-C79F-D1C589C23C37}"/>
              </a:ext>
            </a:extLst>
          </p:cNvPr>
          <p:cNvSpPr>
            <a:spLocks noGrp="1"/>
          </p:cNvSpPr>
          <p:nvPr>
            <p:ph idx="1"/>
          </p:nvPr>
        </p:nvSpPr>
        <p:spPr/>
        <p:txBody>
          <a:bodyPr/>
          <a:lstStyle/>
          <a:p>
            <a:pPr>
              <a:buFont typeface="Arial" panose="020B0604020202020204" pitchFamily="34" charset="0"/>
              <a:buChar char="•"/>
            </a:pPr>
            <a:r>
              <a:rPr lang="en-IN" sz="2000" b="1" dirty="0">
                <a:solidFill>
                  <a:srgbClr val="002060"/>
                </a:solidFill>
                <a:latin typeface="Times New Roman" panose="02020603050405020304" pitchFamily="18" charset="0"/>
                <a:cs typeface="Times New Roman" panose="02020603050405020304" pitchFamily="18" charset="0"/>
              </a:rPr>
              <a:t>Best Practices:</a:t>
            </a:r>
          </a:p>
          <a:p>
            <a:pPr marL="0" indent="0">
              <a:buNone/>
            </a:pPr>
            <a:r>
              <a:rPr lang="en-IN" b="1" dirty="0">
                <a:solidFill>
                  <a:srgbClr val="002060"/>
                </a:solidFill>
                <a:latin typeface="Times New Roman" panose="02020603050405020304" pitchFamily="18" charset="0"/>
                <a:cs typeface="Times New Roman" panose="02020603050405020304" pitchFamily="18" charset="0"/>
              </a:rPr>
              <a:t> </a:t>
            </a:r>
            <a:r>
              <a:rPr lang="en-US" b="1" dirty="0"/>
              <a:t>Least Privilege:</a:t>
            </a:r>
            <a:r>
              <a:rPr lang="en-US" dirty="0"/>
              <a:t> Always grant only the minimum necessary permissions to the IAM role.</a:t>
            </a:r>
            <a:endParaRPr lang="en-IN" b="1" dirty="0">
              <a:solidFill>
                <a:srgbClr val="002060"/>
              </a:solidFill>
              <a:latin typeface="Times New Roman" panose="02020603050405020304" pitchFamily="18" charset="0"/>
              <a:cs typeface="Times New Roman" panose="02020603050405020304" pitchFamily="18" charset="0"/>
            </a:endParaRPr>
          </a:p>
          <a:p>
            <a:pPr marL="0" indent="0">
              <a:buNone/>
            </a:pPr>
            <a:r>
              <a:rPr lang="en-IN" sz="2000" b="1" dirty="0">
                <a:solidFill>
                  <a:srgbClr val="002060"/>
                </a:solidFill>
                <a:latin typeface="Times New Roman" panose="02020603050405020304" pitchFamily="18" charset="0"/>
                <a:cs typeface="Times New Roman" panose="02020603050405020304" pitchFamily="18" charset="0"/>
              </a:rPr>
              <a:t> </a:t>
            </a:r>
            <a:r>
              <a:rPr lang="en-US" b="1" dirty="0"/>
              <a:t>Separate Roles per Project/Environment:</a:t>
            </a:r>
            <a:r>
              <a:rPr lang="en-US" dirty="0"/>
              <a:t> Create distinct IAM roles and service connections for different projects or environments (Dev, Test, Prod) to isolate permissions.</a:t>
            </a:r>
          </a:p>
          <a:p>
            <a:pPr marL="0" indent="0">
              <a:buNone/>
            </a:pPr>
            <a:r>
              <a:rPr lang="en-US" sz="2000" b="1" dirty="0">
                <a:solidFill>
                  <a:srgbClr val="002060"/>
                </a:solidFill>
                <a:latin typeface="Times New Roman" panose="02020603050405020304" pitchFamily="18" charset="0"/>
                <a:cs typeface="Times New Roman" panose="02020603050405020304" pitchFamily="18" charset="0"/>
              </a:rPr>
              <a:t> </a:t>
            </a:r>
            <a:r>
              <a:rPr lang="en-US" b="1" dirty="0"/>
              <a:t>Regular Auditing:</a:t>
            </a:r>
            <a:r>
              <a:rPr lang="en-US" dirty="0"/>
              <a:t> Monitor IAM role activity using AWS CloudTrail to track who assumed roles and what actions were performed</a:t>
            </a:r>
          </a:p>
          <a:p>
            <a:pPr marL="0" indent="0">
              <a:buNone/>
            </a:pPr>
            <a:r>
              <a:rPr lang="en-US" sz="2000" b="1" dirty="0">
                <a:solidFill>
                  <a:srgbClr val="002060"/>
                </a:solidFill>
                <a:latin typeface="Times New Roman" panose="02020603050405020304" pitchFamily="18" charset="0"/>
                <a:cs typeface="Times New Roman" panose="02020603050405020304" pitchFamily="18" charset="0"/>
              </a:rPr>
              <a:t> </a:t>
            </a:r>
            <a:r>
              <a:rPr lang="en-US" b="1" dirty="0"/>
              <a:t>Use External ID:</a:t>
            </a:r>
            <a:r>
              <a:rPr lang="en-US" dirty="0"/>
              <a:t> Always leverage the External ID feature for OIDC-based role assumption</a:t>
            </a:r>
          </a:p>
          <a:p>
            <a:pPr marL="0" indent="0">
              <a:buNone/>
            </a:pPr>
            <a:r>
              <a:rPr lang="en-US" sz="2000" b="1" dirty="0">
                <a:solidFill>
                  <a:srgbClr val="002060"/>
                </a:solidFill>
                <a:latin typeface="Times New Roman" panose="02020603050405020304" pitchFamily="18" charset="0"/>
                <a:cs typeface="Times New Roman" panose="02020603050405020304" pitchFamily="18" charset="0"/>
              </a:rPr>
              <a:t> </a:t>
            </a:r>
            <a:r>
              <a:rPr lang="en-US" b="1" dirty="0"/>
              <a:t>Automate Setup:</a:t>
            </a:r>
            <a:r>
              <a:rPr lang="en-US" dirty="0"/>
              <a:t> Use </a:t>
            </a:r>
            <a:r>
              <a:rPr lang="en-US" dirty="0" err="1"/>
              <a:t>IaC</a:t>
            </a:r>
            <a:r>
              <a:rPr lang="en-US" dirty="0"/>
              <a:t> tools (e.g., CloudFormation, Terraform) to define your IAM roles and OIDC providers for consistency and repeatability.</a:t>
            </a:r>
            <a:endParaRPr lang="en-IN" sz="2000" b="1" dirty="0">
              <a:solidFill>
                <a:srgbClr val="002060"/>
              </a:solidFill>
              <a:latin typeface="Times New Roman" panose="02020603050405020304" pitchFamily="18" charset="0"/>
              <a:cs typeface="Times New Roman" panose="02020603050405020304" pitchFamily="18" charset="0"/>
            </a:endParaRPr>
          </a:p>
          <a:p>
            <a:pPr marL="0" indent="0">
              <a:buNone/>
            </a:pPr>
            <a:r>
              <a:rPr lang="en-IN" b="1" dirty="0">
                <a:solidFill>
                  <a:srgbClr val="002060"/>
                </a:solidFill>
                <a:latin typeface="Times New Roman" panose="02020603050405020304" pitchFamily="18" charset="0"/>
                <a:cs typeface="Times New Roman" panose="02020603050405020304" pitchFamily="18" charset="0"/>
              </a:rPr>
              <a:t> </a:t>
            </a:r>
            <a:endParaRPr lang="en-US" sz="2000" b="1"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655353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795AA-C097-6596-AC47-AA8A1C6EB136}"/>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2.1</a:t>
            </a:r>
            <a:br>
              <a:rPr lang="en-IN" sz="2800" b="0" i="0" u="none" strike="noStrike" dirty="0">
                <a:solidFill>
                  <a:srgbClr val="002060"/>
                </a:solidFill>
                <a:effectLst/>
                <a:latin typeface="Arial" panose="020B0604020202020204" pitchFamily="34" charset="0"/>
              </a:rPr>
            </a:br>
            <a:r>
              <a:rPr lang="en-IN" sz="2800" b="1" dirty="0">
                <a:solidFill>
                  <a:srgbClr val="002060"/>
                </a:solidFill>
                <a:latin typeface="Calibri" panose="020F0502020204030204" pitchFamily="34" charset="0"/>
              </a:rPr>
              <a:t>Infrastructure as Code (</a:t>
            </a:r>
            <a:r>
              <a:rPr lang="en-IN" sz="2800" b="1" dirty="0" err="1">
                <a:solidFill>
                  <a:srgbClr val="002060"/>
                </a:solidFill>
                <a:latin typeface="Calibri" panose="020F0502020204030204" pitchFamily="34" charset="0"/>
              </a:rPr>
              <a:t>IaC</a:t>
            </a:r>
            <a:r>
              <a:rPr lang="en-IN" sz="2800" b="1" dirty="0">
                <a:solidFill>
                  <a:srgbClr val="002060"/>
                </a:solidFill>
                <a:latin typeface="Calibri" panose="020F0502020204030204" pitchFamily="34" charset="0"/>
              </a:rPr>
              <a:t>) - Defining Your AWS Resources (Part 1)</a:t>
            </a:r>
            <a:br>
              <a:rPr lang="en-IN" sz="2800" b="0" i="0" u="none" strike="noStrike" dirty="0">
                <a:solidFill>
                  <a:srgbClr val="000000"/>
                </a:solidFill>
                <a:effectLst/>
                <a:latin typeface="Calibri" panose="020F0502020204030204" pitchFamily="34" charset="0"/>
              </a:rPr>
            </a:br>
            <a:endParaRPr lang="en-IN" sz="2800" dirty="0"/>
          </a:p>
        </p:txBody>
      </p:sp>
      <p:sp>
        <p:nvSpPr>
          <p:cNvPr id="3" name="Content Placeholder 2">
            <a:extLst>
              <a:ext uri="{FF2B5EF4-FFF2-40B4-BE49-F238E27FC236}">
                <a16:creationId xmlns:a16="http://schemas.microsoft.com/office/drawing/2014/main" id="{19234783-FC65-2BAA-C79F-D1C589C23C37}"/>
              </a:ext>
            </a:extLst>
          </p:cNvPr>
          <p:cNvSpPr>
            <a:spLocks noGrp="1"/>
          </p:cNvSpPr>
          <p:nvPr>
            <p:ph idx="1"/>
          </p:nvPr>
        </p:nvSpPr>
        <p:spPr/>
        <p:txBody>
          <a:bodyPr/>
          <a:lstStyle/>
          <a:p>
            <a:pPr>
              <a:buFont typeface="Arial" panose="020B0604020202020204" pitchFamily="34" charset="0"/>
              <a:buChar char="•"/>
            </a:pPr>
            <a:r>
              <a:rPr lang="en-IN" sz="2000" u="none" strike="noStrike" kern="1200" dirty="0">
                <a:solidFill>
                  <a:schemeClr val="dk1"/>
                </a:solidFill>
                <a:effectLst/>
                <a:latin typeface="+mn-lt"/>
                <a:ea typeface="+mn-ea"/>
                <a:cs typeface="+mn-cs"/>
              </a:rPr>
              <a:t>Introduction to </a:t>
            </a:r>
            <a:r>
              <a:rPr lang="en-IN" sz="2000" u="none" strike="noStrike" kern="1200" dirty="0" err="1">
                <a:solidFill>
                  <a:schemeClr val="dk1"/>
                </a:solidFill>
                <a:effectLst/>
                <a:latin typeface="+mn-lt"/>
                <a:ea typeface="+mn-ea"/>
                <a:cs typeface="+mn-cs"/>
              </a:rPr>
              <a:t>IaC</a:t>
            </a:r>
            <a:r>
              <a:rPr lang="en-IN" sz="2000" u="none" strike="noStrike" kern="1200" dirty="0">
                <a:solidFill>
                  <a:schemeClr val="dk1"/>
                </a:solidFill>
                <a:effectLst/>
                <a:latin typeface="+mn-lt"/>
                <a:ea typeface="+mn-ea"/>
                <a:cs typeface="+mn-cs"/>
              </a:rPr>
              <a:t> concepts and benefits; </a:t>
            </a:r>
          </a:p>
          <a:p>
            <a:pPr>
              <a:buFont typeface="Arial" panose="020B0604020202020204" pitchFamily="34" charset="0"/>
              <a:buChar char="•"/>
            </a:pPr>
            <a:r>
              <a:rPr lang="en-IN" sz="2000" u="none" strike="noStrike" kern="1200" dirty="0">
                <a:solidFill>
                  <a:schemeClr val="dk1"/>
                </a:solidFill>
                <a:effectLst/>
                <a:latin typeface="+mn-lt"/>
                <a:ea typeface="+mn-ea"/>
                <a:cs typeface="+mn-cs"/>
              </a:rPr>
              <a:t>Overview of AWS CloudFormation for defining infrastructure; </a:t>
            </a:r>
          </a:p>
          <a:p>
            <a:pPr>
              <a:buFont typeface="Arial" panose="020B0604020202020204" pitchFamily="34" charset="0"/>
              <a:buChar char="•"/>
            </a:pPr>
            <a:r>
              <a:rPr lang="en-IN" sz="2000" u="none" strike="noStrike" kern="1200" dirty="0">
                <a:solidFill>
                  <a:schemeClr val="dk1"/>
                </a:solidFill>
                <a:effectLst/>
                <a:latin typeface="+mn-lt"/>
                <a:ea typeface="+mn-ea"/>
                <a:cs typeface="+mn-cs"/>
              </a:rPr>
              <a:t>Defining an EC2 Instance using a simple CloudFormation snippet (AMI, instance type, key-pair, Security Group).</a:t>
            </a:r>
          </a:p>
          <a:p>
            <a:endParaRPr lang="en-IN" dirty="0"/>
          </a:p>
        </p:txBody>
      </p:sp>
    </p:spTree>
    <p:extLst>
      <p:ext uri="{BB962C8B-B14F-4D97-AF65-F5344CB8AC3E}">
        <p14:creationId xmlns:p14="http://schemas.microsoft.com/office/powerpoint/2010/main" val="3120725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795AA-C097-6596-AC47-AA8A1C6EB136}"/>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2.1</a:t>
            </a:r>
            <a:br>
              <a:rPr lang="en-IN" sz="2800" b="0" i="0" u="none" strike="noStrike" dirty="0">
                <a:solidFill>
                  <a:srgbClr val="002060"/>
                </a:solidFill>
                <a:effectLst/>
                <a:latin typeface="Arial" panose="020B0604020202020204" pitchFamily="34" charset="0"/>
              </a:rPr>
            </a:br>
            <a:r>
              <a:rPr lang="en-IN" sz="2800" b="1" dirty="0">
                <a:solidFill>
                  <a:srgbClr val="002060"/>
                </a:solidFill>
                <a:latin typeface="Calibri" panose="020F0502020204030204" pitchFamily="34" charset="0"/>
              </a:rPr>
              <a:t>Infrastructure as Code (</a:t>
            </a:r>
            <a:r>
              <a:rPr lang="en-IN" sz="2800" b="1" dirty="0" err="1">
                <a:solidFill>
                  <a:srgbClr val="002060"/>
                </a:solidFill>
                <a:latin typeface="Calibri" panose="020F0502020204030204" pitchFamily="34" charset="0"/>
              </a:rPr>
              <a:t>IaC</a:t>
            </a:r>
            <a:r>
              <a:rPr lang="en-IN" sz="2800" b="1" dirty="0">
                <a:solidFill>
                  <a:srgbClr val="002060"/>
                </a:solidFill>
                <a:latin typeface="Calibri" panose="020F0502020204030204" pitchFamily="34" charset="0"/>
              </a:rPr>
              <a:t>) - Defining Your AWS Resources (Part 1)</a:t>
            </a:r>
            <a:br>
              <a:rPr lang="en-IN" sz="2800" b="0" i="0" u="none" strike="noStrike" dirty="0">
                <a:solidFill>
                  <a:srgbClr val="000000"/>
                </a:solidFill>
                <a:effectLst/>
                <a:latin typeface="Calibri" panose="020F0502020204030204" pitchFamily="34" charset="0"/>
              </a:rPr>
            </a:br>
            <a:endParaRPr lang="en-IN" sz="2800" dirty="0"/>
          </a:p>
        </p:txBody>
      </p:sp>
      <p:sp>
        <p:nvSpPr>
          <p:cNvPr id="3" name="Content Placeholder 2">
            <a:extLst>
              <a:ext uri="{FF2B5EF4-FFF2-40B4-BE49-F238E27FC236}">
                <a16:creationId xmlns:a16="http://schemas.microsoft.com/office/drawing/2014/main" id="{19234783-FC65-2BAA-C79F-D1C589C23C37}"/>
              </a:ext>
            </a:extLst>
          </p:cNvPr>
          <p:cNvSpPr>
            <a:spLocks noGrp="1"/>
          </p:cNvSpPr>
          <p:nvPr>
            <p:ph idx="1"/>
          </p:nvPr>
        </p:nvSpPr>
        <p:spPr/>
        <p:txBody>
          <a:bodyPr>
            <a:normAutofit fontScale="85000" lnSpcReduction="10000"/>
          </a:bodyPr>
          <a:lstStyle/>
          <a:p>
            <a:r>
              <a:rPr lang="en-US" sz="3300" b="1" spc="-50" dirty="0">
                <a:solidFill>
                  <a:srgbClr val="002060"/>
                </a:solidFill>
                <a:latin typeface="Calibri" panose="020F0502020204030204" pitchFamily="34" charset="0"/>
                <a:ea typeface="+mj-ea"/>
                <a:cs typeface="+mj-cs"/>
              </a:rPr>
              <a:t>Introduction to </a:t>
            </a:r>
            <a:r>
              <a:rPr lang="en-US" sz="3300" b="1" spc="-50" dirty="0" err="1">
                <a:solidFill>
                  <a:srgbClr val="002060"/>
                </a:solidFill>
                <a:latin typeface="Calibri" panose="020F0502020204030204" pitchFamily="34" charset="0"/>
                <a:ea typeface="+mj-ea"/>
                <a:cs typeface="+mj-cs"/>
              </a:rPr>
              <a:t>IaC</a:t>
            </a:r>
            <a:r>
              <a:rPr lang="en-US" sz="3300" b="1" spc="-50" dirty="0">
                <a:solidFill>
                  <a:srgbClr val="002060"/>
                </a:solidFill>
                <a:latin typeface="Calibri" panose="020F0502020204030204" pitchFamily="34" charset="0"/>
                <a:ea typeface="+mj-ea"/>
                <a:cs typeface="+mj-cs"/>
              </a:rPr>
              <a:t> Concepts and Benefits</a:t>
            </a:r>
          </a:p>
          <a:p>
            <a:pPr>
              <a:buFont typeface="Arial" panose="020B0604020202020204" pitchFamily="34" charset="0"/>
              <a:buChar char="•"/>
            </a:pPr>
            <a:r>
              <a:rPr lang="en-US" b="1" dirty="0"/>
              <a:t>What is Infrastructure as Code (</a:t>
            </a:r>
            <a:r>
              <a:rPr lang="en-US" b="1" dirty="0" err="1"/>
              <a:t>IaC</a:t>
            </a:r>
            <a:r>
              <a:rPr lang="en-US" b="1" dirty="0"/>
              <a:t>)?</a:t>
            </a:r>
            <a:endParaRPr lang="en-US" dirty="0"/>
          </a:p>
          <a:p>
            <a:pPr marL="742950" lvl="1" indent="-285750">
              <a:buFont typeface="Arial" panose="020B0604020202020204" pitchFamily="34" charset="0"/>
              <a:buChar char="•"/>
            </a:pPr>
            <a:r>
              <a:rPr lang="en-US" dirty="0"/>
              <a:t>Managing and provisioning infrastructure through code instead of manual processes.</a:t>
            </a:r>
          </a:p>
          <a:p>
            <a:pPr marL="742950" lvl="1" indent="-285750">
              <a:buFont typeface="Arial" panose="020B0604020202020204" pitchFamily="34" charset="0"/>
              <a:buChar char="•"/>
            </a:pPr>
            <a:r>
              <a:rPr lang="en-US" dirty="0"/>
              <a:t>Treating infrastructure configuration like application code (version control, testing, automation).</a:t>
            </a:r>
          </a:p>
          <a:p>
            <a:pPr marL="742950" lvl="1" indent="-285750">
              <a:buFont typeface="Arial" panose="020B0604020202020204" pitchFamily="34" charset="0"/>
              <a:buChar char="•"/>
            </a:pPr>
            <a:r>
              <a:rPr lang="en-US" dirty="0"/>
              <a:t>Examples: Servers, databases, networks, load balancers, etc.</a:t>
            </a:r>
          </a:p>
          <a:p>
            <a:r>
              <a:rPr lang="en-US" b="1" dirty="0"/>
              <a:t>Key </a:t>
            </a:r>
            <a:r>
              <a:rPr lang="en-US" b="1" dirty="0" err="1"/>
              <a:t>IaC</a:t>
            </a:r>
            <a:r>
              <a:rPr lang="en-US" b="1" dirty="0"/>
              <a:t> Concepts:</a:t>
            </a:r>
            <a:endParaRPr lang="en-US" dirty="0"/>
          </a:p>
          <a:p>
            <a:pPr>
              <a:buFont typeface="Arial" panose="020B0604020202020204" pitchFamily="34" charset="0"/>
              <a:buChar char="•"/>
            </a:pPr>
            <a:r>
              <a:rPr lang="en-US" b="1" dirty="0"/>
              <a:t>Declarative vs. Imperative:</a:t>
            </a:r>
            <a:r>
              <a:rPr lang="en-US" dirty="0"/>
              <a:t> </a:t>
            </a:r>
          </a:p>
          <a:p>
            <a:pPr marL="742950" lvl="1" indent="-285750">
              <a:buFont typeface="Arial" panose="020B0604020202020204" pitchFamily="34" charset="0"/>
              <a:buChar char="•"/>
            </a:pPr>
            <a:r>
              <a:rPr lang="en-US" b="1" dirty="0"/>
              <a:t>Declarative:</a:t>
            </a:r>
            <a:r>
              <a:rPr lang="en-US" dirty="0"/>
              <a:t> Describe the </a:t>
            </a:r>
            <a:r>
              <a:rPr lang="en-US" i="1" dirty="0"/>
              <a:t>desired state</a:t>
            </a:r>
            <a:r>
              <a:rPr lang="en-US" dirty="0"/>
              <a:t> </a:t>
            </a:r>
          </a:p>
          <a:p>
            <a:pPr marL="742950" lvl="1" indent="-285750">
              <a:buFont typeface="Arial" panose="020B0604020202020204" pitchFamily="34" charset="0"/>
              <a:buChar char="•"/>
            </a:pPr>
            <a:r>
              <a:rPr lang="en-US" b="1" dirty="0"/>
              <a:t>Imperative:</a:t>
            </a:r>
            <a:r>
              <a:rPr lang="en-US" dirty="0"/>
              <a:t> Specify the </a:t>
            </a:r>
            <a:r>
              <a:rPr lang="en-US" i="1" dirty="0"/>
              <a:t>steps</a:t>
            </a:r>
            <a:r>
              <a:rPr lang="en-US" dirty="0"/>
              <a:t> to achieve the</a:t>
            </a:r>
          </a:p>
          <a:p>
            <a:pPr>
              <a:buFont typeface="Arial" panose="020B0604020202020204" pitchFamily="34" charset="0"/>
              <a:buChar char="•"/>
            </a:pPr>
            <a:r>
              <a:rPr lang="en-US" b="1" dirty="0"/>
              <a:t>Idempotency:</a:t>
            </a:r>
            <a:r>
              <a:rPr lang="en-US" dirty="0"/>
              <a:t> Applying the same </a:t>
            </a:r>
            <a:r>
              <a:rPr lang="en-US" dirty="0" err="1"/>
              <a:t>IaC</a:t>
            </a:r>
            <a:r>
              <a:rPr lang="en-US" dirty="0"/>
              <a:t> code multiple times yields the same result without unintended side effects.</a:t>
            </a:r>
          </a:p>
          <a:p>
            <a:pPr>
              <a:buFont typeface="Arial" panose="020B0604020202020204" pitchFamily="34" charset="0"/>
              <a:buChar char="•"/>
            </a:pPr>
            <a:r>
              <a:rPr lang="en-US" b="1" dirty="0"/>
              <a:t>Version Control:</a:t>
            </a:r>
            <a:r>
              <a:rPr lang="en-US" dirty="0"/>
              <a:t> Storing infrastructure definitions in systems like Git for tracking changes, collaboration, and rollback.</a:t>
            </a:r>
          </a:p>
          <a:p>
            <a:endParaRPr lang="en-IN" dirty="0"/>
          </a:p>
        </p:txBody>
      </p:sp>
    </p:spTree>
    <p:extLst>
      <p:ext uri="{BB962C8B-B14F-4D97-AF65-F5344CB8AC3E}">
        <p14:creationId xmlns:p14="http://schemas.microsoft.com/office/powerpoint/2010/main" val="1124436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795AA-C097-6596-AC47-AA8A1C6EB136}"/>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2.1</a:t>
            </a:r>
            <a:br>
              <a:rPr lang="en-IN" sz="2800" b="0" i="0" u="none" strike="noStrike" dirty="0">
                <a:solidFill>
                  <a:srgbClr val="002060"/>
                </a:solidFill>
                <a:effectLst/>
                <a:latin typeface="Arial" panose="020B0604020202020204" pitchFamily="34" charset="0"/>
              </a:rPr>
            </a:br>
            <a:r>
              <a:rPr lang="en-IN" sz="2800" b="1" dirty="0">
                <a:solidFill>
                  <a:srgbClr val="002060"/>
                </a:solidFill>
                <a:latin typeface="Calibri" panose="020F0502020204030204" pitchFamily="34" charset="0"/>
              </a:rPr>
              <a:t>Infrastructure as Code (</a:t>
            </a:r>
            <a:r>
              <a:rPr lang="en-IN" sz="2800" b="1" dirty="0" err="1">
                <a:solidFill>
                  <a:srgbClr val="002060"/>
                </a:solidFill>
                <a:latin typeface="Calibri" panose="020F0502020204030204" pitchFamily="34" charset="0"/>
              </a:rPr>
              <a:t>IaC</a:t>
            </a:r>
            <a:r>
              <a:rPr lang="en-IN" sz="2800" b="1" dirty="0">
                <a:solidFill>
                  <a:srgbClr val="002060"/>
                </a:solidFill>
                <a:latin typeface="Calibri" panose="020F0502020204030204" pitchFamily="34" charset="0"/>
              </a:rPr>
              <a:t>) - Defining Your AWS Resources (Part 1)</a:t>
            </a:r>
            <a:br>
              <a:rPr lang="en-IN" sz="2800" b="0" i="0" u="none" strike="noStrike" dirty="0">
                <a:solidFill>
                  <a:srgbClr val="000000"/>
                </a:solidFill>
                <a:effectLst/>
                <a:latin typeface="Calibri" panose="020F0502020204030204" pitchFamily="34" charset="0"/>
              </a:rPr>
            </a:br>
            <a:endParaRPr lang="en-IN" sz="2800" dirty="0"/>
          </a:p>
        </p:txBody>
      </p:sp>
      <p:sp>
        <p:nvSpPr>
          <p:cNvPr id="3" name="Content Placeholder 2">
            <a:extLst>
              <a:ext uri="{FF2B5EF4-FFF2-40B4-BE49-F238E27FC236}">
                <a16:creationId xmlns:a16="http://schemas.microsoft.com/office/drawing/2014/main" id="{19234783-FC65-2BAA-C79F-D1C589C23C37}"/>
              </a:ext>
            </a:extLst>
          </p:cNvPr>
          <p:cNvSpPr>
            <a:spLocks noGrp="1"/>
          </p:cNvSpPr>
          <p:nvPr>
            <p:ph idx="1"/>
          </p:nvPr>
        </p:nvSpPr>
        <p:spPr/>
        <p:txBody>
          <a:bodyPr>
            <a:normAutofit fontScale="85000" lnSpcReduction="10000"/>
          </a:bodyPr>
          <a:lstStyle/>
          <a:p>
            <a:r>
              <a:rPr lang="en-US" sz="2800" b="1" spc="-50" dirty="0">
                <a:solidFill>
                  <a:srgbClr val="002060"/>
                </a:solidFill>
                <a:latin typeface="Calibri" panose="020F0502020204030204" pitchFamily="34" charset="0"/>
                <a:ea typeface="+mj-ea"/>
                <a:cs typeface="+mj-cs"/>
              </a:rPr>
              <a:t>Overview of AWS CloudFormation for Defining Infrastructure</a:t>
            </a:r>
          </a:p>
          <a:p>
            <a:pPr>
              <a:buFont typeface="Arial" panose="020B0604020202020204" pitchFamily="34" charset="0"/>
              <a:buChar char="•"/>
            </a:pPr>
            <a:r>
              <a:rPr lang="en-US" b="1" dirty="0"/>
              <a:t>What is AWS CloudFormation?</a:t>
            </a:r>
            <a:endParaRPr lang="en-US" dirty="0"/>
          </a:p>
          <a:p>
            <a:pPr marL="742950" lvl="1" indent="-285750">
              <a:buFont typeface="Arial" panose="020B0604020202020204" pitchFamily="34" charset="0"/>
              <a:buChar char="•"/>
            </a:pPr>
            <a:r>
              <a:rPr lang="en-US" dirty="0"/>
              <a:t>An Amazon Web Services (AWS) service for defining and provisioning AWS infrastructure resources using a simple text file.</a:t>
            </a:r>
          </a:p>
          <a:p>
            <a:pPr marL="742950" lvl="1" indent="-285750">
              <a:buFont typeface="Arial" panose="020B0604020202020204" pitchFamily="34" charset="0"/>
              <a:buChar char="•"/>
            </a:pPr>
            <a:r>
              <a:rPr lang="en-US" dirty="0"/>
              <a:t>It's a </a:t>
            </a:r>
            <a:r>
              <a:rPr lang="en-US" b="1" dirty="0"/>
              <a:t>declarative</a:t>
            </a:r>
            <a:r>
              <a:rPr lang="en-US" dirty="0"/>
              <a:t> service – you describe what you want, and CloudFormation handles the creation, update, and deletion.</a:t>
            </a:r>
          </a:p>
          <a:p>
            <a:pPr marL="742950" lvl="1" indent="-285750">
              <a:buFont typeface="Arial" panose="020B0604020202020204" pitchFamily="34" charset="0"/>
              <a:buChar char="•"/>
            </a:pPr>
            <a:r>
              <a:rPr lang="en-US" dirty="0"/>
              <a:t>Supports </a:t>
            </a:r>
            <a:r>
              <a:rPr lang="en-US" b="1" dirty="0"/>
              <a:t>YAML</a:t>
            </a:r>
            <a:r>
              <a:rPr lang="en-US" dirty="0"/>
              <a:t> and </a:t>
            </a:r>
            <a:r>
              <a:rPr lang="en-US" b="1" dirty="0"/>
              <a:t>JSON</a:t>
            </a:r>
            <a:r>
              <a:rPr lang="en-US" dirty="0"/>
              <a:t> formats for template definitions.</a:t>
            </a:r>
          </a:p>
          <a:p>
            <a:pPr marL="742950" lvl="1" indent="-285750">
              <a:buFont typeface="Arial" panose="020B0604020202020204" pitchFamily="34" charset="0"/>
              <a:buChar char="•"/>
            </a:pPr>
            <a:endParaRPr lang="en-US" dirty="0"/>
          </a:p>
          <a:p>
            <a:r>
              <a:rPr lang="en-US" sz="2400" b="1" dirty="0"/>
              <a:t>Core Concepts:</a:t>
            </a:r>
            <a:endParaRPr lang="en-US" sz="2400" dirty="0"/>
          </a:p>
          <a:p>
            <a:pPr>
              <a:buFont typeface="Arial" panose="020B0604020202020204" pitchFamily="34" charset="0"/>
              <a:buChar char="•"/>
            </a:pPr>
            <a:r>
              <a:rPr lang="en-US" dirty="0"/>
              <a:t>Templates</a:t>
            </a:r>
          </a:p>
          <a:p>
            <a:pPr>
              <a:buFont typeface="Arial" panose="020B0604020202020204" pitchFamily="34" charset="0"/>
              <a:buChar char="•"/>
            </a:pPr>
            <a:r>
              <a:rPr lang="en-US" dirty="0"/>
              <a:t>Stacks</a:t>
            </a:r>
          </a:p>
          <a:p>
            <a:pPr>
              <a:buFont typeface="Arial" panose="020B0604020202020204" pitchFamily="34" charset="0"/>
              <a:buChar char="•"/>
            </a:pPr>
            <a:r>
              <a:rPr lang="en-US" dirty="0"/>
              <a:t>Change Sets</a:t>
            </a:r>
          </a:p>
          <a:p>
            <a:pPr>
              <a:buFont typeface="Arial" panose="020B0604020202020204" pitchFamily="34" charset="0"/>
              <a:buChar char="•"/>
            </a:pPr>
            <a:r>
              <a:rPr lang="en-US" dirty="0"/>
              <a:t>Nested Stacks</a:t>
            </a:r>
          </a:p>
          <a:p>
            <a:endParaRPr lang="en-IN" dirty="0"/>
          </a:p>
        </p:txBody>
      </p:sp>
    </p:spTree>
    <p:extLst>
      <p:ext uri="{BB962C8B-B14F-4D97-AF65-F5344CB8AC3E}">
        <p14:creationId xmlns:p14="http://schemas.microsoft.com/office/powerpoint/2010/main" val="667272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795AA-C097-6596-AC47-AA8A1C6EB136}"/>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2.1</a:t>
            </a:r>
            <a:br>
              <a:rPr lang="en-IN" sz="2800" b="0" i="0" u="none" strike="noStrike" dirty="0">
                <a:solidFill>
                  <a:srgbClr val="002060"/>
                </a:solidFill>
                <a:effectLst/>
                <a:latin typeface="Arial" panose="020B0604020202020204" pitchFamily="34" charset="0"/>
              </a:rPr>
            </a:br>
            <a:r>
              <a:rPr lang="en-IN" sz="2800" b="1" dirty="0">
                <a:solidFill>
                  <a:srgbClr val="002060"/>
                </a:solidFill>
                <a:latin typeface="Calibri" panose="020F0502020204030204" pitchFamily="34" charset="0"/>
              </a:rPr>
              <a:t>Infrastructure as Code (</a:t>
            </a:r>
            <a:r>
              <a:rPr lang="en-IN" sz="2800" b="1" dirty="0" err="1">
                <a:solidFill>
                  <a:srgbClr val="002060"/>
                </a:solidFill>
                <a:latin typeface="Calibri" panose="020F0502020204030204" pitchFamily="34" charset="0"/>
              </a:rPr>
              <a:t>IaC</a:t>
            </a:r>
            <a:r>
              <a:rPr lang="en-IN" sz="2800" b="1" dirty="0">
                <a:solidFill>
                  <a:srgbClr val="002060"/>
                </a:solidFill>
                <a:latin typeface="Calibri" panose="020F0502020204030204" pitchFamily="34" charset="0"/>
              </a:rPr>
              <a:t>) - Defining Your AWS Resources (Part 1)</a:t>
            </a:r>
            <a:br>
              <a:rPr lang="en-IN" sz="2800" b="0" i="0" u="none" strike="noStrike" dirty="0">
                <a:solidFill>
                  <a:srgbClr val="000000"/>
                </a:solidFill>
                <a:effectLst/>
                <a:latin typeface="Calibri" panose="020F0502020204030204" pitchFamily="34" charset="0"/>
              </a:rPr>
            </a:br>
            <a:endParaRPr lang="en-IN" sz="2800" dirty="0"/>
          </a:p>
        </p:txBody>
      </p:sp>
      <p:sp>
        <p:nvSpPr>
          <p:cNvPr id="3" name="Content Placeholder 2">
            <a:extLst>
              <a:ext uri="{FF2B5EF4-FFF2-40B4-BE49-F238E27FC236}">
                <a16:creationId xmlns:a16="http://schemas.microsoft.com/office/drawing/2014/main" id="{19234783-FC65-2BAA-C79F-D1C589C23C37}"/>
              </a:ext>
            </a:extLst>
          </p:cNvPr>
          <p:cNvSpPr>
            <a:spLocks noGrp="1"/>
          </p:cNvSpPr>
          <p:nvPr>
            <p:ph idx="1"/>
          </p:nvPr>
        </p:nvSpPr>
        <p:spPr>
          <a:xfrm>
            <a:off x="1097280" y="1845734"/>
            <a:ext cx="10058400" cy="4083428"/>
          </a:xfrm>
        </p:spPr>
        <p:txBody>
          <a:bodyPr>
            <a:normAutofit fontScale="77500" lnSpcReduction="20000"/>
          </a:bodyPr>
          <a:lstStyle/>
          <a:p>
            <a:pPr marL="0" indent="0">
              <a:buNone/>
            </a:pPr>
            <a:r>
              <a:rPr lang="en-US" sz="2400" b="1" dirty="0">
                <a:solidFill>
                  <a:srgbClr val="002060"/>
                </a:solidFill>
              </a:rPr>
              <a:t>How CloudFormation Works</a:t>
            </a:r>
            <a:endParaRPr lang="en-US" sz="2400" dirty="0">
              <a:solidFill>
                <a:srgbClr val="002060"/>
              </a:solidFill>
            </a:endParaRPr>
          </a:p>
          <a:p>
            <a:pPr marL="0" indent="0">
              <a:buNone/>
            </a:pPr>
            <a:r>
              <a:rPr lang="en-US" b="1" dirty="0"/>
              <a:t>Author Template:</a:t>
            </a:r>
            <a:r>
              <a:rPr lang="en-US" dirty="0"/>
              <a:t> Write your infrastructure definition in a YAML or JSON template.</a:t>
            </a:r>
          </a:p>
          <a:p>
            <a:pPr marL="0" indent="0">
              <a:buNone/>
            </a:pPr>
            <a:r>
              <a:rPr lang="en-US" b="1" dirty="0"/>
              <a:t>Upload Template:</a:t>
            </a:r>
            <a:r>
              <a:rPr lang="en-US" dirty="0"/>
              <a:t> Upload the template to CloudFormation.</a:t>
            </a:r>
          </a:p>
          <a:p>
            <a:pPr marL="0" indent="0">
              <a:buNone/>
            </a:pPr>
            <a:r>
              <a:rPr lang="en-US" b="1" dirty="0"/>
              <a:t>Create Stack:</a:t>
            </a:r>
            <a:r>
              <a:rPr lang="en-US" dirty="0"/>
              <a:t> CloudFormation reads the template, makes API calls to AWS services to provision resources, and tracks their state.</a:t>
            </a:r>
          </a:p>
          <a:p>
            <a:pPr marL="0" indent="0">
              <a:buNone/>
            </a:pPr>
            <a:r>
              <a:rPr lang="en-US" b="1" dirty="0"/>
              <a:t>Manage:</a:t>
            </a:r>
            <a:r>
              <a:rPr lang="en-US" dirty="0"/>
              <a:t> Update or delete stacks as needed.</a:t>
            </a:r>
          </a:p>
          <a:p>
            <a:pPr marL="0" indent="0">
              <a:buNone/>
            </a:pPr>
            <a:endParaRPr lang="en-US" dirty="0"/>
          </a:p>
          <a:p>
            <a:pPr marL="0" indent="0">
              <a:buNone/>
            </a:pPr>
            <a:r>
              <a:rPr lang="en-US" sz="2500" b="1" dirty="0">
                <a:solidFill>
                  <a:srgbClr val="002060"/>
                </a:solidFill>
              </a:rPr>
              <a:t>Advantages of CloudFormation</a:t>
            </a:r>
          </a:p>
          <a:p>
            <a:pPr>
              <a:buFont typeface="Arial" panose="020B0604020202020204" pitchFamily="34" charset="0"/>
              <a:buChar char="•"/>
            </a:pPr>
            <a:r>
              <a:rPr lang="en-US" dirty="0"/>
              <a:t>Native AWS integration.</a:t>
            </a:r>
          </a:p>
          <a:p>
            <a:pPr>
              <a:buFont typeface="Arial" panose="020B0604020202020204" pitchFamily="34" charset="0"/>
              <a:buChar char="•"/>
            </a:pPr>
            <a:r>
              <a:rPr lang="en-US" dirty="0"/>
              <a:t>Manages resource dependencies automatically.</a:t>
            </a:r>
          </a:p>
          <a:p>
            <a:pPr>
              <a:buFont typeface="Arial" panose="020B0604020202020204" pitchFamily="34" charset="0"/>
              <a:buChar char="•"/>
            </a:pPr>
            <a:r>
              <a:rPr lang="en-US" dirty="0"/>
              <a:t>Built-in rollback capabilities on failure.</a:t>
            </a:r>
          </a:p>
          <a:p>
            <a:pPr>
              <a:buFont typeface="Arial" panose="020B0604020202020204" pitchFamily="34" charset="0"/>
              <a:buChar char="•"/>
            </a:pPr>
            <a:r>
              <a:rPr lang="en-US" dirty="0"/>
              <a:t>No cost for the CloudFormation service itself (you pay for the underlying AWS resources).</a:t>
            </a:r>
          </a:p>
          <a:p>
            <a:endParaRPr lang="en-IN" dirty="0"/>
          </a:p>
          <a:p>
            <a:endParaRPr lang="en-IN" dirty="0"/>
          </a:p>
        </p:txBody>
      </p:sp>
    </p:spTree>
    <p:extLst>
      <p:ext uri="{BB962C8B-B14F-4D97-AF65-F5344CB8AC3E}">
        <p14:creationId xmlns:p14="http://schemas.microsoft.com/office/powerpoint/2010/main" val="3908586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95782-205D-E1F5-DB4B-CCD1BC32010E}"/>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2.1</a:t>
            </a:r>
            <a:br>
              <a:rPr lang="en-IN" sz="2800" b="0" i="0" u="none" strike="noStrike" dirty="0">
                <a:solidFill>
                  <a:srgbClr val="002060"/>
                </a:solidFill>
                <a:effectLst/>
                <a:latin typeface="Arial" panose="020B0604020202020204" pitchFamily="34" charset="0"/>
              </a:rPr>
            </a:br>
            <a:r>
              <a:rPr lang="en-IN" sz="2800" b="1" dirty="0">
                <a:solidFill>
                  <a:srgbClr val="002060"/>
                </a:solidFill>
                <a:latin typeface="Calibri" panose="020F0502020204030204" pitchFamily="34" charset="0"/>
              </a:rPr>
              <a:t>Infrastructure as Code (</a:t>
            </a:r>
            <a:r>
              <a:rPr lang="en-IN" sz="2800" b="1" dirty="0" err="1">
                <a:solidFill>
                  <a:srgbClr val="002060"/>
                </a:solidFill>
                <a:latin typeface="Calibri" panose="020F0502020204030204" pitchFamily="34" charset="0"/>
              </a:rPr>
              <a:t>IaC</a:t>
            </a:r>
            <a:r>
              <a:rPr lang="en-IN" sz="2800" b="1" dirty="0">
                <a:solidFill>
                  <a:srgbClr val="002060"/>
                </a:solidFill>
                <a:latin typeface="Calibri" panose="020F0502020204030204" pitchFamily="34" charset="0"/>
              </a:rPr>
              <a:t>) - Defining Your AWS Resources (Part 1)</a:t>
            </a:r>
            <a:br>
              <a:rPr lang="en-IN" sz="2800" b="0" i="0" u="none" strike="noStrike" dirty="0">
                <a:solidFill>
                  <a:srgbClr val="000000"/>
                </a:solidFill>
                <a:effectLst/>
                <a:latin typeface="Calibri" panose="020F0502020204030204" pitchFamily="34" charset="0"/>
              </a:rPr>
            </a:br>
            <a:endParaRPr lang="en-IN" sz="2800" dirty="0"/>
          </a:p>
        </p:txBody>
      </p:sp>
      <p:sp>
        <p:nvSpPr>
          <p:cNvPr id="9" name="Content Placeholder 8">
            <a:extLst>
              <a:ext uri="{FF2B5EF4-FFF2-40B4-BE49-F238E27FC236}">
                <a16:creationId xmlns:a16="http://schemas.microsoft.com/office/drawing/2014/main" id="{7AFF7141-2E15-F0F1-9903-0D75F035F0D9}"/>
              </a:ext>
            </a:extLst>
          </p:cNvPr>
          <p:cNvSpPr>
            <a:spLocks noGrp="1"/>
          </p:cNvSpPr>
          <p:nvPr>
            <p:ph idx="1"/>
          </p:nvPr>
        </p:nvSpPr>
        <p:spPr/>
        <p:txBody>
          <a:bodyPr/>
          <a:lstStyle/>
          <a:p>
            <a:pPr marL="0" indent="0">
              <a:buNone/>
            </a:pPr>
            <a:r>
              <a:rPr lang="en-IN" sz="2400" b="0" i="0" u="none" strike="noStrike" baseline="0" dirty="0">
                <a:solidFill>
                  <a:srgbClr val="406E8D"/>
                </a:solidFill>
                <a:latin typeface="Calibri" panose="020F0502020204030204" pitchFamily="34" charset="0"/>
              </a:rPr>
              <a:t>Template Anatomy </a:t>
            </a:r>
            <a:endParaRPr lang="en-IN" sz="2400" dirty="0"/>
          </a:p>
        </p:txBody>
      </p:sp>
      <p:pic>
        <p:nvPicPr>
          <p:cNvPr id="11" name="Picture 10">
            <a:extLst>
              <a:ext uri="{FF2B5EF4-FFF2-40B4-BE49-F238E27FC236}">
                <a16:creationId xmlns:a16="http://schemas.microsoft.com/office/drawing/2014/main" id="{F7F06CA6-555B-B2F1-6FFE-C3CA260E2729}"/>
              </a:ext>
            </a:extLst>
          </p:cNvPr>
          <p:cNvPicPr>
            <a:picLocks noChangeAspect="1"/>
          </p:cNvPicPr>
          <p:nvPr/>
        </p:nvPicPr>
        <p:blipFill>
          <a:blip r:embed="rId2"/>
          <a:stretch>
            <a:fillRect/>
          </a:stretch>
        </p:blipFill>
        <p:spPr>
          <a:xfrm>
            <a:off x="3220047" y="2477035"/>
            <a:ext cx="5298311" cy="3278874"/>
          </a:xfrm>
          <a:prstGeom prst="rect">
            <a:avLst/>
          </a:prstGeom>
        </p:spPr>
      </p:pic>
    </p:spTree>
    <p:extLst>
      <p:ext uri="{BB962C8B-B14F-4D97-AF65-F5344CB8AC3E}">
        <p14:creationId xmlns:p14="http://schemas.microsoft.com/office/powerpoint/2010/main" val="3525344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13C62-0C4C-6A03-93A9-3D92BE57A54A}"/>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2.1</a:t>
            </a:r>
            <a:br>
              <a:rPr lang="en-IN" sz="2800" b="0" i="0" u="none" strike="noStrike" dirty="0">
                <a:solidFill>
                  <a:srgbClr val="002060"/>
                </a:solidFill>
                <a:effectLst/>
                <a:latin typeface="Arial" panose="020B0604020202020204" pitchFamily="34" charset="0"/>
              </a:rPr>
            </a:br>
            <a:r>
              <a:rPr lang="en-IN" sz="2800" b="1" dirty="0">
                <a:solidFill>
                  <a:srgbClr val="002060"/>
                </a:solidFill>
                <a:latin typeface="Calibri" panose="020F0502020204030204" pitchFamily="34" charset="0"/>
              </a:rPr>
              <a:t>Infrastructure as Code (</a:t>
            </a:r>
            <a:r>
              <a:rPr lang="en-IN" sz="2800" b="1" dirty="0" err="1">
                <a:solidFill>
                  <a:srgbClr val="002060"/>
                </a:solidFill>
                <a:latin typeface="Calibri" panose="020F0502020204030204" pitchFamily="34" charset="0"/>
              </a:rPr>
              <a:t>IaC</a:t>
            </a:r>
            <a:r>
              <a:rPr lang="en-IN" sz="2800" b="1" dirty="0">
                <a:solidFill>
                  <a:srgbClr val="002060"/>
                </a:solidFill>
                <a:latin typeface="Calibri" panose="020F0502020204030204" pitchFamily="34" charset="0"/>
              </a:rPr>
              <a:t>) - Defining Your AWS Resources (Part 1)</a:t>
            </a:r>
            <a:br>
              <a:rPr lang="en-IN" sz="2800" b="0" i="0" u="none" strike="noStrike" dirty="0">
                <a:solidFill>
                  <a:srgbClr val="000000"/>
                </a:solidFill>
                <a:effectLst/>
                <a:latin typeface="Calibri" panose="020F0502020204030204" pitchFamily="34" charset="0"/>
              </a:rPr>
            </a:br>
            <a:endParaRPr lang="en-IN" sz="2800" dirty="0"/>
          </a:p>
        </p:txBody>
      </p:sp>
      <p:sp>
        <p:nvSpPr>
          <p:cNvPr id="3" name="Content Placeholder 2">
            <a:extLst>
              <a:ext uri="{FF2B5EF4-FFF2-40B4-BE49-F238E27FC236}">
                <a16:creationId xmlns:a16="http://schemas.microsoft.com/office/drawing/2014/main" id="{B46D4799-E100-D660-86DB-5E469C3B1F27}"/>
              </a:ext>
            </a:extLst>
          </p:cNvPr>
          <p:cNvSpPr>
            <a:spLocks noGrp="1"/>
          </p:cNvSpPr>
          <p:nvPr>
            <p:ph idx="1"/>
          </p:nvPr>
        </p:nvSpPr>
        <p:spPr>
          <a:xfrm>
            <a:off x="1097280" y="1845733"/>
            <a:ext cx="10058400" cy="4458813"/>
          </a:xfrm>
        </p:spPr>
        <p:txBody>
          <a:bodyPr>
            <a:normAutofit fontScale="77500" lnSpcReduction="20000"/>
          </a:bodyPr>
          <a:lstStyle/>
          <a:p>
            <a:pPr marL="0" indent="0">
              <a:buNone/>
            </a:pPr>
            <a:r>
              <a:rPr lang="en-IN" sz="1800" dirty="0">
                <a:solidFill>
                  <a:srgbClr val="000000"/>
                </a:solidFill>
                <a:latin typeface="Calibri" panose="020F0502020204030204" pitchFamily="34" charset="0"/>
              </a:rPr>
              <a:t>                                                                                    </a:t>
            </a:r>
            <a:r>
              <a:rPr lang="en-IN" sz="2800" b="1" i="0" u="none" strike="noStrike" baseline="0" dirty="0">
                <a:solidFill>
                  <a:srgbClr val="406E8D"/>
                </a:solidFill>
                <a:latin typeface="Calibri" panose="020F0502020204030204" pitchFamily="34" charset="0"/>
              </a:rPr>
              <a:t>Resources</a:t>
            </a:r>
          </a:p>
          <a:p>
            <a:pPr>
              <a:buFont typeface="Arial" panose="020B0604020202020204" pitchFamily="34" charset="0"/>
              <a:buChar char="•"/>
            </a:pPr>
            <a:r>
              <a:rPr lang="en-US" sz="2600" b="0" i="0" u="none" strike="noStrike" baseline="0" dirty="0">
                <a:latin typeface="Calibri" panose="020F0502020204030204" pitchFamily="34" charset="0"/>
              </a:rPr>
              <a:t>Resources are key components of a stack. </a:t>
            </a:r>
          </a:p>
          <a:p>
            <a:pPr>
              <a:buFont typeface="Arial" panose="020B0604020202020204" pitchFamily="34" charset="0"/>
              <a:buChar char="•"/>
            </a:pPr>
            <a:r>
              <a:rPr lang="en-US" sz="2600" b="0" i="0" u="none" strike="noStrike" baseline="0" dirty="0">
                <a:latin typeface="Calibri" panose="020F0502020204030204" pitchFamily="34" charset="0"/>
              </a:rPr>
              <a:t>Resources section is a </a:t>
            </a:r>
            <a:r>
              <a:rPr lang="en-US" sz="2600" b="0" i="0" u="none" strike="noStrike" baseline="0" dirty="0">
                <a:solidFill>
                  <a:srgbClr val="406E8D"/>
                </a:solidFill>
                <a:latin typeface="Calibri" panose="020F0502020204030204" pitchFamily="34" charset="0"/>
              </a:rPr>
              <a:t>required section </a:t>
            </a:r>
            <a:r>
              <a:rPr lang="en-US" sz="2600" b="0" i="0" u="none" strike="noStrike" baseline="0" dirty="0">
                <a:solidFill>
                  <a:srgbClr val="000000"/>
                </a:solidFill>
                <a:latin typeface="Calibri" panose="020F0502020204030204" pitchFamily="34" charset="0"/>
              </a:rPr>
              <a:t>that need to be defined in cloud formation template. </a:t>
            </a:r>
          </a:p>
          <a:p>
            <a:pPr>
              <a:buFont typeface="Arial" panose="020B0604020202020204" pitchFamily="34" charset="0"/>
              <a:buChar char="•"/>
            </a:pPr>
            <a:endParaRPr lang="en-US" sz="1800" dirty="0">
              <a:solidFill>
                <a:srgbClr val="000000"/>
              </a:solidFill>
              <a:latin typeface="Calibri" panose="020F0502020204030204" pitchFamily="34" charset="0"/>
            </a:endParaRPr>
          </a:p>
          <a:p>
            <a:pPr>
              <a:buFont typeface="Arial" panose="020B0604020202020204" pitchFamily="34" charset="0"/>
              <a:buChar char="•"/>
            </a:pPr>
            <a:endParaRPr lang="en-US" sz="1800" b="0" i="0" u="none" strike="noStrike" baseline="0" dirty="0">
              <a:solidFill>
                <a:srgbClr val="000000"/>
              </a:solidFill>
              <a:latin typeface="Calibri" panose="020F0502020204030204" pitchFamily="34" charset="0"/>
            </a:endParaRPr>
          </a:p>
          <a:p>
            <a:pPr>
              <a:buFont typeface="Arial" panose="020B0604020202020204" pitchFamily="34" charset="0"/>
              <a:buChar char="•"/>
            </a:pPr>
            <a:endParaRPr lang="en-US" sz="1800" dirty="0">
              <a:solidFill>
                <a:srgbClr val="000000"/>
              </a:solidFill>
              <a:latin typeface="Calibri" panose="020F0502020204030204" pitchFamily="34" charset="0"/>
            </a:endParaRPr>
          </a:p>
          <a:p>
            <a:pPr>
              <a:buFont typeface="Arial" panose="020B0604020202020204" pitchFamily="34" charset="0"/>
              <a:buChar char="•"/>
            </a:pPr>
            <a:endParaRPr lang="en-US" sz="1800" b="0" i="0" u="none" strike="noStrike" baseline="0" dirty="0">
              <a:solidFill>
                <a:srgbClr val="000000"/>
              </a:solidFill>
              <a:latin typeface="Calibri" panose="020F0502020204030204" pitchFamily="34" charset="0"/>
            </a:endParaRPr>
          </a:p>
          <a:p>
            <a:pPr algn="l"/>
            <a:endParaRPr lang="en-IN" sz="1800" b="0" i="0" u="none" strike="noStrike" baseline="0" dirty="0">
              <a:solidFill>
                <a:srgbClr val="000000"/>
              </a:solidFill>
              <a:latin typeface="Calibri" panose="020F0502020204030204" pitchFamily="34" charset="0"/>
            </a:endParaRPr>
          </a:p>
          <a:p>
            <a:endParaRPr lang="en-IN" sz="1800" b="0" i="0" u="none" strike="noStrike" baseline="0" dirty="0">
              <a:latin typeface="Calibri" panose="020F0502020204030204" pitchFamily="34" charset="0"/>
            </a:endParaRPr>
          </a:p>
          <a:p>
            <a:r>
              <a:rPr lang="fr-FR" sz="2300" b="0" i="0" u="none" strike="noStrike" baseline="0" dirty="0">
                <a:solidFill>
                  <a:srgbClr val="406E8D"/>
                </a:solidFill>
                <a:latin typeface="Calibri" panose="020F0502020204030204" pitchFamily="34" charset="0"/>
              </a:rPr>
              <a:t>Ressources Documentation:</a:t>
            </a:r>
          </a:p>
          <a:p>
            <a:r>
              <a:rPr lang="en-IN" sz="2800" b="1" i="0" u="none" strike="noStrike" baseline="0" dirty="0">
                <a:solidFill>
                  <a:srgbClr val="406E8D"/>
                </a:solidFill>
                <a:latin typeface="Calibri" panose="020F0502020204030204" pitchFamily="34" charset="0"/>
                <a:hlinkClick r:id="rId2"/>
              </a:rPr>
              <a:t>https://docs.aws.amazon.com/AWSCloudFormation/latest/TemplateReference/aws-template-resource-type-ref.html</a:t>
            </a:r>
            <a:endParaRPr lang="en-IN" sz="2800" b="1" dirty="0"/>
          </a:p>
        </p:txBody>
      </p:sp>
      <p:pic>
        <p:nvPicPr>
          <p:cNvPr id="5" name="Picture 4">
            <a:extLst>
              <a:ext uri="{FF2B5EF4-FFF2-40B4-BE49-F238E27FC236}">
                <a16:creationId xmlns:a16="http://schemas.microsoft.com/office/drawing/2014/main" id="{DA9BAC62-4C0A-199B-1674-F1A636BB55AE}"/>
              </a:ext>
            </a:extLst>
          </p:cNvPr>
          <p:cNvPicPr>
            <a:picLocks noChangeAspect="1"/>
          </p:cNvPicPr>
          <p:nvPr/>
        </p:nvPicPr>
        <p:blipFill>
          <a:blip r:embed="rId3"/>
          <a:stretch>
            <a:fillRect/>
          </a:stretch>
        </p:blipFill>
        <p:spPr>
          <a:xfrm>
            <a:off x="1305633" y="3392092"/>
            <a:ext cx="2727351" cy="1345130"/>
          </a:xfrm>
          <a:prstGeom prst="rect">
            <a:avLst/>
          </a:prstGeom>
        </p:spPr>
      </p:pic>
      <p:pic>
        <p:nvPicPr>
          <p:cNvPr id="7" name="Picture 6">
            <a:extLst>
              <a:ext uri="{FF2B5EF4-FFF2-40B4-BE49-F238E27FC236}">
                <a16:creationId xmlns:a16="http://schemas.microsoft.com/office/drawing/2014/main" id="{20C4DF42-0CB1-D0FB-8924-115C494F0572}"/>
              </a:ext>
            </a:extLst>
          </p:cNvPr>
          <p:cNvPicPr>
            <a:picLocks noChangeAspect="1"/>
          </p:cNvPicPr>
          <p:nvPr/>
        </p:nvPicPr>
        <p:blipFill>
          <a:blip r:embed="rId4"/>
          <a:stretch>
            <a:fillRect/>
          </a:stretch>
        </p:blipFill>
        <p:spPr>
          <a:xfrm>
            <a:off x="5192654" y="3429001"/>
            <a:ext cx="3344954" cy="1345130"/>
          </a:xfrm>
          <a:prstGeom prst="rect">
            <a:avLst/>
          </a:prstGeom>
        </p:spPr>
      </p:pic>
    </p:spTree>
    <p:extLst>
      <p:ext uri="{BB962C8B-B14F-4D97-AF65-F5344CB8AC3E}">
        <p14:creationId xmlns:p14="http://schemas.microsoft.com/office/powerpoint/2010/main" val="3018758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795AA-C097-6596-AC47-AA8A1C6EB136}"/>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2.1</a:t>
            </a:r>
            <a:br>
              <a:rPr lang="en-IN" sz="2800" b="0" i="0" u="none" strike="noStrike" dirty="0">
                <a:solidFill>
                  <a:srgbClr val="002060"/>
                </a:solidFill>
                <a:effectLst/>
                <a:latin typeface="Arial" panose="020B0604020202020204" pitchFamily="34" charset="0"/>
              </a:rPr>
            </a:br>
            <a:r>
              <a:rPr lang="en-IN" sz="2800" b="1" dirty="0">
                <a:solidFill>
                  <a:srgbClr val="002060"/>
                </a:solidFill>
                <a:latin typeface="Calibri" panose="020F0502020204030204" pitchFamily="34" charset="0"/>
              </a:rPr>
              <a:t>Infrastructure as Code (</a:t>
            </a:r>
            <a:r>
              <a:rPr lang="en-IN" sz="2800" b="1" dirty="0" err="1">
                <a:solidFill>
                  <a:srgbClr val="002060"/>
                </a:solidFill>
                <a:latin typeface="Calibri" panose="020F0502020204030204" pitchFamily="34" charset="0"/>
              </a:rPr>
              <a:t>IaC</a:t>
            </a:r>
            <a:r>
              <a:rPr lang="en-IN" sz="2800" b="1" dirty="0">
                <a:solidFill>
                  <a:srgbClr val="002060"/>
                </a:solidFill>
                <a:latin typeface="Calibri" panose="020F0502020204030204" pitchFamily="34" charset="0"/>
              </a:rPr>
              <a:t>) - Defining Your AWS Resources (Part 1)</a:t>
            </a:r>
            <a:br>
              <a:rPr lang="en-IN" sz="2800" b="0" i="0" u="none" strike="noStrike" dirty="0">
                <a:solidFill>
                  <a:srgbClr val="000000"/>
                </a:solidFill>
                <a:effectLst/>
                <a:latin typeface="Calibri" panose="020F0502020204030204" pitchFamily="34" charset="0"/>
              </a:rPr>
            </a:br>
            <a:endParaRPr lang="en-IN" sz="2800" dirty="0"/>
          </a:p>
        </p:txBody>
      </p:sp>
      <p:sp>
        <p:nvSpPr>
          <p:cNvPr id="3" name="Content Placeholder 2">
            <a:extLst>
              <a:ext uri="{FF2B5EF4-FFF2-40B4-BE49-F238E27FC236}">
                <a16:creationId xmlns:a16="http://schemas.microsoft.com/office/drawing/2014/main" id="{19234783-FC65-2BAA-C79F-D1C589C23C37}"/>
              </a:ext>
            </a:extLst>
          </p:cNvPr>
          <p:cNvSpPr>
            <a:spLocks noGrp="1"/>
          </p:cNvSpPr>
          <p:nvPr>
            <p:ph idx="1"/>
          </p:nvPr>
        </p:nvSpPr>
        <p:spPr>
          <a:xfrm>
            <a:off x="1097280" y="1845733"/>
            <a:ext cx="10058400" cy="4468439"/>
          </a:xfrm>
        </p:spPr>
        <p:txBody>
          <a:bodyPr>
            <a:normAutofit/>
          </a:bodyPr>
          <a:lstStyle/>
          <a:p>
            <a:r>
              <a:rPr lang="en-US" b="1" dirty="0">
                <a:solidFill>
                  <a:srgbClr val="002060"/>
                </a:solidFill>
              </a:rPr>
              <a:t>Defining an EC2 Instance using a Simple CloudFormation Snippet: </a:t>
            </a:r>
          </a:p>
          <a:p>
            <a:endParaRPr lang="en-IN" dirty="0"/>
          </a:p>
        </p:txBody>
      </p:sp>
      <p:pic>
        <p:nvPicPr>
          <p:cNvPr id="5" name="Picture 4">
            <a:extLst>
              <a:ext uri="{FF2B5EF4-FFF2-40B4-BE49-F238E27FC236}">
                <a16:creationId xmlns:a16="http://schemas.microsoft.com/office/drawing/2014/main" id="{70A8C2C5-3241-AE76-78F5-B33C8386CAA7}"/>
              </a:ext>
            </a:extLst>
          </p:cNvPr>
          <p:cNvPicPr>
            <a:picLocks noChangeAspect="1"/>
          </p:cNvPicPr>
          <p:nvPr/>
        </p:nvPicPr>
        <p:blipFill>
          <a:blip r:embed="rId2"/>
          <a:stretch>
            <a:fillRect/>
          </a:stretch>
        </p:blipFill>
        <p:spPr>
          <a:xfrm>
            <a:off x="1218949" y="2349211"/>
            <a:ext cx="8483316" cy="3897585"/>
          </a:xfrm>
          <a:prstGeom prst="rect">
            <a:avLst/>
          </a:prstGeom>
        </p:spPr>
      </p:pic>
    </p:spTree>
    <p:extLst>
      <p:ext uri="{BB962C8B-B14F-4D97-AF65-F5344CB8AC3E}">
        <p14:creationId xmlns:p14="http://schemas.microsoft.com/office/powerpoint/2010/main" val="36138605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F64C8-5740-6852-217B-FBBDA71F1D3E}"/>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2.1</a:t>
            </a:r>
            <a:br>
              <a:rPr lang="en-IN" sz="2800" b="0" i="0" u="none" strike="noStrike" dirty="0">
                <a:solidFill>
                  <a:srgbClr val="002060"/>
                </a:solidFill>
                <a:effectLst/>
                <a:latin typeface="Arial" panose="020B0604020202020204" pitchFamily="34" charset="0"/>
              </a:rPr>
            </a:br>
            <a:r>
              <a:rPr lang="en-IN" sz="2800" b="1" dirty="0">
                <a:solidFill>
                  <a:srgbClr val="002060"/>
                </a:solidFill>
                <a:latin typeface="Calibri" panose="020F0502020204030204" pitchFamily="34" charset="0"/>
              </a:rPr>
              <a:t>Infrastructure as Code (</a:t>
            </a:r>
            <a:r>
              <a:rPr lang="en-IN" sz="2800" b="1" dirty="0" err="1">
                <a:solidFill>
                  <a:srgbClr val="002060"/>
                </a:solidFill>
                <a:latin typeface="Calibri" panose="020F0502020204030204" pitchFamily="34" charset="0"/>
              </a:rPr>
              <a:t>IaC</a:t>
            </a:r>
            <a:r>
              <a:rPr lang="en-IN" sz="2800" b="1" dirty="0">
                <a:solidFill>
                  <a:srgbClr val="002060"/>
                </a:solidFill>
                <a:latin typeface="Calibri" panose="020F0502020204030204" pitchFamily="34" charset="0"/>
              </a:rPr>
              <a:t>) - Defining Your AWS Resources (Part 1)</a:t>
            </a:r>
            <a:br>
              <a:rPr lang="en-IN" sz="2800" b="0" i="0" u="none" strike="noStrike" dirty="0">
                <a:solidFill>
                  <a:srgbClr val="000000"/>
                </a:solidFill>
                <a:effectLst/>
                <a:latin typeface="Calibri" panose="020F0502020204030204" pitchFamily="34" charset="0"/>
              </a:rPr>
            </a:br>
            <a:endParaRPr lang="en-IN" sz="2800" dirty="0"/>
          </a:p>
        </p:txBody>
      </p:sp>
      <p:sp>
        <p:nvSpPr>
          <p:cNvPr id="3" name="Content Placeholder 2">
            <a:extLst>
              <a:ext uri="{FF2B5EF4-FFF2-40B4-BE49-F238E27FC236}">
                <a16:creationId xmlns:a16="http://schemas.microsoft.com/office/drawing/2014/main" id="{C1563949-73BF-6D04-B131-C1FF7C9E7414}"/>
              </a:ext>
            </a:extLst>
          </p:cNvPr>
          <p:cNvSpPr>
            <a:spLocks noGrp="1"/>
          </p:cNvSpPr>
          <p:nvPr>
            <p:ph idx="1"/>
          </p:nvPr>
        </p:nvSpPr>
        <p:spPr>
          <a:xfrm>
            <a:off x="1097280" y="1845733"/>
            <a:ext cx="10058400" cy="4439563"/>
          </a:xfrm>
        </p:spPr>
        <p:txBody>
          <a:bodyPr>
            <a:normAutofit fontScale="85000" lnSpcReduction="20000"/>
          </a:bodyPr>
          <a:lstStyle/>
          <a:p>
            <a:endParaRPr lang="en-US" sz="2400" b="1" dirty="0">
              <a:solidFill>
                <a:srgbClr val="002060"/>
              </a:solidFill>
            </a:endParaRPr>
          </a:p>
          <a:p>
            <a:r>
              <a:rPr lang="en-US" sz="2400" b="1" dirty="0">
                <a:solidFill>
                  <a:srgbClr val="002060"/>
                </a:solidFill>
              </a:rPr>
              <a:t>1. Manually Create and ec2 and have an overview on resources.</a:t>
            </a:r>
          </a:p>
          <a:p>
            <a:pPr marL="201168" lvl="1" indent="0">
              <a:buNone/>
            </a:pPr>
            <a:r>
              <a:rPr lang="en-US" sz="2200" b="1" dirty="0">
                <a:solidFill>
                  <a:srgbClr val="002060"/>
                </a:solidFill>
              </a:rPr>
              <a:t>     </a:t>
            </a:r>
            <a:r>
              <a:rPr lang="en-US" sz="1200" dirty="0">
                <a:solidFill>
                  <a:schemeClr val="tx1"/>
                </a:solidFill>
              </a:rPr>
              <a:t>Instance Id </a:t>
            </a:r>
          </a:p>
          <a:p>
            <a:pPr marL="292608" lvl="1" indent="0">
              <a:buNone/>
            </a:pPr>
            <a:r>
              <a:rPr lang="en-US" sz="1200" dirty="0">
                <a:solidFill>
                  <a:schemeClr val="tx1"/>
                </a:solidFill>
              </a:rPr>
              <a:t>       Instance Type</a:t>
            </a:r>
          </a:p>
          <a:p>
            <a:pPr marL="292608" lvl="1" indent="0">
              <a:buNone/>
            </a:pPr>
            <a:r>
              <a:rPr lang="en-US" sz="1200" dirty="0">
                <a:solidFill>
                  <a:schemeClr val="tx1"/>
                </a:solidFill>
              </a:rPr>
              <a:t>       Keypair, Security Group</a:t>
            </a:r>
          </a:p>
          <a:p>
            <a:pPr marL="292608" lvl="1" indent="0">
              <a:buNone/>
            </a:pPr>
            <a:endParaRPr lang="en-US" sz="1200" dirty="0">
              <a:solidFill>
                <a:schemeClr val="tx1"/>
              </a:solidFill>
            </a:endParaRPr>
          </a:p>
          <a:p>
            <a:pPr marL="292608" lvl="1" indent="0">
              <a:buNone/>
            </a:pPr>
            <a:r>
              <a:rPr lang="en-US" sz="2400" b="1" dirty="0">
                <a:solidFill>
                  <a:schemeClr val="tx1"/>
                </a:solidFill>
              </a:rPr>
              <a:t>Pre-requisites:</a:t>
            </a:r>
          </a:p>
          <a:p>
            <a:pPr marL="292608" lvl="1" indent="0">
              <a:buNone/>
            </a:pPr>
            <a:r>
              <a:rPr lang="en-US" sz="1200" dirty="0">
                <a:solidFill>
                  <a:schemeClr val="tx1"/>
                </a:solidFill>
              </a:rPr>
              <a:t>Create default VPC</a:t>
            </a:r>
          </a:p>
          <a:p>
            <a:pPr marL="292608" lvl="1" indent="0">
              <a:buNone/>
            </a:pPr>
            <a:r>
              <a:rPr lang="en-US" sz="1200" dirty="0">
                <a:solidFill>
                  <a:schemeClr val="tx1"/>
                </a:solidFill>
              </a:rPr>
              <a:t>create two key pairs (cfn-keypair-1, cfn-keypair2)</a:t>
            </a:r>
          </a:p>
          <a:p>
            <a:pPr marL="292608" lvl="1" indent="0">
              <a:buNone/>
            </a:pPr>
            <a:r>
              <a:rPr lang="en-US" sz="1200" dirty="0">
                <a:solidFill>
                  <a:schemeClr val="tx1"/>
                </a:solidFill>
              </a:rPr>
              <a:t>select </a:t>
            </a:r>
            <a:r>
              <a:rPr lang="en-US" sz="1200" dirty="0" err="1">
                <a:solidFill>
                  <a:schemeClr val="tx1"/>
                </a:solidFill>
              </a:rPr>
              <a:t>ami</a:t>
            </a:r>
            <a:endParaRPr lang="en-US" sz="1200" dirty="0">
              <a:solidFill>
                <a:schemeClr val="tx1"/>
              </a:solidFill>
            </a:endParaRPr>
          </a:p>
          <a:p>
            <a:r>
              <a:rPr lang="en-US" dirty="0">
                <a:solidFill>
                  <a:srgbClr val="002060"/>
                </a:solidFill>
              </a:rPr>
              <a:t>2. </a:t>
            </a:r>
            <a:r>
              <a:rPr lang="en-US" b="1" dirty="0">
                <a:solidFill>
                  <a:srgbClr val="002060"/>
                </a:solidFill>
              </a:rPr>
              <a:t>Begin With AWS CloudFormation templating:</a:t>
            </a:r>
          </a:p>
          <a:p>
            <a:pPr marL="201168" lvl="1" indent="0">
              <a:buNone/>
            </a:pPr>
            <a:r>
              <a:rPr lang="en-US" b="1" dirty="0">
                <a:solidFill>
                  <a:schemeClr val="tx1"/>
                </a:solidFill>
              </a:rPr>
              <a:t>       </a:t>
            </a:r>
            <a:r>
              <a:rPr lang="en-US" sz="1200" dirty="0">
                <a:solidFill>
                  <a:schemeClr val="tx1"/>
                </a:solidFill>
              </a:rPr>
              <a:t>Clone GitHub Repo to Visual Studio Code.</a:t>
            </a:r>
          </a:p>
          <a:p>
            <a:pPr marL="201168" lvl="1" indent="0">
              <a:buNone/>
            </a:pPr>
            <a:r>
              <a:rPr lang="en-US" sz="1200" dirty="0">
                <a:solidFill>
                  <a:schemeClr val="tx1"/>
                </a:solidFill>
              </a:rPr>
              <a:t>           Start templating.</a:t>
            </a:r>
          </a:p>
          <a:p>
            <a:pPr marL="0" indent="0">
              <a:buNone/>
            </a:pPr>
            <a:r>
              <a:rPr lang="en-US" sz="2400" b="1" dirty="0">
                <a:solidFill>
                  <a:srgbClr val="002060"/>
                </a:solidFill>
              </a:rPr>
              <a:t>     Basic/Mandatory Key to Define in Template:</a:t>
            </a:r>
          </a:p>
          <a:p>
            <a:pPr marL="384048" lvl="2" indent="0">
              <a:buNone/>
            </a:pPr>
            <a:r>
              <a:rPr lang="en-IN" b="1" dirty="0" err="1">
                <a:solidFill>
                  <a:schemeClr val="accent6">
                    <a:lumMod val="75000"/>
                  </a:schemeClr>
                </a:solidFill>
              </a:rPr>
              <a:t>AWSTemplateFormatVersion</a:t>
            </a:r>
            <a:r>
              <a:rPr lang="en-IN" dirty="0">
                <a:solidFill>
                  <a:schemeClr val="accent6">
                    <a:lumMod val="75000"/>
                  </a:schemeClr>
                </a:solidFill>
              </a:rPr>
              <a:t>:  </a:t>
            </a:r>
            <a:r>
              <a:rPr lang="en-IN" dirty="0"/>
              <a:t>2010-09-09</a:t>
            </a:r>
            <a:endParaRPr lang="en-US" dirty="0"/>
          </a:p>
          <a:p>
            <a:pPr marL="384048" lvl="2" indent="0">
              <a:buNone/>
            </a:pPr>
            <a:r>
              <a:rPr lang="en-IN" b="1" dirty="0">
                <a:solidFill>
                  <a:schemeClr val="accent6">
                    <a:lumMod val="75000"/>
                  </a:schemeClr>
                </a:solidFill>
              </a:rPr>
              <a:t>Description: </a:t>
            </a:r>
            <a:r>
              <a:rPr lang="en-US" dirty="0"/>
              <a:t>Provides a human-readable description of the template</a:t>
            </a:r>
          </a:p>
          <a:p>
            <a:pPr marL="384048" lvl="2" indent="0">
              <a:buNone/>
            </a:pPr>
            <a:r>
              <a:rPr lang="en-IN" dirty="0">
                <a:solidFill>
                  <a:schemeClr val="accent6">
                    <a:lumMod val="75000"/>
                  </a:schemeClr>
                </a:solidFill>
              </a:rPr>
              <a:t>Resources: </a:t>
            </a:r>
            <a:r>
              <a:rPr lang="en-US" dirty="0"/>
              <a:t>The core section where you define your AWS resources.</a:t>
            </a:r>
          </a:p>
          <a:p>
            <a:pPr lvl="1"/>
            <a:endParaRPr lang="en-US" dirty="0">
              <a:solidFill>
                <a:srgbClr val="002060"/>
              </a:solidFill>
            </a:endParaRPr>
          </a:p>
          <a:p>
            <a:endParaRPr lang="en-IN" dirty="0"/>
          </a:p>
        </p:txBody>
      </p:sp>
    </p:spTree>
    <p:extLst>
      <p:ext uri="{BB962C8B-B14F-4D97-AF65-F5344CB8AC3E}">
        <p14:creationId xmlns:p14="http://schemas.microsoft.com/office/powerpoint/2010/main" val="41093621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1D64A-C1BA-6439-3CA2-A4A4D737EFA2}"/>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2.1</a:t>
            </a:r>
            <a:br>
              <a:rPr lang="en-IN" sz="2800" b="0" i="0" u="none" strike="noStrike" dirty="0">
                <a:solidFill>
                  <a:srgbClr val="002060"/>
                </a:solidFill>
                <a:effectLst/>
                <a:latin typeface="Arial" panose="020B0604020202020204" pitchFamily="34" charset="0"/>
              </a:rPr>
            </a:br>
            <a:r>
              <a:rPr lang="en-IN" sz="2800" b="1" dirty="0">
                <a:solidFill>
                  <a:srgbClr val="002060"/>
                </a:solidFill>
                <a:latin typeface="Calibri" panose="020F0502020204030204" pitchFamily="34" charset="0"/>
              </a:rPr>
              <a:t>Infrastructure as Code (</a:t>
            </a:r>
            <a:r>
              <a:rPr lang="en-IN" sz="2800" b="1" dirty="0" err="1">
                <a:solidFill>
                  <a:srgbClr val="002060"/>
                </a:solidFill>
                <a:latin typeface="Calibri" panose="020F0502020204030204" pitchFamily="34" charset="0"/>
              </a:rPr>
              <a:t>IaC</a:t>
            </a:r>
            <a:r>
              <a:rPr lang="en-IN" sz="2800" b="1" dirty="0">
                <a:solidFill>
                  <a:srgbClr val="002060"/>
                </a:solidFill>
                <a:latin typeface="Calibri" panose="020F0502020204030204" pitchFamily="34" charset="0"/>
              </a:rPr>
              <a:t>) - Defining Your AWS Resources (Part 1)</a:t>
            </a:r>
            <a:br>
              <a:rPr lang="en-IN" sz="2800" b="0" i="0" u="none" strike="noStrike" dirty="0">
                <a:solidFill>
                  <a:srgbClr val="000000"/>
                </a:solidFill>
                <a:effectLst/>
                <a:latin typeface="Calibri" panose="020F0502020204030204" pitchFamily="34" charset="0"/>
              </a:rPr>
            </a:br>
            <a:endParaRPr lang="en-IN" sz="2800" dirty="0"/>
          </a:p>
        </p:txBody>
      </p:sp>
      <p:sp>
        <p:nvSpPr>
          <p:cNvPr id="3" name="Content Placeholder 2">
            <a:extLst>
              <a:ext uri="{FF2B5EF4-FFF2-40B4-BE49-F238E27FC236}">
                <a16:creationId xmlns:a16="http://schemas.microsoft.com/office/drawing/2014/main" id="{57B150D8-EEA9-3A38-FA52-EF4AF1DBC33A}"/>
              </a:ext>
            </a:extLst>
          </p:cNvPr>
          <p:cNvSpPr>
            <a:spLocks noGrp="1"/>
          </p:cNvSpPr>
          <p:nvPr>
            <p:ph idx="1"/>
          </p:nvPr>
        </p:nvSpPr>
        <p:spPr/>
        <p:txBody>
          <a:bodyPr/>
          <a:lstStyle/>
          <a:p>
            <a:pPr marL="0" indent="0">
              <a:buNone/>
            </a:pPr>
            <a:r>
              <a:rPr lang="en-IN" sz="1800" dirty="0">
                <a:solidFill>
                  <a:srgbClr val="000000"/>
                </a:solidFill>
                <a:latin typeface="Calibri" panose="020F0502020204030204" pitchFamily="34" charset="0"/>
              </a:rPr>
              <a:t> 1. Upload CFT Template to AWS console and create the EC2 and validate  Instance type, Ami id, Security Group, key pair.                   </a:t>
            </a:r>
          </a:p>
          <a:p>
            <a:pPr marL="0" indent="0">
              <a:buNone/>
            </a:pPr>
            <a:r>
              <a:rPr lang="en-IN" sz="1800" dirty="0">
                <a:solidFill>
                  <a:srgbClr val="000000"/>
                </a:solidFill>
                <a:latin typeface="Calibri" panose="020F0502020204030204" pitchFamily="34" charset="0"/>
              </a:rPr>
              <a:t>2. Add new </a:t>
            </a:r>
            <a:r>
              <a:rPr lang="en-IN" sz="1800" dirty="0">
                <a:solidFill>
                  <a:schemeClr val="accent6">
                    <a:lumMod val="75000"/>
                  </a:schemeClr>
                </a:solidFill>
                <a:latin typeface="Calibri" panose="020F0502020204030204" pitchFamily="34" charset="0"/>
              </a:rPr>
              <a:t>Resource</a:t>
            </a:r>
            <a:r>
              <a:rPr lang="en-IN" sz="1800" dirty="0">
                <a:solidFill>
                  <a:srgbClr val="000000"/>
                </a:solidFill>
                <a:latin typeface="Calibri" panose="020F0502020204030204" pitchFamily="34" charset="0"/>
              </a:rPr>
              <a:t> security group and re-run the CFT template and validate post creation and   working of the security group.   </a:t>
            </a:r>
          </a:p>
          <a:p>
            <a:pPr marL="0" indent="0">
              <a:buNone/>
            </a:pPr>
            <a:r>
              <a:rPr lang="en-IN" sz="1800" dirty="0">
                <a:solidFill>
                  <a:srgbClr val="000000"/>
                </a:solidFill>
                <a:latin typeface="Calibri" panose="020F0502020204030204" pitchFamily="34" charset="0"/>
              </a:rPr>
              <a:t>3.Define parameters for keypairs, instance type , and image id.        </a:t>
            </a:r>
            <a:endParaRPr lang="en-IN" dirty="0"/>
          </a:p>
        </p:txBody>
      </p:sp>
    </p:spTree>
    <p:extLst>
      <p:ext uri="{BB962C8B-B14F-4D97-AF65-F5344CB8AC3E}">
        <p14:creationId xmlns:p14="http://schemas.microsoft.com/office/powerpoint/2010/main" val="14785740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1D64A-C1BA-6439-3CA2-A4A4D737EFA2}"/>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2.1</a:t>
            </a:r>
            <a:br>
              <a:rPr lang="en-IN" sz="2800" b="0" i="0" u="none" strike="noStrike" dirty="0">
                <a:solidFill>
                  <a:srgbClr val="002060"/>
                </a:solidFill>
                <a:effectLst/>
                <a:latin typeface="Arial" panose="020B0604020202020204" pitchFamily="34" charset="0"/>
              </a:rPr>
            </a:br>
            <a:r>
              <a:rPr lang="en-IN" sz="2800" b="1" dirty="0">
                <a:solidFill>
                  <a:srgbClr val="002060"/>
                </a:solidFill>
                <a:latin typeface="Calibri" panose="020F0502020204030204" pitchFamily="34" charset="0"/>
              </a:rPr>
              <a:t>Infrastructure as Code (</a:t>
            </a:r>
            <a:r>
              <a:rPr lang="en-IN" sz="2800" b="1" dirty="0" err="1">
                <a:solidFill>
                  <a:srgbClr val="002060"/>
                </a:solidFill>
                <a:latin typeface="Calibri" panose="020F0502020204030204" pitchFamily="34" charset="0"/>
              </a:rPr>
              <a:t>IaC</a:t>
            </a:r>
            <a:r>
              <a:rPr lang="en-IN" sz="2800" b="1" dirty="0">
                <a:solidFill>
                  <a:srgbClr val="002060"/>
                </a:solidFill>
                <a:latin typeface="Calibri" panose="020F0502020204030204" pitchFamily="34" charset="0"/>
              </a:rPr>
              <a:t>) - Defining Your AWS Resources (Part 1)</a:t>
            </a:r>
            <a:br>
              <a:rPr lang="en-IN" sz="2800" b="0" i="0" u="none" strike="noStrike" dirty="0">
                <a:solidFill>
                  <a:srgbClr val="000000"/>
                </a:solidFill>
                <a:effectLst/>
                <a:latin typeface="Calibri" panose="020F0502020204030204" pitchFamily="34" charset="0"/>
              </a:rPr>
            </a:br>
            <a:endParaRPr lang="en-IN" sz="2800" dirty="0"/>
          </a:p>
        </p:txBody>
      </p:sp>
      <p:sp>
        <p:nvSpPr>
          <p:cNvPr id="3" name="Content Placeholder 2">
            <a:extLst>
              <a:ext uri="{FF2B5EF4-FFF2-40B4-BE49-F238E27FC236}">
                <a16:creationId xmlns:a16="http://schemas.microsoft.com/office/drawing/2014/main" id="{57B150D8-EEA9-3A38-FA52-EF4AF1DBC33A}"/>
              </a:ext>
            </a:extLst>
          </p:cNvPr>
          <p:cNvSpPr>
            <a:spLocks noGrp="1"/>
          </p:cNvSpPr>
          <p:nvPr>
            <p:ph idx="1"/>
          </p:nvPr>
        </p:nvSpPr>
        <p:spPr/>
        <p:txBody>
          <a:bodyPr/>
          <a:lstStyle/>
          <a:p>
            <a:pPr marL="0" indent="0">
              <a:buNone/>
            </a:pPr>
            <a:r>
              <a:rPr lang="en-IN" sz="1800" dirty="0">
                <a:solidFill>
                  <a:srgbClr val="000000"/>
                </a:solidFill>
                <a:latin typeface="Calibri" panose="020F0502020204030204" pitchFamily="34" charset="0"/>
              </a:rPr>
              <a:t>2. Add new </a:t>
            </a:r>
            <a:r>
              <a:rPr lang="en-IN" sz="1800" dirty="0">
                <a:solidFill>
                  <a:schemeClr val="accent6">
                    <a:lumMod val="75000"/>
                  </a:schemeClr>
                </a:solidFill>
                <a:latin typeface="Calibri" panose="020F0502020204030204" pitchFamily="34" charset="0"/>
              </a:rPr>
              <a:t>Resource</a:t>
            </a:r>
            <a:r>
              <a:rPr lang="en-IN" sz="1800" dirty="0">
                <a:solidFill>
                  <a:srgbClr val="000000"/>
                </a:solidFill>
                <a:latin typeface="Calibri" panose="020F0502020204030204" pitchFamily="34" charset="0"/>
              </a:rPr>
              <a:t> security group and re-run the CFT template and validate post creation and   working of the security group.   </a:t>
            </a:r>
          </a:p>
          <a:p>
            <a:pPr marL="0" indent="0">
              <a:buNone/>
            </a:pPr>
            <a:endParaRPr lang="en-IN" dirty="0"/>
          </a:p>
        </p:txBody>
      </p:sp>
      <p:pic>
        <p:nvPicPr>
          <p:cNvPr id="5" name="Picture 4">
            <a:extLst>
              <a:ext uri="{FF2B5EF4-FFF2-40B4-BE49-F238E27FC236}">
                <a16:creationId xmlns:a16="http://schemas.microsoft.com/office/drawing/2014/main" id="{1715F344-38A0-80ED-0F94-380344D6A09D}"/>
              </a:ext>
            </a:extLst>
          </p:cNvPr>
          <p:cNvPicPr>
            <a:picLocks noChangeAspect="1"/>
          </p:cNvPicPr>
          <p:nvPr/>
        </p:nvPicPr>
        <p:blipFill>
          <a:blip r:embed="rId2"/>
          <a:stretch>
            <a:fillRect/>
          </a:stretch>
        </p:blipFill>
        <p:spPr>
          <a:xfrm>
            <a:off x="1230378" y="2657053"/>
            <a:ext cx="4896102" cy="2082907"/>
          </a:xfrm>
          <a:prstGeom prst="rect">
            <a:avLst/>
          </a:prstGeom>
        </p:spPr>
      </p:pic>
    </p:spTree>
    <p:extLst>
      <p:ext uri="{BB962C8B-B14F-4D97-AF65-F5344CB8AC3E}">
        <p14:creationId xmlns:p14="http://schemas.microsoft.com/office/powerpoint/2010/main" val="14126831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1D64A-C1BA-6439-3CA2-A4A4D737EFA2}"/>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2.1</a:t>
            </a:r>
            <a:br>
              <a:rPr lang="en-IN" sz="2800" b="0" i="0" u="none" strike="noStrike" dirty="0">
                <a:solidFill>
                  <a:srgbClr val="002060"/>
                </a:solidFill>
                <a:effectLst/>
                <a:latin typeface="Arial" panose="020B0604020202020204" pitchFamily="34" charset="0"/>
              </a:rPr>
            </a:br>
            <a:r>
              <a:rPr lang="en-IN" sz="2800" b="1" dirty="0">
                <a:solidFill>
                  <a:srgbClr val="002060"/>
                </a:solidFill>
                <a:latin typeface="Calibri" panose="020F0502020204030204" pitchFamily="34" charset="0"/>
              </a:rPr>
              <a:t>Infrastructure as Code (</a:t>
            </a:r>
            <a:r>
              <a:rPr lang="en-IN" sz="2800" b="1" dirty="0" err="1">
                <a:solidFill>
                  <a:srgbClr val="002060"/>
                </a:solidFill>
                <a:latin typeface="Calibri" panose="020F0502020204030204" pitchFamily="34" charset="0"/>
              </a:rPr>
              <a:t>IaC</a:t>
            </a:r>
            <a:r>
              <a:rPr lang="en-IN" sz="2800" b="1" dirty="0">
                <a:solidFill>
                  <a:srgbClr val="002060"/>
                </a:solidFill>
                <a:latin typeface="Calibri" panose="020F0502020204030204" pitchFamily="34" charset="0"/>
              </a:rPr>
              <a:t>) - Defining Your AWS Resources (Part 1)</a:t>
            </a:r>
            <a:br>
              <a:rPr lang="en-IN" sz="2800" b="0" i="0" u="none" strike="noStrike" dirty="0">
                <a:solidFill>
                  <a:srgbClr val="000000"/>
                </a:solidFill>
                <a:effectLst/>
                <a:latin typeface="Calibri" panose="020F0502020204030204" pitchFamily="34" charset="0"/>
              </a:rPr>
            </a:br>
            <a:endParaRPr lang="en-IN" sz="2800" dirty="0"/>
          </a:p>
        </p:txBody>
      </p:sp>
      <p:sp>
        <p:nvSpPr>
          <p:cNvPr id="3" name="Content Placeholder 2">
            <a:extLst>
              <a:ext uri="{FF2B5EF4-FFF2-40B4-BE49-F238E27FC236}">
                <a16:creationId xmlns:a16="http://schemas.microsoft.com/office/drawing/2014/main" id="{57B150D8-EEA9-3A38-FA52-EF4AF1DBC33A}"/>
              </a:ext>
            </a:extLst>
          </p:cNvPr>
          <p:cNvSpPr>
            <a:spLocks noGrp="1"/>
          </p:cNvSpPr>
          <p:nvPr>
            <p:ph idx="1"/>
          </p:nvPr>
        </p:nvSpPr>
        <p:spPr/>
        <p:txBody>
          <a:bodyPr>
            <a:normAutofit/>
          </a:bodyPr>
          <a:lstStyle/>
          <a:p>
            <a:pPr marL="0" indent="0">
              <a:buNone/>
            </a:pPr>
            <a:r>
              <a:rPr lang="en-IN" sz="1800" dirty="0">
                <a:solidFill>
                  <a:srgbClr val="000000"/>
                </a:solidFill>
                <a:latin typeface="Calibri" panose="020F0502020204030204" pitchFamily="34" charset="0"/>
              </a:rPr>
              <a:t>                                                                  </a:t>
            </a:r>
            <a:r>
              <a:rPr lang="en-IN" sz="1800" b="0" i="0" u="none" strike="noStrike" baseline="0" dirty="0">
                <a:solidFill>
                  <a:srgbClr val="406E8D"/>
                </a:solidFill>
                <a:latin typeface="Calibri" panose="020F0502020204030204" pitchFamily="34" charset="0"/>
              </a:rPr>
              <a:t>Intrinsic Function: Ref </a:t>
            </a:r>
          </a:p>
          <a:p>
            <a:pPr marL="0" indent="0">
              <a:buNone/>
            </a:pPr>
            <a:r>
              <a:rPr lang="en-US" sz="1800" b="0" i="0" u="none" strike="noStrike" baseline="0" dirty="0">
                <a:latin typeface="Calibri" panose="020F0502020204030204" pitchFamily="34" charset="0"/>
              </a:rPr>
              <a:t>The intrinsic function </a:t>
            </a:r>
            <a:r>
              <a:rPr lang="en-US" sz="1800" b="0" i="0" u="none" strike="noStrike" baseline="0" dirty="0">
                <a:solidFill>
                  <a:srgbClr val="406E8D"/>
                </a:solidFill>
                <a:latin typeface="Calibri" panose="020F0502020204030204" pitchFamily="34" charset="0"/>
              </a:rPr>
              <a:t>Ref </a:t>
            </a:r>
            <a:r>
              <a:rPr lang="en-US" sz="1800" b="0" i="0" u="none" strike="noStrike" baseline="0" dirty="0">
                <a:solidFill>
                  <a:srgbClr val="000000"/>
                </a:solidFill>
                <a:latin typeface="Calibri" panose="020F0502020204030204" pitchFamily="34" charset="0"/>
              </a:rPr>
              <a:t>returns the value of the specified parameter or resource. </a:t>
            </a:r>
          </a:p>
          <a:p>
            <a:r>
              <a:rPr lang="en-US" sz="1800" b="0" i="0" u="none" strike="noStrike" baseline="0" dirty="0">
                <a:solidFill>
                  <a:srgbClr val="406E8D"/>
                </a:solidFill>
                <a:latin typeface="Arial" panose="020B0604020202020204" pitchFamily="34" charset="0"/>
              </a:rPr>
              <a:t>•</a:t>
            </a:r>
            <a:r>
              <a:rPr lang="en-US" sz="1800" b="0" i="0" u="none" strike="noStrike" baseline="0" dirty="0">
                <a:solidFill>
                  <a:srgbClr val="406E8D"/>
                </a:solidFill>
                <a:latin typeface="Calibri" panose="020F0502020204030204" pitchFamily="34" charset="0"/>
              </a:rPr>
              <a:t>Resource Case: </a:t>
            </a:r>
            <a:r>
              <a:rPr lang="en-US" sz="1800" b="0" i="0" u="none" strike="noStrike" baseline="0" dirty="0">
                <a:solidFill>
                  <a:srgbClr val="000000"/>
                </a:solidFill>
                <a:latin typeface="Calibri" panose="020F0502020204030204" pitchFamily="34" charset="0"/>
              </a:rPr>
              <a:t>When we specify a resource logical name, it returns a value that we can typically use to </a:t>
            </a:r>
            <a:r>
              <a:rPr lang="en-US" sz="1800" b="0" i="0" u="none" strike="noStrike" baseline="0" dirty="0">
                <a:solidFill>
                  <a:srgbClr val="406E8D"/>
                </a:solidFill>
                <a:latin typeface="Calibri" panose="020F0502020204030204" pitchFamily="34" charset="0"/>
              </a:rPr>
              <a:t>refer to that resource</a:t>
            </a:r>
            <a:r>
              <a:rPr lang="en-US" sz="1800" b="0" i="0" u="none" strike="noStrike" baseline="0" dirty="0">
                <a:solidFill>
                  <a:srgbClr val="000000"/>
                </a:solidFill>
                <a:latin typeface="Calibri" panose="020F0502020204030204" pitchFamily="34" charset="0"/>
              </a:rPr>
              <a:t>. </a:t>
            </a:r>
          </a:p>
          <a:p>
            <a:r>
              <a:rPr lang="en-US" sz="1800" b="0" i="0" u="none" strike="noStrike" baseline="0" dirty="0">
                <a:solidFill>
                  <a:srgbClr val="406E8D"/>
                </a:solidFill>
                <a:latin typeface="Arial" panose="020B0604020202020204" pitchFamily="34" charset="0"/>
              </a:rPr>
              <a:t>•</a:t>
            </a:r>
            <a:r>
              <a:rPr lang="en-US" sz="1800" b="0" i="0" u="none" strike="noStrike" baseline="0" dirty="0">
                <a:solidFill>
                  <a:srgbClr val="406E8D"/>
                </a:solidFill>
                <a:latin typeface="Calibri" panose="020F0502020204030204" pitchFamily="34" charset="0"/>
              </a:rPr>
              <a:t>Parameter Case: </a:t>
            </a:r>
            <a:r>
              <a:rPr lang="en-US" sz="1800" b="0" i="0" u="none" strike="noStrike" baseline="0" dirty="0">
                <a:solidFill>
                  <a:srgbClr val="000000"/>
                </a:solidFill>
                <a:latin typeface="Calibri" panose="020F0502020204030204" pitchFamily="34" charset="0"/>
              </a:rPr>
              <a:t>When we specify a parameter logical name, it returns the </a:t>
            </a:r>
            <a:r>
              <a:rPr lang="en-US" sz="1800" b="0" i="0" u="none" strike="noStrike" baseline="0" dirty="0">
                <a:solidFill>
                  <a:srgbClr val="406E8D"/>
                </a:solidFill>
                <a:latin typeface="Calibri" panose="020F0502020204030204" pitchFamily="34" charset="0"/>
              </a:rPr>
              <a:t>value of that parameter</a:t>
            </a:r>
            <a:r>
              <a:rPr lang="en-US" sz="1800" b="0" i="0" u="none" strike="noStrike" baseline="0" dirty="0">
                <a:solidFill>
                  <a:srgbClr val="000000"/>
                </a:solidFill>
                <a:latin typeface="Calibri" panose="020F0502020204030204" pitchFamily="34" charset="0"/>
              </a:rPr>
              <a:t>. </a:t>
            </a:r>
          </a:p>
          <a:p>
            <a:r>
              <a:rPr lang="en-IN" sz="1800" b="0" i="0" u="none" strike="noStrike" baseline="0" dirty="0">
                <a:solidFill>
                  <a:srgbClr val="406E8D"/>
                </a:solidFill>
                <a:latin typeface="Arial" panose="020B0604020202020204" pitchFamily="34" charset="0"/>
              </a:rPr>
              <a:t>•</a:t>
            </a:r>
            <a:r>
              <a:rPr lang="en-IN" sz="1800" b="0" i="0" u="none" strike="noStrike" baseline="0" dirty="0">
                <a:solidFill>
                  <a:srgbClr val="406E8D"/>
                </a:solidFill>
                <a:latin typeface="Calibri" panose="020F0502020204030204" pitchFamily="34" charset="0"/>
              </a:rPr>
              <a:t>Syntax</a:t>
            </a:r>
            <a:r>
              <a:rPr lang="en-IN" sz="1800" b="0" i="0" u="none" strike="noStrike" baseline="0" dirty="0">
                <a:solidFill>
                  <a:srgbClr val="000000"/>
                </a:solidFill>
                <a:latin typeface="Calibri" panose="020F0502020204030204" pitchFamily="34" charset="0"/>
              </a:rPr>
              <a:t>: </a:t>
            </a:r>
          </a:p>
          <a:p>
            <a:pPr marL="201168" lvl="1" indent="0">
              <a:buNone/>
            </a:pPr>
            <a:r>
              <a:rPr lang="en-IN" sz="1600" b="0" i="0" u="none" strike="noStrike" baseline="0" dirty="0">
                <a:solidFill>
                  <a:srgbClr val="000000"/>
                </a:solidFill>
                <a:latin typeface="Arial" panose="020B0604020202020204" pitchFamily="34" charset="0"/>
              </a:rPr>
              <a:t>•</a:t>
            </a:r>
            <a:r>
              <a:rPr lang="en-IN" sz="1600" b="0" i="0" u="none" strike="noStrike" baseline="0" dirty="0">
                <a:solidFill>
                  <a:srgbClr val="000000"/>
                </a:solidFill>
                <a:latin typeface="Calibri" panose="020F0502020204030204" pitchFamily="34" charset="0"/>
              </a:rPr>
              <a:t>Long Form </a:t>
            </a:r>
          </a:p>
          <a:p>
            <a:pPr marL="201168" lvl="1" indent="0">
              <a:buNone/>
            </a:pPr>
            <a:r>
              <a:rPr lang="en-IN" sz="1600" dirty="0">
                <a:solidFill>
                  <a:srgbClr val="406E8D"/>
                </a:solidFill>
                <a:latin typeface="Arial" panose="020B0604020202020204" pitchFamily="34" charset="0"/>
              </a:rPr>
              <a:t>  </a:t>
            </a:r>
            <a:r>
              <a:rPr lang="en-IN" sz="1600" b="0" i="0" u="none" strike="noStrike" baseline="0" dirty="0">
                <a:solidFill>
                  <a:srgbClr val="406E8D"/>
                </a:solidFill>
                <a:latin typeface="Calibri" panose="020F0502020204030204" pitchFamily="34" charset="0"/>
              </a:rPr>
              <a:t>Ref: </a:t>
            </a:r>
            <a:r>
              <a:rPr lang="en-IN" sz="1600" b="0" i="0" u="none" strike="noStrike" baseline="0" dirty="0" err="1">
                <a:solidFill>
                  <a:srgbClr val="406E8D"/>
                </a:solidFill>
                <a:latin typeface="Calibri" panose="020F0502020204030204" pitchFamily="34" charset="0"/>
              </a:rPr>
              <a:t>logicalName</a:t>
            </a:r>
            <a:r>
              <a:rPr lang="en-IN" sz="1600" b="0" i="0" u="none" strike="noStrike" baseline="0" dirty="0">
                <a:solidFill>
                  <a:srgbClr val="406E8D"/>
                </a:solidFill>
                <a:latin typeface="Calibri" panose="020F0502020204030204" pitchFamily="34" charset="0"/>
              </a:rPr>
              <a:t> </a:t>
            </a:r>
          </a:p>
          <a:p>
            <a:pPr marL="201168" lvl="1" indent="0">
              <a:buNone/>
            </a:pPr>
            <a:r>
              <a:rPr lang="en-IN" sz="1600" b="0" i="0" u="none" strike="noStrike" baseline="0" dirty="0">
                <a:solidFill>
                  <a:srgbClr val="000000"/>
                </a:solidFill>
                <a:latin typeface="Arial" panose="020B0604020202020204" pitchFamily="34" charset="0"/>
              </a:rPr>
              <a:t>•</a:t>
            </a:r>
            <a:r>
              <a:rPr lang="en-IN" sz="1600" b="0" i="0" u="none" strike="noStrike" baseline="0" dirty="0">
                <a:solidFill>
                  <a:srgbClr val="000000"/>
                </a:solidFill>
                <a:latin typeface="Calibri" panose="020F0502020204030204" pitchFamily="34" charset="0"/>
              </a:rPr>
              <a:t>Short Form </a:t>
            </a:r>
          </a:p>
          <a:p>
            <a:pPr marL="201168" lvl="1" indent="0">
              <a:buNone/>
            </a:pPr>
            <a:r>
              <a:rPr lang="en-IN" sz="1600" dirty="0">
                <a:solidFill>
                  <a:srgbClr val="406E8D"/>
                </a:solidFill>
                <a:latin typeface="Arial" panose="020B0604020202020204" pitchFamily="34" charset="0"/>
              </a:rPr>
              <a:t>  </a:t>
            </a:r>
            <a:r>
              <a:rPr lang="en-IN" sz="1600" b="0" i="0" u="none" strike="noStrike" baseline="0" dirty="0">
                <a:solidFill>
                  <a:srgbClr val="406E8D"/>
                </a:solidFill>
                <a:latin typeface="Calibri" panose="020F0502020204030204" pitchFamily="34" charset="0"/>
              </a:rPr>
              <a:t>!Ref </a:t>
            </a:r>
            <a:r>
              <a:rPr lang="en-IN" sz="1600" b="0" i="0" u="none" strike="noStrike" baseline="0" dirty="0" err="1">
                <a:solidFill>
                  <a:srgbClr val="406E8D"/>
                </a:solidFill>
                <a:latin typeface="Calibri" panose="020F0502020204030204" pitchFamily="34" charset="0"/>
              </a:rPr>
              <a:t>logicalName</a:t>
            </a:r>
            <a:r>
              <a:rPr lang="en-IN" sz="1600" b="0" i="0" u="none" strike="noStrike" baseline="0" dirty="0">
                <a:solidFill>
                  <a:srgbClr val="406E8D"/>
                </a:solidFill>
                <a:latin typeface="Calibri" panose="020F0502020204030204" pitchFamily="34" charset="0"/>
              </a:rPr>
              <a:t> </a:t>
            </a:r>
          </a:p>
          <a:p>
            <a:pPr marL="0" indent="0">
              <a:buNone/>
            </a:pPr>
            <a:endParaRPr lang="en-IN" dirty="0"/>
          </a:p>
        </p:txBody>
      </p:sp>
      <p:pic>
        <p:nvPicPr>
          <p:cNvPr id="5" name="Picture 4">
            <a:extLst>
              <a:ext uri="{FF2B5EF4-FFF2-40B4-BE49-F238E27FC236}">
                <a16:creationId xmlns:a16="http://schemas.microsoft.com/office/drawing/2014/main" id="{96A92419-0802-504D-10EC-466A6BC90F79}"/>
              </a:ext>
            </a:extLst>
          </p:cNvPr>
          <p:cNvPicPr>
            <a:picLocks noChangeAspect="1"/>
          </p:cNvPicPr>
          <p:nvPr/>
        </p:nvPicPr>
        <p:blipFill>
          <a:blip r:embed="rId2"/>
          <a:stretch>
            <a:fillRect/>
          </a:stretch>
        </p:blipFill>
        <p:spPr>
          <a:xfrm>
            <a:off x="4546101" y="3967637"/>
            <a:ext cx="7050166" cy="1653517"/>
          </a:xfrm>
          <a:prstGeom prst="rect">
            <a:avLst/>
          </a:prstGeom>
        </p:spPr>
      </p:pic>
    </p:spTree>
    <p:extLst>
      <p:ext uri="{BB962C8B-B14F-4D97-AF65-F5344CB8AC3E}">
        <p14:creationId xmlns:p14="http://schemas.microsoft.com/office/powerpoint/2010/main" val="37158927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1D64A-C1BA-6439-3CA2-A4A4D737EFA2}"/>
              </a:ext>
            </a:extLst>
          </p:cNvPr>
          <p:cNvSpPr>
            <a:spLocks noGrp="1"/>
          </p:cNvSpPr>
          <p:nvPr>
            <p:ph type="title"/>
          </p:nvPr>
        </p:nvSpPr>
        <p:spPr>
          <a:xfrm>
            <a:off x="1097280" y="286604"/>
            <a:ext cx="10058400" cy="1137936"/>
          </a:xfrm>
        </p:spPr>
        <p:txBody>
          <a:bodyPr>
            <a:normAutofit fontScale="90000"/>
          </a:bodyPr>
          <a:lstStyle/>
          <a:p>
            <a:r>
              <a:rPr lang="en-IN" sz="2800" b="1" i="0" u="none" strike="noStrike" kern="1200" dirty="0">
                <a:solidFill>
                  <a:srgbClr val="002060"/>
                </a:solidFill>
                <a:effectLst/>
                <a:latin typeface="Calibri" panose="020F0502020204030204" pitchFamily="34" charset="0"/>
              </a:rPr>
              <a:t>Week 2.1</a:t>
            </a:r>
            <a:br>
              <a:rPr lang="en-IN" sz="2800" b="0" i="0" u="none" strike="noStrike" dirty="0">
                <a:solidFill>
                  <a:srgbClr val="002060"/>
                </a:solidFill>
                <a:effectLst/>
                <a:latin typeface="Arial" panose="020B0604020202020204" pitchFamily="34" charset="0"/>
              </a:rPr>
            </a:br>
            <a:r>
              <a:rPr lang="en-IN" sz="2800" b="1" dirty="0">
                <a:solidFill>
                  <a:srgbClr val="002060"/>
                </a:solidFill>
                <a:latin typeface="Calibri" panose="020F0502020204030204" pitchFamily="34" charset="0"/>
              </a:rPr>
              <a:t>Infrastructure as Code (</a:t>
            </a:r>
            <a:r>
              <a:rPr lang="en-IN" sz="2800" b="1" dirty="0" err="1">
                <a:solidFill>
                  <a:srgbClr val="002060"/>
                </a:solidFill>
                <a:latin typeface="Calibri" panose="020F0502020204030204" pitchFamily="34" charset="0"/>
              </a:rPr>
              <a:t>IaC</a:t>
            </a:r>
            <a:r>
              <a:rPr lang="en-IN" sz="2800" b="1" dirty="0">
                <a:solidFill>
                  <a:srgbClr val="002060"/>
                </a:solidFill>
                <a:latin typeface="Calibri" panose="020F0502020204030204" pitchFamily="34" charset="0"/>
              </a:rPr>
              <a:t>) - Defining Your AWS Resources (Part 1)</a:t>
            </a:r>
            <a:br>
              <a:rPr lang="en-IN" sz="2800" b="0" i="0" u="none" strike="noStrike" dirty="0">
                <a:solidFill>
                  <a:srgbClr val="000000"/>
                </a:solidFill>
                <a:effectLst/>
                <a:latin typeface="Calibri" panose="020F0502020204030204" pitchFamily="34" charset="0"/>
              </a:rPr>
            </a:br>
            <a:endParaRPr lang="en-IN" sz="2800" dirty="0"/>
          </a:p>
        </p:txBody>
      </p:sp>
      <p:sp>
        <p:nvSpPr>
          <p:cNvPr id="3" name="Content Placeholder 2">
            <a:extLst>
              <a:ext uri="{FF2B5EF4-FFF2-40B4-BE49-F238E27FC236}">
                <a16:creationId xmlns:a16="http://schemas.microsoft.com/office/drawing/2014/main" id="{57B150D8-EEA9-3A38-FA52-EF4AF1DBC33A}"/>
              </a:ext>
            </a:extLst>
          </p:cNvPr>
          <p:cNvSpPr>
            <a:spLocks noGrp="1"/>
          </p:cNvSpPr>
          <p:nvPr>
            <p:ph idx="1"/>
          </p:nvPr>
        </p:nvSpPr>
        <p:spPr>
          <a:xfrm>
            <a:off x="1097280" y="1222409"/>
            <a:ext cx="10058400" cy="5635592"/>
          </a:xfrm>
        </p:spPr>
        <p:txBody>
          <a:bodyPr>
            <a:normAutofit/>
          </a:bodyPr>
          <a:lstStyle/>
          <a:p>
            <a:pPr algn="l"/>
            <a:r>
              <a:rPr lang="en-IN" sz="1800" dirty="0">
                <a:solidFill>
                  <a:srgbClr val="000000"/>
                </a:solidFill>
                <a:latin typeface="Calibri" panose="020F0502020204030204" pitchFamily="34" charset="0"/>
              </a:rPr>
              <a:t>                                                                            </a:t>
            </a:r>
            <a:r>
              <a:rPr lang="en-IN" sz="1800" b="1" i="0" u="none" strike="noStrike" baseline="0" dirty="0">
                <a:solidFill>
                  <a:srgbClr val="406E8D"/>
                </a:solidFill>
                <a:latin typeface="Calibri" panose="020F0502020204030204" pitchFamily="34" charset="0"/>
              </a:rPr>
              <a:t>Parameters </a:t>
            </a:r>
            <a:endParaRPr lang="en-IN" sz="1800" b="1" i="0" u="none" strike="noStrike" baseline="0" dirty="0">
              <a:latin typeface="Arial" panose="020B0604020202020204" pitchFamily="34" charset="0"/>
            </a:endParaRPr>
          </a:p>
          <a:p>
            <a:r>
              <a:rPr lang="en-US" sz="1800" b="0" i="0" u="none" strike="noStrike" baseline="0" dirty="0">
                <a:solidFill>
                  <a:srgbClr val="406E8D"/>
                </a:solidFill>
                <a:latin typeface="Arial" panose="020B0604020202020204" pitchFamily="34" charset="0"/>
              </a:rPr>
              <a:t>•</a:t>
            </a:r>
            <a:r>
              <a:rPr lang="en-US" sz="1600" b="0" i="0" u="none" strike="noStrike" baseline="0" dirty="0">
                <a:solidFill>
                  <a:srgbClr val="406E8D"/>
                </a:solidFill>
                <a:latin typeface="Calibri" panose="020F0502020204030204" pitchFamily="34" charset="0"/>
              </a:rPr>
              <a:t>Parameters: </a:t>
            </a:r>
            <a:r>
              <a:rPr lang="en-US" sz="1600" b="0" i="0" u="none" strike="noStrike" baseline="0" dirty="0">
                <a:solidFill>
                  <a:srgbClr val="000000"/>
                </a:solidFill>
                <a:latin typeface="Calibri" panose="020F0502020204030204" pitchFamily="34" charset="0"/>
              </a:rPr>
              <a:t>Parameters enable us to input custom values to our template each time when we create or update stack. </a:t>
            </a:r>
          </a:p>
          <a:p>
            <a:r>
              <a:rPr lang="en-US" sz="1600" b="0" i="0" u="none" strike="noStrike" baseline="0" dirty="0">
                <a:solidFill>
                  <a:srgbClr val="000000"/>
                </a:solidFill>
                <a:latin typeface="Arial" panose="020B0604020202020204" pitchFamily="34" charset="0"/>
              </a:rPr>
              <a:t>•</a:t>
            </a:r>
            <a:r>
              <a:rPr lang="en-US" sz="1600" b="0" i="0" u="none" strike="noStrike" baseline="0" dirty="0">
                <a:solidFill>
                  <a:srgbClr val="000000"/>
                </a:solidFill>
                <a:latin typeface="Calibri" panose="020F0502020204030204" pitchFamily="34" charset="0"/>
              </a:rPr>
              <a:t>We can have maximum of </a:t>
            </a:r>
            <a:r>
              <a:rPr lang="en-US" sz="1600" b="0" i="0" u="none" strike="noStrike" baseline="0" dirty="0">
                <a:solidFill>
                  <a:srgbClr val="406E8D"/>
                </a:solidFill>
                <a:latin typeface="Calibri" panose="020F0502020204030204" pitchFamily="34" charset="0"/>
              </a:rPr>
              <a:t>60 parameters </a:t>
            </a:r>
            <a:r>
              <a:rPr lang="en-US" sz="1600" b="0" i="0" u="none" strike="noStrike" baseline="0" dirty="0">
                <a:solidFill>
                  <a:srgbClr val="000000"/>
                </a:solidFill>
                <a:latin typeface="Calibri" panose="020F0502020204030204" pitchFamily="34" charset="0"/>
              </a:rPr>
              <a:t>in a </a:t>
            </a:r>
            <a:r>
              <a:rPr lang="en-US" sz="1600" b="0" i="0" u="none" strike="noStrike" baseline="0" dirty="0" err="1">
                <a:solidFill>
                  <a:srgbClr val="000000"/>
                </a:solidFill>
                <a:latin typeface="Calibri" panose="020F0502020204030204" pitchFamily="34" charset="0"/>
              </a:rPr>
              <a:t>cfn</a:t>
            </a:r>
            <a:r>
              <a:rPr lang="en-US" sz="1600" b="0" i="0" u="none" strike="noStrike" baseline="0" dirty="0">
                <a:solidFill>
                  <a:srgbClr val="000000"/>
                </a:solidFill>
                <a:latin typeface="Calibri" panose="020F0502020204030204" pitchFamily="34" charset="0"/>
              </a:rPr>
              <a:t> template. </a:t>
            </a:r>
          </a:p>
          <a:p>
            <a:r>
              <a:rPr lang="en-US" sz="1600" b="0" i="0" u="none" strike="noStrike" baseline="0" dirty="0">
                <a:solidFill>
                  <a:srgbClr val="000000"/>
                </a:solidFill>
                <a:latin typeface="Arial" panose="020B0604020202020204" pitchFamily="34" charset="0"/>
              </a:rPr>
              <a:t>•</a:t>
            </a:r>
            <a:r>
              <a:rPr lang="en-US" sz="1600" b="0" i="0" u="none" strike="noStrike" baseline="0" dirty="0">
                <a:solidFill>
                  <a:srgbClr val="000000"/>
                </a:solidFill>
                <a:latin typeface="Calibri" panose="020F0502020204030204" pitchFamily="34" charset="0"/>
              </a:rPr>
              <a:t>Each parameter must be given a </a:t>
            </a:r>
            <a:r>
              <a:rPr lang="en-US" sz="1600" b="0" i="0" u="none" strike="noStrike" baseline="0" dirty="0">
                <a:solidFill>
                  <a:srgbClr val="406E8D"/>
                </a:solidFill>
                <a:latin typeface="Calibri" panose="020F0502020204030204" pitchFamily="34" charset="0"/>
              </a:rPr>
              <a:t>logical name (logical id) </a:t>
            </a:r>
            <a:r>
              <a:rPr lang="en-US" sz="1600" b="0" i="0" u="none" strike="noStrike" baseline="0" dirty="0">
                <a:solidFill>
                  <a:srgbClr val="000000"/>
                </a:solidFill>
                <a:latin typeface="Calibri" panose="020F0502020204030204" pitchFamily="34" charset="0"/>
              </a:rPr>
              <a:t>which must be alphanumeric and unique among all logical names within the template. </a:t>
            </a:r>
          </a:p>
          <a:p>
            <a:r>
              <a:rPr lang="en-US" sz="1600" b="0" i="0" u="none" strike="noStrike" baseline="0" dirty="0">
                <a:solidFill>
                  <a:srgbClr val="000000"/>
                </a:solidFill>
                <a:latin typeface="Arial" panose="020B0604020202020204" pitchFamily="34" charset="0"/>
              </a:rPr>
              <a:t>•</a:t>
            </a:r>
            <a:r>
              <a:rPr lang="en-US" sz="1600" b="0" i="0" u="none" strike="noStrike" baseline="0" dirty="0">
                <a:solidFill>
                  <a:srgbClr val="000000"/>
                </a:solidFill>
                <a:latin typeface="Calibri" panose="020F0502020204030204" pitchFamily="34" charset="0"/>
              </a:rPr>
              <a:t>Each parameter must be assigned a value </a:t>
            </a:r>
            <a:r>
              <a:rPr lang="en-US" sz="1600" b="0" i="0" u="none" strike="noStrike" baseline="0" dirty="0">
                <a:solidFill>
                  <a:srgbClr val="406E8D"/>
                </a:solidFill>
                <a:latin typeface="Calibri" panose="020F0502020204030204" pitchFamily="34" charset="0"/>
              </a:rPr>
              <a:t>at runtime </a:t>
            </a:r>
            <a:r>
              <a:rPr lang="en-US" sz="1600" b="0" i="0" u="none" strike="noStrike" baseline="0" dirty="0">
                <a:solidFill>
                  <a:srgbClr val="000000"/>
                </a:solidFill>
                <a:latin typeface="Calibri" panose="020F0502020204030204" pitchFamily="34" charset="0"/>
              </a:rPr>
              <a:t>for AWS CloudFormation to successfully provision the stack. We can  optionally specify a </a:t>
            </a:r>
            <a:r>
              <a:rPr lang="en-US" sz="1600" b="0" i="0" u="none" strike="noStrike" baseline="0" dirty="0">
                <a:solidFill>
                  <a:srgbClr val="406E8D"/>
                </a:solidFill>
                <a:latin typeface="Calibri" panose="020F0502020204030204" pitchFamily="34" charset="0"/>
              </a:rPr>
              <a:t>default value </a:t>
            </a:r>
            <a:r>
              <a:rPr lang="en-US" sz="1600" b="0" i="0" u="none" strike="noStrike" baseline="0" dirty="0">
                <a:solidFill>
                  <a:srgbClr val="000000"/>
                </a:solidFill>
                <a:latin typeface="Calibri" panose="020F0502020204030204" pitchFamily="34" charset="0"/>
              </a:rPr>
              <a:t>for AWS CloudFormation to use unless another value is provided.</a:t>
            </a:r>
            <a:endParaRPr lang="en-US" sz="1600" dirty="0">
              <a:solidFill>
                <a:srgbClr val="000000"/>
              </a:solidFill>
              <a:latin typeface="Arial" panose="020B0604020202020204" pitchFamily="34" charset="0"/>
            </a:endParaRPr>
          </a:p>
          <a:p>
            <a:r>
              <a:rPr lang="en-US" sz="1600" dirty="0">
                <a:solidFill>
                  <a:srgbClr val="000000"/>
                </a:solidFill>
                <a:latin typeface="Arial" panose="020B0604020202020204" pitchFamily="34" charset="0"/>
              </a:rPr>
              <a:t>Paramet</a:t>
            </a:r>
            <a:r>
              <a:rPr lang="en-US" sz="1600" b="0" i="0" u="none" strike="noStrike" baseline="0" dirty="0">
                <a:latin typeface="Calibri" panose="020F0502020204030204" pitchFamily="34" charset="0"/>
              </a:rPr>
              <a:t>ers must be declared and referenced within </a:t>
            </a:r>
            <a:r>
              <a:rPr lang="en-US" sz="1600" b="0" i="0" u="none" strike="noStrike" baseline="0" dirty="0">
                <a:solidFill>
                  <a:srgbClr val="406E8D"/>
                </a:solidFill>
                <a:latin typeface="Calibri" panose="020F0502020204030204" pitchFamily="34" charset="0"/>
              </a:rPr>
              <a:t>the same template. </a:t>
            </a:r>
          </a:p>
          <a:p>
            <a:r>
              <a:rPr lang="en-US" sz="1600" b="0" i="0" u="none" strike="noStrike" baseline="0" dirty="0">
                <a:solidFill>
                  <a:srgbClr val="000000"/>
                </a:solidFill>
                <a:latin typeface="Calibri" panose="020F0502020204030204" pitchFamily="34" charset="0"/>
              </a:rPr>
              <a:t>We can </a:t>
            </a:r>
            <a:r>
              <a:rPr lang="en-US" sz="1600" b="0" i="0" u="none" strike="noStrike" baseline="0" dirty="0">
                <a:solidFill>
                  <a:srgbClr val="406E8D"/>
                </a:solidFill>
                <a:latin typeface="Calibri" panose="020F0502020204030204" pitchFamily="34" charset="0"/>
              </a:rPr>
              <a:t>reference </a:t>
            </a:r>
            <a:r>
              <a:rPr lang="en-US" sz="1600" b="0" i="0" u="none" strike="noStrike" baseline="0" dirty="0">
                <a:solidFill>
                  <a:srgbClr val="000000"/>
                </a:solidFill>
                <a:latin typeface="Calibri" panose="020F0502020204030204" pitchFamily="34" charset="0"/>
              </a:rPr>
              <a:t>parameters from the </a:t>
            </a:r>
            <a:r>
              <a:rPr lang="en-US" sz="1600" b="0" i="0" u="none" strike="noStrike" baseline="0" dirty="0">
                <a:solidFill>
                  <a:srgbClr val="406E8D"/>
                </a:solidFill>
                <a:latin typeface="Calibri" panose="020F0502020204030204" pitchFamily="34" charset="0"/>
              </a:rPr>
              <a:t>Resources and Outputs </a:t>
            </a:r>
            <a:r>
              <a:rPr lang="en-US" sz="1600" b="0" i="0" u="none" strike="noStrike" baseline="0" dirty="0">
                <a:solidFill>
                  <a:srgbClr val="000000"/>
                </a:solidFill>
                <a:latin typeface="Calibri" panose="020F0502020204030204" pitchFamily="34" charset="0"/>
              </a:rPr>
              <a:t>sections of the template. </a:t>
            </a:r>
          </a:p>
          <a:p>
            <a:r>
              <a:rPr lang="en-IN" sz="1600" b="0" i="0" u="none" strike="noStrike" baseline="0" dirty="0">
                <a:solidFill>
                  <a:srgbClr val="406E8D"/>
                </a:solidFill>
                <a:latin typeface="Calibri" panose="020F0502020204030204" pitchFamily="34" charset="0"/>
              </a:rPr>
              <a:t>Syntax </a:t>
            </a:r>
          </a:p>
          <a:p>
            <a:endParaRPr lang="en-US" sz="1800" b="0" i="0" u="none" strike="noStrike" baseline="0" dirty="0">
              <a:solidFill>
                <a:srgbClr val="000000"/>
              </a:solidFill>
              <a:latin typeface="Calibri" panose="020F0502020204030204" pitchFamily="34" charset="0"/>
            </a:endParaRPr>
          </a:p>
          <a:p>
            <a:pPr marL="0" indent="0">
              <a:buNone/>
            </a:pPr>
            <a:r>
              <a:rPr lang="en-IN" sz="1800" dirty="0">
                <a:solidFill>
                  <a:srgbClr val="000000"/>
                </a:solidFill>
                <a:latin typeface="Calibri" panose="020F0502020204030204" pitchFamily="34" charset="0"/>
              </a:rPr>
              <a:t>                     </a:t>
            </a:r>
            <a:endParaRPr lang="en-IN" dirty="0"/>
          </a:p>
        </p:txBody>
      </p:sp>
      <p:pic>
        <p:nvPicPr>
          <p:cNvPr id="5" name="Picture 4">
            <a:extLst>
              <a:ext uri="{FF2B5EF4-FFF2-40B4-BE49-F238E27FC236}">
                <a16:creationId xmlns:a16="http://schemas.microsoft.com/office/drawing/2014/main" id="{849E25D5-1796-67A9-5EB2-F0ACC4824882}"/>
              </a:ext>
            </a:extLst>
          </p:cNvPr>
          <p:cNvPicPr>
            <a:picLocks noChangeAspect="1"/>
          </p:cNvPicPr>
          <p:nvPr/>
        </p:nvPicPr>
        <p:blipFill>
          <a:blip r:embed="rId2"/>
          <a:stretch>
            <a:fillRect/>
          </a:stretch>
        </p:blipFill>
        <p:spPr>
          <a:xfrm>
            <a:off x="1238025" y="4908883"/>
            <a:ext cx="2698708" cy="1029903"/>
          </a:xfrm>
          <a:prstGeom prst="rect">
            <a:avLst/>
          </a:prstGeom>
        </p:spPr>
      </p:pic>
      <p:pic>
        <p:nvPicPr>
          <p:cNvPr id="7" name="Picture 6">
            <a:extLst>
              <a:ext uri="{FF2B5EF4-FFF2-40B4-BE49-F238E27FC236}">
                <a16:creationId xmlns:a16="http://schemas.microsoft.com/office/drawing/2014/main" id="{A033FAE5-11C4-BC62-00B3-726244987007}"/>
              </a:ext>
            </a:extLst>
          </p:cNvPr>
          <p:cNvPicPr>
            <a:picLocks noChangeAspect="1"/>
          </p:cNvPicPr>
          <p:nvPr/>
        </p:nvPicPr>
        <p:blipFill>
          <a:blip r:embed="rId3"/>
          <a:stretch>
            <a:fillRect/>
          </a:stretch>
        </p:blipFill>
        <p:spPr>
          <a:xfrm>
            <a:off x="5360843" y="4467573"/>
            <a:ext cx="5448327" cy="2010229"/>
          </a:xfrm>
          <a:prstGeom prst="rect">
            <a:avLst/>
          </a:prstGeom>
        </p:spPr>
      </p:pic>
    </p:spTree>
    <p:extLst>
      <p:ext uri="{BB962C8B-B14F-4D97-AF65-F5344CB8AC3E}">
        <p14:creationId xmlns:p14="http://schemas.microsoft.com/office/powerpoint/2010/main" val="2089269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1D64A-C1BA-6439-3CA2-A4A4D737EFA2}"/>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2.1</a:t>
            </a:r>
            <a:br>
              <a:rPr lang="en-IN" sz="2800" b="0" i="0" u="none" strike="noStrike" dirty="0">
                <a:solidFill>
                  <a:srgbClr val="002060"/>
                </a:solidFill>
                <a:effectLst/>
                <a:latin typeface="Arial" panose="020B0604020202020204" pitchFamily="34" charset="0"/>
              </a:rPr>
            </a:br>
            <a:r>
              <a:rPr lang="en-IN" sz="2800" b="1" dirty="0">
                <a:solidFill>
                  <a:srgbClr val="002060"/>
                </a:solidFill>
                <a:latin typeface="Calibri" panose="020F0502020204030204" pitchFamily="34" charset="0"/>
              </a:rPr>
              <a:t>Infrastructure as Code (</a:t>
            </a:r>
            <a:r>
              <a:rPr lang="en-IN" sz="2800" b="1" dirty="0" err="1">
                <a:solidFill>
                  <a:srgbClr val="002060"/>
                </a:solidFill>
                <a:latin typeface="Calibri" panose="020F0502020204030204" pitchFamily="34" charset="0"/>
              </a:rPr>
              <a:t>IaC</a:t>
            </a:r>
            <a:r>
              <a:rPr lang="en-IN" sz="2800" b="1" dirty="0">
                <a:solidFill>
                  <a:srgbClr val="002060"/>
                </a:solidFill>
                <a:latin typeface="Calibri" panose="020F0502020204030204" pitchFamily="34" charset="0"/>
              </a:rPr>
              <a:t>) - Defining Your AWS Resources (Part 1)</a:t>
            </a:r>
            <a:br>
              <a:rPr lang="en-IN" sz="2800" b="0" i="0" u="none" strike="noStrike" dirty="0">
                <a:solidFill>
                  <a:srgbClr val="000000"/>
                </a:solidFill>
                <a:effectLst/>
                <a:latin typeface="Calibri" panose="020F0502020204030204" pitchFamily="34" charset="0"/>
              </a:rPr>
            </a:br>
            <a:endParaRPr lang="en-IN" sz="2800" dirty="0"/>
          </a:p>
        </p:txBody>
      </p:sp>
      <p:sp>
        <p:nvSpPr>
          <p:cNvPr id="3" name="Content Placeholder 2">
            <a:extLst>
              <a:ext uri="{FF2B5EF4-FFF2-40B4-BE49-F238E27FC236}">
                <a16:creationId xmlns:a16="http://schemas.microsoft.com/office/drawing/2014/main" id="{57B150D8-EEA9-3A38-FA52-EF4AF1DBC33A}"/>
              </a:ext>
            </a:extLst>
          </p:cNvPr>
          <p:cNvSpPr>
            <a:spLocks noGrp="1"/>
          </p:cNvSpPr>
          <p:nvPr>
            <p:ph idx="1"/>
          </p:nvPr>
        </p:nvSpPr>
        <p:spPr/>
        <p:txBody>
          <a:bodyPr/>
          <a:lstStyle/>
          <a:p>
            <a:pPr marL="0" indent="0">
              <a:buNone/>
            </a:pPr>
            <a:r>
              <a:rPr lang="en-IN" sz="1800" dirty="0">
                <a:solidFill>
                  <a:srgbClr val="000000"/>
                </a:solidFill>
                <a:latin typeface="Calibri" panose="020F0502020204030204" pitchFamily="34" charset="0"/>
              </a:rPr>
              <a:t>                                                                  </a:t>
            </a:r>
            <a:endParaRPr lang="en-IN" dirty="0"/>
          </a:p>
        </p:txBody>
      </p:sp>
      <p:pic>
        <p:nvPicPr>
          <p:cNvPr id="5" name="Picture 4">
            <a:extLst>
              <a:ext uri="{FF2B5EF4-FFF2-40B4-BE49-F238E27FC236}">
                <a16:creationId xmlns:a16="http://schemas.microsoft.com/office/drawing/2014/main" id="{87E7D8B2-2806-D2D2-B887-311AC42413CC}"/>
              </a:ext>
            </a:extLst>
          </p:cNvPr>
          <p:cNvPicPr>
            <a:picLocks noChangeAspect="1"/>
          </p:cNvPicPr>
          <p:nvPr/>
        </p:nvPicPr>
        <p:blipFill>
          <a:blip r:embed="rId2"/>
          <a:stretch>
            <a:fillRect/>
          </a:stretch>
        </p:blipFill>
        <p:spPr>
          <a:xfrm>
            <a:off x="1097279" y="1737360"/>
            <a:ext cx="10222029" cy="4538312"/>
          </a:xfrm>
          <a:prstGeom prst="rect">
            <a:avLst/>
          </a:prstGeom>
        </p:spPr>
      </p:pic>
    </p:spTree>
    <p:extLst>
      <p:ext uri="{BB962C8B-B14F-4D97-AF65-F5344CB8AC3E}">
        <p14:creationId xmlns:p14="http://schemas.microsoft.com/office/powerpoint/2010/main" val="741081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1D64A-C1BA-6439-3CA2-A4A4D737EFA2}"/>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2.1</a:t>
            </a:r>
            <a:br>
              <a:rPr lang="en-IN" sz="2800" b="0" i="0" u="none" strike="noStrike" dirty="0">
                <a:solidFill>
                  <a:srgbClr val="002060"/>
                </a:solidFill>
                <a:effectLst/>
                <a:latin typeface="Arial" panose="020B0604020202020204" pitchFamily="34" charset="0"/>
              </a:rPr>
            </a:br>
            <a:r>
              <a:rPr lang="en-IN" sz="2800" b="1" dirty="0">
                <a:solidFill>
                  <a:srgbClr val="002060"/>
                </a:solidFill>
                <a:latin typeface="Calibri" panose="020F0502020204030204" pitchFamily="34" charset="0"/>
              </a:rPr>
              <a:t>Infrastructure as Code (</a:t>
            </a:r>
            <a:r>
              <a:rPr lang="en-IN" sz="2800" b="1" dirty="0" err="1">
                <a:solidFill>
                  <a:srgbClr val="002060"/>
                </a:solidFill>
                <a:latin typeface="Calibri" panose="020F0502020204030204" pitchFamily="34" charset="0"/>
              </a:rPr>
              <a:t>IaC</a:t>
            </a:r>
            <a:r>
              <a:rPr lang="en-IN" sz="2800" b="1" dirty="0">
                <a:solidFill>
                  <a:srgbClr val="002060"/>
                </a:solidFill>
                <a:latin typeface="Calibri" panose="020F0502020204030204" pitchFamily="34" charset="0"/>
              </a:rPr>
              <a:t>) - Defining Your AWS Resources (Part 1)</a:t>
            </a:r>
            <a:br>
              <a:rPr lang="en-IN" sz="2800" b="0" i="0" u="none" strike="noStrike" dirty="0">
                <a:solidFill>
                  <a:srgbClr val="000000"/>
                </a:solidFill>
                <a:effectLst/>
                <a:latin typeface="Calibri" panose="020F0502020204030204" pitchFamily="34" charset="0"/>
              </a:rPr>
            </a:br>
            <a:endParaRPr lang="en-IN" sz="2800" dirty="0"/>
          </a:p>
        </p:txBody>
      </p:sp>
      <p:sp>
        <p:nvSpPr>
          <p:cNvPr id="3" name="Content Placeholder 2">
            <a:extLst>
              <a:ext uri="{FF2B5EF4-FFF2-40B4-BE49-F238E27FC236}">
                <a16:creationId xmlns:a16="http://schemas.microsoft.com/office/drawing/2014/main" id="{57B150D8-EEA9-3A38-FA52-EF4AF1DBC33A}"/>
              </a:ext>
            </a:extLst>
          </p:cNvPr>
          <p:cNvSpPr>
            <a:spLocks noGrp="1"/>
          </p:cNvSpPr>
          <p:nvPr>
            <p:ph idx="1"/>
          </p:nvPr>
        </p:nvSpPr>
        <p:spPr/>
        <p:txBody>
          <a:bodyPr/>
          <a:lstStyle/>
          <a:p>
            <a:pPr marL="0" indent="0">
              <a:buNone/>
            </a:pPr>
            <a:r>
              <a:rPr lang="en-IN" sz="1800" dirty="0">
                <a:solidFill>
                  <a:srgbClr val="000000"/>
                </a:solidFill>
                <a:latin typeface="Calibri" panose="020F0502020204030204" pitchFamily="34" charset="0"/>
              </a:rPr>
              <a:t>  3.Define parameters for keypairs, instance type , and image id.        </a:t>
            </a:r>
            <a:endParaRPr lang="en-IN" sz="1800" dirty="0"/>
          </a:p>
          <a:p>
            <a:pPr marL="0" indent="0">
              <a:buNone/>
            </a:pPr>
            <a:r>
              <a:rPr lang="en-IN" sz="1800" dirty="0">
                <a:solidFill>
                  <a:srgbClr val="000000"/>
                </a:solidFill>
                <a:latin typeface="Calibri" panose="020F0502020204030204" pitchFamily="34" charset="0"/>
              </a:rPr>
              <a:t>                        </a:t>
            </a:r>
            <a:endParaRPr lang="en-IN" dirty="0"/>
          </a:p>
        </p:txBody>
      </p:sp>
      <p:pic>
        <p:nvPicPr>
          <p:cNvPr id="5" name="Picture 4">
            <a:extLst>
              <a:ext uri="{FF2B5EF4-FFF2-40B4-BE49-F238E27FC236}">
                <a16:creationId xmlns:a16="http://schemas.microsoft.com/office/drawing/2014/main" id="{9157E2B9-50F8-9035-FB3A-E769434A5CEF}"/>
              </a:ext>
            </a:extLst>
          </p:cNvPr>
          <p:cNvPicPr>
            <a:picLocks noChangeAspect="1"/>
          </p:cNvPicPr>
          <p:nvPr/>
        </p:nvPicPr>
        <p:blipFill>
          <a:blip r:embed="rId2"/>
          <a:stretch>
            <a:fillRect/>
          </a:stretch>
        </p:blipFill>
        <p:spPr>
          <a:xfrm>
            <a:off x="1361439" y="2553916"/>
            <a:ext cx="2654436" cy="768389"/>
          </a:xfrm>
          <a:prstGeom prst="rect">
            <a:avLst/>
          </a:prstGeom>
        </p:spPr>
      </p:pic>
      <p:pic>
        <p:nvPicPr>
          <p:cNvPr id="7" name="Picture 6">
            <a:extLst>
              <a:ext uri="{FF2B5EF4-FFF2-40B4-BE49-F238E27FC236}">
                <a16:creationId xmlns:a16="http://schemas.microsoft.com/office/drawing/2014/main" id="{E6DC1165-B50D-267C-F6BC-8F80BBEEE381}"/>
              </a:ext>
            </a:extLst>
          </p:cNvPr>
          <p:cNvPicPr>
            <a:picLocks noChangeAspect="1"/>
          </p:cNvPicPr>
          <p:nvPr/>
        </p:nvPicPr>
        <p:blipFill>
          <a:blip r:embed="rId3"/>
          <a:stretch>
            <a:fillRect/>
          </a:stretch>
        </p:blipFill>
        <p:spPr>
          <a:xfrm>
            <a:off x="4410153" y="2553916"/>
            <a:ext cx="2178162" cy="1454225"/>
          </a:xfrm>
          <a:prstGeom prst="rect">
            <a:avLst/>
          </a:prstGeom>
        </p:spPr>
      </p:pic>
      <p:pic>
        <p:nvPicPr>
          <p:cNvPr id="9" name="Picture 8">
            <a:extLst>
              <a:ext uri="{FF2B5EF4-FFF2-40B4-BE49-F238E27FC236}">
                <a16:creationId xmlns:a16="http://schemas.microsoft.com/office/drawing/2014/main" id="{2AA6271D-29EB-5317-A0B2-8EDF0CF2F105}"/>
              </a:ext>
            </a:extLst>
          </p:cNvPr>
          <p:cNvPicPr>
            <a:picLocks noChangeAspect="1"/>
          </p:cNvPicPr>
          <p:nvPr/>
        </p:nvPicPr>
        <p:blipFill>
          <a:blip r:embed="rId4"/>
          <a:stretch>
            <a:fillRect/>
          </a:stretch>
        </p:blipFill>
        <p:spPr>
          <a:xfrm>
            <a:off x="6982593" y="2553916"/>
            <a:ext cx="1962251" cy="628682"/>
          </a:xfrm>
          <a:prstGeom prst="rect">
            <a:avLst/>
          </a:prstGeom>
        </p:spPr>
      </p:pic>
    </p:spTree>
    <p:extLst>
      <p:ext uri="{BB962C8B-B14F-4D97-AF65-F5344CB8AC3E}">
        <p14:creationId xmlns:p14="http://schemas.microsoft.com/office/powerpoint/2010/main" val="18963394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60C62-7F13-0CD3-CFCF-8177F1ED3AA2}"/>
              </a:ext>
            </a:extLst>
          </p:cNvPr>
          <p:cNvSpPr>
            <a:spLocks noGrp="1"/>
          </p:cNvSpPr>
          <p:nvPr>
            <p:ph type="title"/>
          </p:nvPr>
        </p:nvSpPr>
        <p:spPr/>
        <p:txBody>
          <a:bodyPr>
            <a:normAutofit/>
          </a:bodyPr>
          <a:lstStyle/>
          <a:p>
            <a:pPr marL="0" algn="l" rtl="0" eaLnBrk="1" fontAlgn="ctr" latinLnBrk="0" hangingPunct="1">
              <a:spcBef>
                <a:spcPts val="0"/>
              </a:spcBef>
              <a:spcAft>
                <a:spcPts val="0"/>
              </a:spcAft>
            </a:pPr>
            <a:r>
              <a:rPr lang="en-IN" sz="2800" b="1" i="0" u="none" strike="noStrike" kern="1200" dirty="0">
                <a:solidFill>
                  <a:srgbClr val="002060"/>
                </a:solidFill>
                <a:effectLst/>
                <a:latin typeface="Calibri" panose="020F0502020204030204" pitchFamily="34" charset="0"/>
              </a:rPr>
              <a:t>Week 2.2</a:t>
            </a:r>
            <a:br>
              <a:rPr lang="en-IN" sz="2800" b="0" i="0" u="none" strike="noStrike" dirty="0">
                <a:solidFill>
                  <a:srgbClr val="002060"/>
                </a:solidFill>
                <a:effectLst/>
                <a:latin typeface="Arial" panose="020B0604020202020204" pitchFamily="34" charset="0"/>
              </a:rPr>
            </a:br>
            <a:r>
              <a:rPr lang="en-IN" sz="2800" b="1" i="0" u="none" strike="noStrike" kern="1200" dirty="0">
                <a:solidFill>
                  <a:srgbClr val="002060"/>
                </a:solidFill>
                <a:effectLst/>
                <a:latin typeface="Calibri" panose="020F0502020204030204" pitchFamily="34" charset="0"/>
              </a:rPr>
              <a:t>Infrastructure as Code (</a:t>
            </a:r>
            <a:r>
              <a:rPr lang="en-IN" sz="2800" b="1" i="0" u="none" strike="noStrike" kern="1200" dirty="0" err="1">
                <a:solidFill>
                  <a:srgbClr val="002060"/>
                </a:solidFill>
                <a:effectLst/>
                <a:latin typeface="Calibri" panose="020F0502020204030204" pitchFamily="34" charset="0"/>
              </a:rPr>
              <a:t>IaC</a:t>
            </a:r>
            <a:r>
              <a:rPr lang="en-IN" sz="2800" b="1" i="0" u="none" strike="noStrike" kern="1200" dirty="0">
                <a:solidFill>
                  <a:srgbClr val="002060"/>
                </a:solidFill>
                <a:effectLst/>
                <a:latin typeface="Calibri" panose="020F0502020204030204" pitchFamily="34" charset="0"/>
              </a:rPr>
              <a:t>) - Defining Your AWS Resources (Part 2)</a:t>
            </a:r>
            <a:endParaRPr lang="en-IN" sz="2800" b="0" i="0" u="none" strike="noStrike" dirty="0">
              <a:solidFill>
                <a:srgbClr val="002060"/>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A3B1498F-B6A6-774F-5C28-E22B4B7B9FB7}"/>
              </a:ext>
            </a:extLst>
          </p:cNvPr>
          <p:cNvSpPr>
            <a:spLocks noGrp="1"/>
          </p:cNvSpPr>
          <p:nvPr>
            <p:ph idx="1"/>
          </p:nvPr>
        </p:nvSpPr>
        <p:spPr/>
        <p:txBody>
          <a:bodyPr/>
          <a:lstStyle/>
          <a:p>
            <a:pPr>
              <a:buFont typeface="Arial" panose="020B0604020202020204" pitchFamily="34" charset="0"/>
              <a:buChar char="•"/>
            </a:pPr>
            <a:r>
              <a:rPr lang="en-IN" sz="2000" u="none" strike="noStrike" kern="1200" dirty="0">
                <a:solidFill>
                  <a:schemeClr val="dk1"/>
                </a:solidFill>
                <a:effectLst/>
                <a:latin typeface="+mn-lt"/>
                <a:ea typeface="+mn-ea"/>
                <a:cs typeface="+mn-cs"/>
              </a:rPr>
              <a:t>Defining a VPC, subnets, and routing tables within a CloudFormation template. Emphasizing network isolation and control (VPC, subnets, and routing tables )</a:t>
            </a:r>
          </a:p>
          <a:p>
            <a:pPr>
              <a:buFont typeface="Arial" panose="020B0604020202020204" pitchFamily="34" charset="0"/>
              <a:buChar char="•"/>
            </a:pPr>
            <a:r>
              <a:rPr lang="en-IN" dirty="0">
                <a:solidFill>
                  <a:schemeClr val="dk1"/>
                </a:solidFill>
              </a:rPr>
              <a:t>I</a:t>
            </a:r>
            <a:r>
              <a:rPr lang="en-IN" sz="2000" u="none" strike="noStrike" kern="1200" dirty="0">
                <a:solidFill>
                  <a:schemeClr val="dk1"/>
                </a:solidFill>
                <a:effectLst/>
                <a:latin typeface="+mn-lt"/>
                <a:ea typeface="+mn-ea"/>
                <a:cs typeface="+mn-cs"/>
              </a:rPr>
              <a:t>llustrating how to define a CloudFront distribution, linking it to an S3 bucket or EC2 as an origin.</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34362639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E9023-EB58-4BA1-2FC4-789BC8D7B66A}"/>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2.2</a:t>
            </a:r>
            <a:br>
              <a:rPr lang="en-IN" sz="2800" b="0" i="0" u="none" strike="noStrike" dirty="0">
                <a:solidFill>
                  <a:srgbClr val="002060"/>
                </a:solidFill>
                <a:effectLst/>
                <a:latin typeface="Arial" panose="020B0604020202020204" pitchFamily="34" charset="0"/>
              </a:rPr>
            </a:br>
            <a:r>
              <a:rPr lang="en-IN" sz="2800" b="1" i="0" u="none" strike="noStrike" kern="1200" dirty="0">
                <a:solidFill>
                  <a:srgbClr val="002060"/>
                </a:solidFill>
                <a:effectLst/>
                <a:latin typeface="Calibri" panose="020F0502020204030204" pitchFamily="34" charset="0"/>
              </a:rPr>
              <a:t>Infrastructure as Code (</a:t>
            </a:r>
            <a:r>
              <a:rPr lang="en-IN" sz="2800" b="1" i="0" u="none" strike="noStrike" kern="1200" dirty="0" err="1">
                <a:solidFill>
                  <a:srgbClr val="002060"/>
                </a:solidFill>
                <a:effectLst/>
                <a:latin typeface="Calibri" panose="020F0502020204030204" pitchFamily="34" charset="0"/>
              </a:rPr>
              <a:t>IaC</a:t>
            </a:r>
            <a:r>
              <a:rPr lang="en-IN" sz="2800" b="1" i="0" u="none" strike="noStrike" kern="1200" dirty="0">
                <a:solidFill>
                  <a:srgbClr val="002060"/>
                </a:solidFill>
                <a:effectLst/>
                <a:latin typeface="Calibri" panose="020F0502020204030204" pitchFamily="34" charset="0"/>
              </a:rPr>
              <a:t>) - Defining Your AWS Resources (Part 2)</a:t>
            </a:r>
            <a:endParaRPr lang="en-IN" sz="2800" dirty="0"/>
          </a:p>
        </p:txBody>
      </p:sp>
      <p:sp>
        <p:nvSpPr>
          <p:cNvPr id="3" name="Content Placeholder 2">
            <a:extLst>
              <a:ext uri="{FF2B5EF4-FFF2-40B4-BE49-F238E27FC236}">
                <a16:creationId xmlns:a16="http://schemas.microsoft.com/office/drawing/2014/main" id="{71DEA3D0-FEE2-68C3-FCDC-C28A4E5CD64E}"/>
              </a:ext>
            </a:extLst>
          </p:cNvPr>
          <p:cNvSpPr>
            <a:spLocks noGrp="1"/>
          </p:cNvSpPr>
          <p:nvPr>
            <p:ph idx="1"/>
          </p:nvPr>
        </p:nvSpPr>
        <p:spPr/>
        <p:txBody>
          <a:bodyPr/>
          <a:lstStyle/>
          <a:p>
            <a:r>
              <a:rPr lang="en-IN" sz="2000" b="1" u="none" strike="noStrike" kern="1200" dirty="0">
                <a:solidFill>
                  <a:srgbClr val="002060"/>
                </a:solidFill>
                <a:effectLst/>
                <a:latin typeface="+mn-lt"/>
                <a:ea typeface="+mn-ea"/>
                <a:cs typeface="+mn-cs"/>
              </a:rPr>
              <a:t>Defining a VPC, subnets, and routing tables within a CloudFormation template; </a:t>
            </a:r>
          </a:p>
          <a:p>
            <a:endParaRPr lang="en-IN" b="1" dirty="0">
              <a:solidFill>
                <a:srgbClr val="002060"/>
              </a:solidFill>
            </a:endParaRPr>
          </a:p>
          <a:p>
            <a:r>
              <a:rPr lang="en-IN" sz="2000" b="1" u="none" strike="noStrike" kern="1200" dirty="0">
                <a:solidFill>
                  <a:srgbClr val="002060"/>
                </a:solidFill>
                <a:effectLst/>
                <a:latin typeface="+mn-lt"/>
                <a:ea typeface="+mn-ea"/>
                <a:cs typeface="+mn-cs"/>
              </a:rPr>
              <a:t>VPC</a:t>
            </a:r>
          </a:p>
          <a:p>
            <a:r>
              <a:rPr lang="en-IN" dirty="0">
                <a:solidFill>
                  <a:srgbClr val="002060"/>
                </a:solidFill>
              </a:rPr>
              <a:t>Internet Gateway </a:t>
            </a:r>
          </a:p>
          <a:p>
            <a:r>
              <a:rPr lang="en-IN" dirty="0">
                <a:solidFill>
                  <a:srgbClr val="002060"/>
                </a:solidFill>
              </a:rPr>
              <a:t>Attach internet gateway.</a:t>
            </a:r>
          </a:p>
          <a:p>
            <a:r>
              <a:rPr lang="en-IN" b="1" dirty="0">
                <a:solidFill>
                  <a:srgbClr val="002060"/>
                </a:solidFill>
              </a:rPr>
              <a:t>Subnet (public /Private )</a:t>
            </a:r>
          </a:p>
          <a:p>
            <a:r>
              <a:rPr lang="en-IN" b="1" dirty="0">
                <a:solidFill>
                  <a:srgbClr val="002060"/>
                </a:solidFill>
              </a:rPr>
              <a:t>Route Table &gt;Route(define path of internet /</a:t>
            </a:r>
            <a:r>
              <a:rPr lang="en-IN" b="1" dirty="0" err="1">
                <a:solidFill>
                  <a:srgbClr val="002060"/>
                </a:solidFill>
              </a:rPr>
              <a:t>nat</a:t>
            </a:r>
            <a:r>
              <a:rPr lang="en-IN" b="1" dirty="0">
                <a:solidFill>
                  <a:srgbClr val="002060"/>
                </a:solidFill>
              </a:rPr>
              <a:t> </a:t>
            </a:r>
            <a:r>
              <a:rPr lang="en-IN" b="1" dirty="0" err="1">
                <a:solidFill>
                  <a:srgbClr val="002060"/>
                </a:solidFill>
              </a:rPr>
              <a:t>gatway</a:t>
            </a:r>
            <a:r>
              <a:rPr lang="en-IN" b="1" dirty="0">
                <a:solidFill>
                  <a:srgbClr val="002060"/>
                </a:solidFill>
              </a:rPr>
              <a:t> &gt; route association(to route table and subnet)</a:t>
            </a:r>
          </a:p>
          <a:p>
            <a:endParaRPr lang="en-IN" b="1" dirty="0">
              <a:solidFill>
                <a:srgbClr val="002060"/>
              </a:solidFill>
            </a:endParaRPr>
          </a:p>
          <a:p>
            <a:endParaRPr lang="en-IN" dirty="0">
              <a:solidFill>
                <a:srgbClr val="002060"/>
              </a:solidFill>
            </a:endParaRPr>
          </a:p>
          <a:p>
            <a:endParaRPr lang="en-IN" sz="2000" b="1" u="none" strike="noStrike" kern="1200" dirty="0">
              <a:solidFill>
                <a:srgbClr val="002060"/>
              </a:solidFill>
              <a:effectLst/>
              <a:latin typeface="+mn-lt"/>
              <a:ea typeface="+mn-ea"/>
              <a:cs typeface="+mn-cs"/>
            </a:endParaRPr>
          </a:p>
        </p:txBody>
      </p:sp>
    </p:spTree>
    <p:extLst>
      <p:ext uri="{BB962C8B-B14F-4D97-AF65-F5344CB8AC3E}">
        <p14:creationId xmlns:p14="http://schemas.microsoft.com/office/powerpoint/2010/main" val="34347797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1A06A-82ED-157C-516A-AD5C98F0606D}"/>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2.2</a:t>
            </a:r>
            <a:br>
              <a:rPr lang="en-IN" sz="2800" b="0" i="0" u="none" strike="noStrike" dirty="0">
                <a:solidFill>
                  <a:srgbClr val="002060"/>
                </a:solidFill>
                <a:effectLst/>
                <a:latin typeface="Arial" panose="020B0604020202020204" pitchFamily="34" charset="0"/>
              </a:rPr>
            </a:br>
            <a:r>
              <a:rPr lang="en-IN" sz="2800" b="1" i="0" u="none" strike="noStrike" kern="1200" dirty="0">
                <a:solidFill>
                  <a:srgbClr val="002060"/>
                </a:solidFill>
                <a:effectLst/>
                <a:latin typeface="Calibri" panose="020F0502020204030204" pitchFamily="34" charset="0"/>
              </a:rPr>
              <a:t>Infrastructure as Code (</a:t>
            </a:r>
            <a:r>
              <a:rPr lang="en-IN" sz="2800" b="1" i="0" u="none" strike="noStrike" kern="1200" dirty="0" err="1">
                <a:solidFill>
                  <a:srgbClr val="002060"/>
                </a:solidFill>
                <a:effectLst/>
                <a:latin typeface="Calibri" panose="020F0502020204030204" pitchFamily="34" charset="0"/>
              </a:rPr>
              <a:t>IaC</a:t>
            </a:r>
            <a:r>
              <a:rPr lang="en-IN" sz="2800" b="1" i="0" u="none" strike="noStrike" kern="1200" dirty="0">
                <a:solidFill>
                  <a:srgbClr val="002060"/>
                </a:solidFill>
                <a:effectLst/>
                <a:latin typeface="Calibri" panose="020F0502020204030204" pitchFamily="34" charset="0"/>
              </a:rPr>
              <a:t>) - Defining Your AWS Resources (Part 2)</a:t>
            </a:r>
            <a:endParaRPr lang="en-IN" sz="2800" dirty="0"/>
          </a:p>
        </p:txBody>
      </p:sp>
      <p:sp>
        <p:nvSpPr>
          <p:cNvPr id="3" name="Content Placeholder 2">
            <a:extLst>
              <a:ext uri="{FF2B5EF4-FFF2-40B4-BE49-F238E27FC236}">
                <a16:creationId xmlns:a16="http://schemas.microsoft.com/office/drawing/2014/main" id="{73B9F44D-09BE-DE07-FF5D-2957662D5E99}"/>
              </a:ext>
            </a:extLst>
          </p:cNvPr>
          <p:cNvSpPr>
            <a:spLocks noGrp="1"/>
          </p:cNvSpPr>
          <p:nvPr>
            <p:ph idx="1"/>
          </p:nvPr>
        </p:nvSpPr>
        <p:spPr/>
        <p:txBody>
          <a:bodyPr/>
          <a:lstStyle/>
          <a:p>
            <a:r>
              <a:rPr lang="en-IN" b="1" dirty="0">
                <a:solidFill>
                  <a:srgbClr val="002060"/>
                </a:solidFill>
              </a:rPr>
              <a:t>I</a:t>
            </a:r>
            <a:r>
              <a:rPr lang="en-IN" sz="2000" b="1" u="none" strike="noStrike" kern="1200" dirty="0">
                <a:solidFill>
                  <a:srgbClr val="002060"/>
                </a:solidFill>
                <a:effectLst/>
                <a:latin typeface="+mn-lt"/>
                <a:ea typeface="+mn-ea"/>
                <a:cs typeface="+mn-cs"/>
              </a:rPr>
              <a:t>llustrating how to define a CloudFront distribution, linking it to an S3 bucket or EC2 as an origin.</a:t>
            </a:r>
          </a:p>
          <a:p>
            <a:endParaRPr lang="en-IN" dirty="0"/>
          </a:p>
        </p:txBody>
      </p:sp>
      <p:pic>
        <p:nvPicPr>
          <p:cNvPr id="4" name="Content Placeholder 4">
            <a:extLst>
              <a:ext uri="{FF2B5EF4-FFF2-40B4-BE49-F238E27FC236}">
                <a16:creationId xmlns:a16="http://schemas.microsoft.com/office/drawing/2014/main" id="{929E7EA8-0ACE-C2EC-5D61-DD327B8E684C}"/>
              </a:ext>
            </a:extLst>
          </p:cNvPr>
          <p:cNvPicPr>
            <a:picLocks noChangeAspect="1"/>
          </p:cNvPicPr>
          <p:nvPr/>
        </p:nvPicPr>
        <p:blipFill>
          <a:blip r:embed="rId2"/>
          <a:stretch>
            <a:fillRect/>
          </a:stretch>
        </p:blipFill>
        <p:spPr>
          <a:xfrm>
            <a:off x="1270534" y="2752825"/>
            <a:ext cx="9885145" cy="3224643"/>
          </a:xfrm>
          <a:prstGeom prst="rect">
            <a:avLst/>
          </a:prstGeom>
        </p:spPr>
      </p:pic>
    </p:spTree>
    <p:extLst>
      <p:ext uri="{BB962C8B-B14F-4D97-AF65-F5344CB8AC3E}">
        <p14:creationId xmlns:p14="http://schemas.microsoft.com/office/powerpoint/2010/main" val="37761583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1D64A-C1BA-6439-3CA2-A4A4D737EFA2}"/>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2.1</a:t>
            </a:r>
            <a:br>
              <a:rPr lang="en-IN" sz="2800" b="0" i="0" u="none" strike="noStrike" dirty="0">
                <a:solidFill>
                  <a:srgbClr val="002060"/>
                </a:solidFill>
                <a:effectLst/>
                <a:latin typeface="Arial" panose="020B0604020202020204" pitchFamily="34" charset="0"/>
              </a:rPr>
            </a:br>
            <a:r>
              <a:rPr lang="en-IN" sz="2800" b="1" dirty="0">
                <a:solidFill>
                  <a:srgbClr val="002060"/>
                </a:solidFill>
                <a:latin typeface="Calibri" panose="020F0502020204030204" pitchFamily="34" charset="0"/>
              </a:rPr>
              <a:t>Infrastructure as Code (</a:t>
            </a:r>
            <a:r>
              <a:rPr lang="en-IN" sz="2800" b="1" dirty="0" err="1">
                <a:solidFill>
                  <a:srgbClr val="002060"/>
                </a:solidFill>
                <a:latin typeface="Calibri" panose="020F0502020204030204" pitchFamily="34" charset="0"/>
              </a:rPr>
              <a:t>IaC</a:t>
            </a:r>
            <a:r>
              <a:rPr lang="en-IN" sz="2800" b="1" dirty="0">
                <a:solidFill>
                  <a:srgbClr val="002060"/>
                </a:solidFill>
                <a:latin typeface="Calibri" panose="020F0502020204030204" pitchFamily="34" charset="0"/>
              </a:rPr>
              <a:t>) - Defining Your AWS Resources (Part 1)</a:t>
            </a:r>
            <a:br>
              <a:rPr lang="en-IN" sz="2800" b="0" i="0" u="none" strike="noStrike" dirty="0">
                <a:solidFill>
                  <a:srgbClr val="000000"/>
                </a:solidFill>
                <a:effectLst/>
                <a:latin typeface="Calibri" panose="020F0502020204030204" pitchFamily="34" charset="0"/>
              </a:rPr>
            </a:br>
            <a:endParaRPr lang="en-IN" sz="2800" dirty="0"/>
          </a:p>
        </p:txBody>
      </p:sp>
      <p:sp>
        <p:nvSpPr>
          <p:cNvPr id="3" name="Content Placeholder 2">
            <a:extLst>
              <a:ext uri="{FF2B5EF4-FFF2-40B4-BE49-F238E27FC236}">
                <a16:creationId xmlns:a16="http://schemas.microsoft.com/office/drawing/2014/main" id="{57B150D8-EEA9-3A38-FA52-EF4AF1DBC33A}"/>
              </a:ext>
            </a:extLst>
          </p:cNvPr>
          <p:cNvSpPr>
            <a:spLocks noGrp="1"/>
          </p:cNvSpPr>
          <p:nvPr>
            <p:ph idx="1"/>
          </p:nvPr>
        </p:nvSpPr>
        <p:spPr>
          <a:xfrm>
            <a:off x="1097280" y="1845733"/>
            <a:ext cx="10058400" cy="4651319"/>
          </a:xfrm>
        </p:spPr>
        <p:txBody>
          <a:bodyPr/>
          <a:lstStyle/>
          <a:p>
            <a:pPr marL="0" indent="0">
              <a:buNone/>
            </a:pPr>
            <a:r>
              <a:rPr lang="en-IN" sz="1800" dirty="0">
                <a:solidFill>
                  <a:srgbClr val="000000"/>
                </a:solidFill>
                <a:latin typeface="Calibri" panose="020F0502020204030204" pitchFamily="34" charset="0"/>
              </a:rPr>
              <a:t> </a:t>
            </a:r>
            <a:r>
              <a:rPr lang="en-IN" sz="1800" b="1" dirty="0">
                <a:solidFill>
                  <a:srgbClr val="002060"/>
                </a:solidFill>
                <a:latin typeface="Calibri" panose="020F0502020204030204" pitchFamily="34" charset="0"/>
              </a:rPr>
              <a:t>Mapping:   </a:t>
            </a:r>
            <a:r>
              <a:rPr lang="en-US" sz="1600" dirty="0">
                <a:effectLst/>
              </a:rPr>
              <a:t>Mappings are a way to define key-value pairs in a CloudFormation template to store static values that can be referenced based on specific conditions, such as AWS regions, environments, or instance types. They are useful for avoiding hardcoded values and making templates more portable.</a:t>
            </a:r>
          </a:p>
          <a:p>
            <a:pPr marL="0" indent="0">
              <a:buNone/>
            </a:pPr>
            <a:r>
              <a:rPr lang="en-IN" sz="1800" b="1" dirty="0">
                <a:solidFill>
                  <a:srgbClr val="002060"/>
                </a:solidFill>
                <a:latin typeface="Calibri" panose="020F0502020204030204" pitchFamily="34" charset="0"/>
              </a:rPr>
              <a:t>                                           </a:t>
            </a:r>
            <a:endParaRPr lang="en-IN" b="1" dirty="0">
              <a:solidFill>
                <a:srgbClr val="002060"/>
              </a:solidFill>
            </a:endParaRPr>
          </a:p>
        </p:txBody>
      </p:sp>
      <p:pic>
        <p:nvPicPr>
          <p:cNvPr id="5" name="Picture 4">
            <a:extLst>
              <a:ext uri="{FF2B5EF4-FFF2-40B4-BE49-F238E27FC236}">
                <a16:creationId xmlns:a16="http://schemas.microsoft.com/office/drawing/2014/main" id="{04FF37B3-B216-7965-D88E-599517B163B6}"/>
              </a:ext>
            </a:extLst>
          </p:cNvPr>
          <p:cNvPicPr>
            <a:picLocks noChangeAspect="1"/>
          </p:cNvPicPr>
          <p:nvPr/>
        </p:nvPicPr>
        <p:blipFill>
          <a:blip r:embed="rId2"/>
          <a:stretch>
            <a:fillRect/>
          </a:stretch>
        </p:blipFill>
        <p:spPr>
          <a:xfrm>
            <a:off x="1097280" y="2618072"/>
            <a:ext cx="6509311" cy="3657600"/>
          </a:xfrm>
          <a:prstGeom prst="rect">
            <a:avLst/>
          </a:prstGeom>
        </p:spPr>
      </p:pic>
    </p:spTree>
    <p:extLst>
      <p:ext uri="{BB962C8B-B14F-4D97-AF65-F5344CB8AC3E}">
        <p14:creationId xmlns:p14="http://schemas.microsoft.com/office/powerpoint/2010/main" val="24185349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CF58-5EE7-226F-0B12-939F166ADBCA}"/>
              </a:ext>
            </a:extLst>
          </p:cNvPr>
          <p:cNvSpPr>
            <a:spLocks noGrp="1"/>
          </p:cNvSpPr>
          <p:nvPr>
            <p:ph type="title"/>
          </p:nvPr>
        </p:nvSpPr>
        <p:spPr/>
        <p:txBody>
          <a:bodyPr>
            <a:normAutofit/>
          </a:bodyPr>
          <a:lstStyle/>
          <a:p>
            <a:pPr marL="0" rtl="0" eaLnBrk="1" fontAlgn="ctr" latinLnBrk="0" hangingPunct="1">
              <a:spcBef>
                <a:spcPts val="0"/>
              </a:spcBef>
              <a:spcAft>
                <a:spcPts val="0"/>
              </a:spcAft>
            </a:pPr>
            <a:r>
              <a:rPr lang="en-IN" sz="2400" b="1" i="0" u="none" strike="noStrike" kern="1200" dirty="0">
                <a:solidFill>
                  <a:srgbClr val="002060"/>
                </a:solidFill>
                <a:effectLst/>
                <a:latin typeface="Calibri" panose="020F0502020204030204" pitchFamily="34" charset="0"/>
              </a:rPr>
              <a:t>Week 3.1</a:t>
            </a:r>
            <a:br>
              <a:rPr lang="en-IN" sz="2400" b="0" i="0" u="none" strike="noStrike" dirty="0">
                <a:solidFill>
                  <a:srgbClr val="002060"/>
                </a:solidFill>
                <a:effectLst/>
                <a:latin typeface="Arial" panose="020B0604020202020204" pitchFamily="34" charset="0"/>
              </a:rPr>
            </a:br>
            <a:r>
              <a:rPr lang="en-IN" sz="2400" b="1" i="0" u="none" strike="noStrike" kern="1200" dirty="0">
                <a:solidFill>
                  <a:srgbClr val="002060"/>
                </a:solidFill>
                <a:effectLst/>
                <a:latin typeface="Calibri" panose="020F0502020204030204" pitchFamily="34" charset="0"/>
              </a:rPr>
              <a:t>Building Your First Deployment Pipeline - CloudFormation</a:t>
            </a:r>
            <a:br>
              <a:rPr lang="en-IN" sz="2400" b="0" i="0" u="none" strike="noStrike" dirty="0">
                <a:solidFill>
                  <a:srgbClr val="002060"/>
                </a:solidFill>
                <a:effectLst/>
                <a:latin typeface="Arial" panose="020B0604020202020204" pitchFamily="34" charset="0"/>
              </a:rPr>
            </a:br>
            <a:endParaRPr lang="en-IN" sz="2400" dirty="0">
              <a:solidFill>
                <a:srgbClr val="002060"/>
              </a:solidFill>
            </a:endParaRPr>
          </a:p>
        </p:txBody>
      </p:sp>
      <p:sp>
        <p:nvSpPr>
          <p:cNvPr id="3" name="Content Placeholder 2">
            <a:extLst>
              <a:ext uri="{FF2B5EF4-FFF2-40B4-BE49-F238E27FC236}">
                <a16:creationId xmlns:a16="http://schemas.microsoft.com/office/drawing/2014/main" id="{AD09EB14-3056-3141-863A-F12210035814}"/>
              </a:ext>
            </a:extLst>
          </p:cNvPr>
          <p:cNvSpPr>
            <a:spLocks noGrp="1"/>
          </p:cNvSpPr>
          <p:nvPr>
            <p:ph idx="1"/>
          </p:nvPr>
        </p:nvSpPr>
        <p:spPr/>
        <p:txBody>
          <a:bodyPr/>
          <a:lstStyle/>
          <a:p>
            <a:r>
              <a:rPr lang="en-IN" sz="2000" u="none" strike="noStrike" kern="1200" dirty="0">
                <a:solidFill>
                  <a:schemeClr val="dk1"/>
                </a:solidFill>
                <a:effectLst/>
                <a:latin typeface="+mn-lt"/>
                <a:ea typeface="+mn-ea"/>
                <a:cs typeface="+mn-cs"/>
              </a:rPr>
              <a:t>Hands-on demonstration: Creating an Azure DevOps pipeline; </a:t>
            </a:r>
          </a:p>
          <a:p>
            <a:r>
              <a:rPr lang="en-IN" sz="2000" u="none" strike="noStrike" kern="1200" dirty="0">
                <a:solidFill>
                  <a:schemeClr val="dk1"/>
                </a:solidFill>
                <a:effectLst/>
                <a:latin typeface="+mn-lt"/>
                <a:ea typeface="+mn-ea"/>
                <a:cs typeface="+mn-cs"/>
              </a:rPr>
              <a:t>Deploying a simple CloudFormation stack (e.g., EC2 instance or basic VPC setup); </a:t>
            </a:r>
          </a:p>
          <a:p>
            <a:r>
              <a:rPr lang="en-IN" sz="2000" u="none" strike="noStrike" kern="1200" dirty="0">
                <a:solidFill>
                  <a:schemeClr val="dk1"/>
                </a:solidFill>
                <a:effectLst/>
                <a:latin typeface="+mn-lt"/>
                <a:ea typeface="+mn-ea"/>
                <a:cs typeface="+mn-cs"/>
              </a:rPr>
              <a:t>Key steps: Source control, build, release definition.</a:t>
            </a:r>
            <a:endParaRPr lang="en-IN" dirty="0">
              <a:solidFill>
                <a:schemeClr val="dk1"/>
              </a:solidFill>
            </a:endParaRPr>
          </a:p>
          <a:p>
            <a:pPr>
              <a:spcBef>
                <a:spcPts val="2250"/>
              </a:spcBef>
              <a:spcAft>
                <a:spcPts val="1350"/>
              </a:spcAft>
            </a:pPr>
            <a:r>
              <a:rPr lang="en-IN" sz="1800" b="1" dirty="0">
                <a:solidFill>
                  <a:srgbClr val="161616"/>
                </a:solidFill>
                <a:effectLst/>
                <a:latin typeface="Segoe UI" panose="020B0502040204020203" pitchFamily="34" charset="0"/>
                <a:ea typeface="Times New Roman" panose="02020603050405020304" pitchFamily="18" charset="0"/>
              </a:rPr>
              <a:t>Articles about DevOps and CI/CD?</a:t>
            </a:r>
            <a:endParaRPr lang="en-IN" sz="1800" b="1" dirty="0">
              <a:effectLst/>
              <a:latin typeface="Times New Roman" panose="02020603050405020304" pitchFamily="18" charset="0"/>
              <a:ea typeface="Times New Roman" panose="02020603050405020304" pitchFamily="18" charset="0"/>
            </a:endParaRPr>
          </a:p>
          <a:p>
            <a:r>
              <a:rPr lang="en-IN" sz="1800" u="sng" dirty="0">
                <a:solidFill>
                  <a:srgbClr val="115EA3"/>
                </a:solidFill>
                <a:effectLst/>
                <a:latin typeface="Segoe UI" panose="020B0502040204020203" pitchFamily="34" charset="0"/>
                <a:ea typeface="Times New Roman" panose="02020603050405020304" pitchFamily="18" charset="0"/>
                <a:hlinkClick r:id="rId2"/>
              </a:rPr>
              <a:t>What is Continuous Integration?</a:t>
            </a:r>
            <a:r>
              <a:rPr lang="en-IN" sz="1800" u="sng" dirty="0">
                <a:solidFill>
                  <a:srgbClr val="115EA3"/>
                </a:solidFill>
                <a:effectLst/>
                <a:latin typeface="Segoe UI" panose="020B0502040204020203" pitchFamily="34" charset="0"/>
                <a:ea typeface="Times New Roman" panose="02020603050405020304" pitchFamily="18" charset="0"/>
              </a:rPr>
              <a:t>: (</a:t>
            </a:r>
            <a:r>
              <a:rPr lang="en-US" sz="1600" b="0" i="0" dirty="0">
                <a:solidFill>
                  <a:srgbClr val="161616"/>
                </a:solidFill>
                <a:effectLst/>
                <a:latin typeface="Segoe UI" panose="020B0502040204020203" pitchFamily="34" charset="0"/>
              </a:rPr>
              <a:t>automatically building and testing code every time a team member commits code changes to </a:t>
            </a:r>
            <a:r>
              <a:rPr lang="en-US" sz="1600" dirty="0">
                <a:solidFill>
                  <a:srgbClr val="161616"/>
                </a:solidFill>
                <a:latin typeface="Segoe UI" panose="020B0502040204020203" pitchFamily="34" charset="0"/>
                <a:hlinkClick r:id="rId3">
                  <a:extLst>
                    <a:ext uri="{A12FA001-AC4F-418D-AE19-62706E023703}">
                      <ahyp:hlinkClr xmlns:ahyp="http://schemas.microsoft.com/office/drawing/2018/hyperlinkcolor" val="tx"/>
                    </a:ext>
                  </a:extLst>
                </a:hlinkClick>
              </a:rPr>
              <a:t>version control</a:t>
            </a:r>
            <a:r>
              <a:rPr lang="en-US" sz="1600" dirty="0">
                <a:solidFill>
                  <a:srgbClr val="161616"/>
                </a:solidFill>
                <a:latin typeface="Segoe UI" panose="020B0502040204020203" pitchFamily="34" charset="0"/>
              </a:rPr>
              <a:t>)</a:t>
            </a:r>
            <a:endParaRPr lang="en-IN" sz="1600" dirty="0">
              <a:solidFill>
                <a:srgbClr val="161616"/>
              </a:solidFill>
              <a:latin typeface="Segoe UI" panose="020B0502040204020203" pitchFamily="34" charset="0"/>
            </a:endParaRPr>
          </a:p>
          <a:p>
            <a:r>
              <a:rPr lang="en-IN" sz="1800" u="sng" dirty="0">
                <a:solidFill>
                  <a:srgbClr val="0065B3"/>
                </a:solidFill>
                <a:effectLst/>
                <a:latin typeface="Segoe UI" panose="020B0502040204020203" pitchFamily="34" charset="0"/>
                <a:ea typeface="Times New Roman" panose="02020603050405020304" pitchFamily="18" charset="0"/>
                <a:hlinkClick r:id="rId4"/>
              </a:rPr>
              <a:t>What is Continuous Delivery?</a:t>
            </a:r>
            <a:r>
              <a:rPr lang="en-IN" sz="1800" u="sng" dirty="0">
                <a:solidFill>
                  <a:srgbClr val="0065B3"/>
                </a:solidFill>
                <a:effectLst/>
                <a:latin typeface="Segoe UI" panose="020B0502040204020203" pitchFamily="34" charset="0"/>
                <a:ea typeface="Times New Roman" panose="02020603050405020304" pitchFamily="18" charset="0"/>
              </a:rPr>
              <a:t>: (</a:t>
            </a:r>
            <a:r>
              <a:rPr lang="en-US" sz="1600" b="0" i="0" dirty="0">
                <a:solidFill>
                  <a:srgbClr val="161616"/>
                </a:solidFill>
                <a:effectLst/>
                <a:latin typeface="Segoe UI" panose="020B0502040204020203" pitchFamily="34" charset="0"/>
              </a:rPr>
              <a:t>automating build, test, configuration, and deployment from a build to a production environment.)</a:t>
            </a:r>
            <a:endParaRPr lang="en-IN" sz="1800" dirty="0">
              <a:effectLst/>
              <a:latin typeface="Times New Roman" panose="02020603050405020304" pitchFamily="18" charset="0"/>
              <a:ea typeface="Times New Roman" panose="02020603050405020304" pitchFamily="18" charset="0"/>
            </a:endParaRPr>
          </a:p>
          <a:p>
            <a:r>
              <a:rPr lang="en-IN" sz="1800" u="sng" dirty="0">
                <a:solidFill>
                  <a:srgbClr val="115EA3"/>
                </a:solidFill>
                <a:effectLst/>
                <a:latin typeface="Segoe UI" panose="020B0502040204020203" pitchFamily="34" charset="0"/>
                <a:ea typeface="Times New Roman" panose="02020603050405020304" pitchFamily="18" charset="0"/>
                <a:hlinkClick r:id="rId5"/>
              </a:rPr>
              <a:t>What is DevOps?</a:t>
            </a:r>
            <a:r>
              <a:rPr lang="en-IN" sz="1800" u="sng" dirty="0">
                <a:solidFill>
                  <a:srgbClr val="115EA3"/>
                </a:solidFill>
                <a:effectLst/>
                <a:latin typeface="Segoe UI" panose="020B0502040204020203" pitchFamily="34" charset="0"/>
                <a:ea typeface="Times New Roman" panose="02020603050405020304" pitchFamily="18" charset="0"/>
              </a:rPr>
              <a:t> : (</a:t>
            </a:r>
            <a:r>
              <a:rPr lang="en-US" sz="1600" b="0" i="0" dirty="0">
                <a:solidFill>
                  <a:srgbClr val="000000"/>
                </a:solidFill>
                <a:effectLst/>
                <a:latin typeface="Segoe UI" panose="020B0502040204020203" pitchFamily="34" charset="0"/>
              </a:rPr>
              <a:t>union of people, process, and technology to continually provide value to customers.)</a:t>
            </a:r>
            <a:endParaRPr lang="en-IN" sz="1800" dirty="0">
              <a:effectLst/>
              <a:latin typeface="Times New Roman" panose="02020603050405020304" pitchFamily="18" charset="0"/>
              <a:ea typeface="Times New Roman" panose="02020603050405020304" pitchFamily="18" charset="0"/>
            </a:endParaRPr>
          </a:p>
          <a:p>
            <a:endParaRPr lang="en-IN" sz="2000" u="none" strike="noStrike" kern="1200" dirty="0">
              <a:solidFill>
                <a:schemeClr val="dk1"/>
              </a:solidFill>
              <a:effectLst/>
              <a:latin typeface="+mn-lt"/>
              <a:ea typeface="+mn-ea"/>
              <a:cs typeface="+mn-cs"/>
            </a:endParaRPr>
          </a:p>
          <a:p>
            <a:endParaRPr lang="en-IN" dirty="0"/>
          </a:p>
        </p:txBody>
      </p:sp>
    </p:spTree>
    <p:extLst>
      <p:ext uri="{BB962C8B-B14F-4D97-AF65-F5344CB8AC3E}">
        <p14:creationId xmlns:p14="http://schemas.microsoft.com/office/powerpoint/2010/main" val="13230488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CF58-5EE7-226F-0B12-939F166ADBCA}"/>
              </a:ext>
            </a:extLst>
          </p:cNvPr>
          <p:cNvSpPr>
            <a:spLocks noGrp="1"/>
          </p:cNvSpPr>
          <p:nvPr>
            <p:ph type="title"/>
          </p:nvPr>
        </p:nvSpPr>
        <p:spPr/>
        <p:txBody>
          <a:bodyPr>
            <a:normAutofit/>
          </a:bodyPr>
          <a:lstStyle/>
          <a:p>
            <a:pPr marL="0" rtl="0" eaLnBrk="1" fontAlgn="ctr" latinLnBrk="0" hangingPunct="1">
              <a:spcBef>
                <a:spcPts val="0"/>
              </a:spcBef>
              <a:spcAft>
                <a:spcPts val="0"/>
              </a:spcAft>
            </a:pPr>
            <a:r>
              <a:rPr lang="en-IN" sz="2400" b="1" i="0" u="none" strike="noStrike" kern="1200" dirty="0">
                <a:solidFill>
                  <a:srgbClr val="002060"/>
                </a:solidFill>
                <a:effectLst/>
                <a:latin typeface="Calibri" panose="020F0502020204030204" pitchFamily="34" charset="0"/>
              </a:rPr>
              <a:t>Week 3.1</a:t>
            </a:r>
            <a:br>
              <a:rPr lang="en-IN" sz="2400" b="0" i="0" u="none" strike="noStrike" dirty="0">
                <a:solidFill>
                  <a:srgbClr val="002060"/>
                </a:solidFill>
                <a:effectLst/>
                <a:latin typeface="Arial" panose="020B0604020202020204" pitchFamily="34" charset="0"/>
              </a:rPr>
            </a:br>
            <a:r>
              <a:rPr lang="en-IN" sz="2400" b="1" i="0" u="none" strike="noStrike" kern="1200" dirty="0">
                <a:solidFill>
                  <a:srgbClr val="002060"/>
                </a:solidFill>
                <a:effectLst/>
                <a:latin typeface="Calibri" panose="020F0502020204030204" pitchFamily="34" charset="0"/>
              </a:rPr>
              <a:t>Building Your First Deployment Pipeline - CloudFormation</a:t>
            </a:r>
            <a:br>
              <a:rPr lang="en-IN" sz="2400" b="0" i="0" u="none" strike="noStrike" dirty="0">
                <a:solidFill>
                  <a:srgbClr val="002060"/>
                </a:solidFill>
                <a:effectLst/>
                <a:latin typeface="Arial" panose="020B0604020202020204" pitchFamily="34" charset="0"/>
              </a:rPr>
            </a:br>
            <a:endParaRPr lang="en-IN" sz="2400" dirty="0">
              <a:solidFill>
                <a:srgbClr val="002060"/>
              </a:solidFill>
            </a:endParaRPr>
          </a:p>
        </p:txBody>
      </p:sp>
      <p:sp>
        <p:nvSpPr>
          <p:cNvPr id="3" name="Content Placeholder 2">
            <a:extLst>
              <a:ext uri="{FF2B5EF4-FFF2-40B4-BE49-F238E27FC236}">
                <a16:creationId xmlns:a16="http://schemas.microsoft.com/office/drawing/2014/main" id="{AD09EB14-3056-3141-863A-F12210035814}"/>
              </a:ext>
            </a:extLst>
          </p:cNvPr>
          <p:cNvSpPr>
            <a:spLocks noGrp="1"/>
          </p:cNvSpPr>
          <p:nvPr>
            <p:ph idx="1"/>
          </p:nvPr>
        </p:nvSpPr>
        <p:spPr/>
        <p:txBody>
          <a:bodyPr>
            <a:normAutofit fontScale="92500" lnSpcReduction="10000"/>
          </a:bodyPr>
          <a:lstStyle/>
          <a:p>
            <a:r>
              <a:rPr lang="en-IN" sz="2000" b="1" u="none" strike="noStrike" kern="1200" dirty="0">
                <a:solidFill>
                  <a:srgbClr val="002060"/>
                </a:solidFill>
                <a:effectLst/>
                <a:latin typeface="+mn-lt"/>
                <a:ea typeface="+mn-ea"/>
                <a:cs typeface="+mn-cs"/>
              </a:rPr>
              <a:t>Hands-on demonstration: Creating an Azure DevOps pipeline</a:t>
            </a:r>
          </a:p>
          <a:p>
            <a:pPr>
              <a:buFont typeface="Arial" panose="020B0604020202020204" pitchFamily="34" charset="0"/>
              <a:buChar char="•"/>
            </a:pPr>
            <a:r>
              <a:rPr lang="en-IN" dirty="0"/>
              <a:t>Install AWS toolkit on azured DevOps organization.</a:t>
            </a:r>
          </a:p>
          <a:p>
            <a:pPr marL="0" indent="0">
              <a:buNone/>
            </a:pPr>
            <a:r>
              <a:rPr lang="en-IN" sz="1500" dirty="0"/>
              <a:t>&gt;&gt;&gt;(AZURE ORGANIZATION&gt;MARKETPLACE&gt;AWS TOOLKIT)</a:t>
            </a:r>
          </a:p>
          <a:p>
            <a:pPr>
              <a:buFont typeface="Arial" panose="020B0604020202020204" pitchFamily="34" charset="0"/>
              <a:buChar char="•"/>
            </a:pPr>
            <a:r>
              <a:rPr lang="en-US" dirty="0">
                <a:effectLst/>
              </a:rPr>
              <a:t>Creation of OpenID Connect (OIDC)(by creating the IAM role) to utilized in service connection.</a:t>
            </a:r>
          </a:p>
          <a:p>
            <a:pPr marL="0" indent="0">
              <a:buNone/>
            </a:pPr>
            <a:r>
              <a:rPr lang="en-US" dirty="0"/>
              <a:t>(follow the below documentation to federate into AWS from Azure DevOps using OpenID Connect . </a:t>
            </a:r>
            <a:r>
              <a:rPr lang="en-IN" sz="1800" u="sng" dirty="0">
                <a:solidFill>
                  <a:srgbClr val="0000FF"/>
                </a:solidFill>
                <a:effectLst/>
                <a:latin typeface="Times New Roman" panose="02020603050405020304" pitchFamily="18" charset="0"/>
                <a:ea typeface="Times New Roman" panose="02020603050405020304" pitchFamily="18" charset="0"/>
                <a:hlinkClick r:id="rId2"/>
              </a:rPr>
              <a:t>How to federate into AWS from Azure DevOps using OpenID Connect | Microsoft Workloads on AWS</a:t>
            </a:r>
            <a:endParaRPr lang="en-IN" dirty="0"/>
          </a:p>
          <a:p>
            <a:pPr>
              <a:buFont typeface="Arial" panose="020B0604020202020204" pitchFamily="34" charset="0"/>
              <a:buChar char="•"/>
            </a:pPr>
            <a:r>
              <a:rPr lang="en-US" dirty="0">
                <a:effectLst/>
              </a:rPr>
              <a:t>AWS Service Connection in Azure DevOps:</a:t>
            </a:r>
          </a:p>
          <a:p>
            <a:pPr marL="0" indent="0">
              <a:buNone/>
            </a:pPr>
            <a:r>
              <a:rPr lang="en-US" dirty="0">
                <a:effectLst/>
              </a:rPr>
              <a:t>    1.Go to Project Settings &gt; Service Connections &gt; New service connection.</a:t>
            </a:r>
          </a:p>
          <a:p>
            <a:pPr marL="0" indent="0">
              <a:buNone/>
            </a:pPr>
            <a:r>
              <a:rPr lang="en-US" dirty="0">
                <a:effectLst/>
              </a:rPr>
              <a:t>    2.Select AWS and choose OpenID Connect (OIDC).</a:t>
            </a:r>
          </a:p>
          <a:p>
            <a:pPr marL="0" indent="0">
              <a:buNone/>
            </a:pPr>
            <a:r>
              <a:rPr lang="en-US" dirty="0"/>
              <a:t>        </a:t>
            </a:r>
          </a:p>
        </p:txBody>
      </p:sp>
    </p:spTree>
    <p:extLst>
      <p:ext uri="{BB962C8B-B14F-4D97-AF65-F5344CB8AC3E}">
        <p14:creationId xmlns:p14="http://schemas.microsoft.com/office/powerpoint/2010/main" val="36383249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CF58-5EE7-226F-0B12-939F166ADBCA}"/>
              </a:ext>
            </a:extLst>
          </p:cNvPr>
          <p:cNvSpPr>
            <a:spLocks noGrp="1"/>
          </p:cNvSpPr>
          <p:nvPr>
            <p:ph type="title"/>
          </p:nvPr>
        </p:nvSpPr>
        <p:spPr/>
        <p:txBody>
          <a:bodyPr>
            <a:normAutofit/>
          </a:bodyPr>
          <a:lstStyle/>
          <a:p>
            <a:pPr marL="0" rtl="0" eaLnBrk="1" fontAlgn="ctr" latinLnBrk="0" hangingPunct="1">
              <a:spcBef>
                <a:spcPts val="0"/>
              </a:spcBef>
              <a:spcAft>
                <a:spcPts val="0"/>
              </a:spcAft>
            </a:pPr>
            <a:r>
              <a:rPr lang="en-IN" sz="2400" b="1" i="0" u="none" strike="noStrike" kern="1200" dirty="0">
                <a:solidFill>
                  <a:srgbClr val="002060"/>
                </a:solidFill>
                <a:effectLst/>
                <a:latin typeface="Calibri" panose="020F0502020204030204" pitchFamily="34" charset="0"/>
              </a:rPr>
              <a:t>Week 3.1</a:t>
            </a:r>
            <a:br>
              <a:rPr lang="en-IN" sz="2400" b="0" i="0" u="none" strike="noStrike" dirty="0">
                <a:solidFill>
                  <a:srgbClr val="002060"/>
                </a:solidFill>
                <a:effectLst/>
                <a:latin typeface="Arial" panose="020B0604020202020204" pitchFamily="34" charset="0"/>
              </a:rPr>
            </a:br>
            <a:r>
              <a:rPr lang="en-IN" sz="2400" b="1" i="0" u="none" strike="noStrike" kern="1200" dirty="0">
                <a:solidFill>
                  <a:srgbClr val="002060"/>
                </a:solidFill>
                <a:effectLst/>
                <a:latin typeface="Calibri" panose="020F0502020204030204" pitchFamily="34" charset="0"/>
              </a:rPr>
              <a:t>Building Your First Deployment Pipeline - CloudFormation</a:t>
            </a:r>
            <a:br>
              <a:rPr lang="en-IN" sz="2400" b="0" i="0" u="none" strike="noStrike" dirty="0">
                <a:solidFill>
                  <a:srgbClr val="002060"/>
                </a:solidFill>
                <a:effectLst/>
                <a:latin typeface="Arial" panose="020B0604020202020204" pitchFamily="34" charset="0"/>
              </a:rPr>
            </a:br>
            <a:endParaRPr lang="en-IN" sz="2400" dirty="0">
              <a:solidFill>
                <a:srgbClr val="002060"/>
              </a:solidFill>
            </a:endParaRPr>
          </a:p>
        </p:txBody>
      </p:sp>
      <p:sp>
        <p:nvSpPr>
          <p:cNvPr id="3" name="Content Placeholder 2">
            <a:extLst>
              <a:ext uri="{FF2B5EF4-FFF2-40B4-BE49-F238E27FC236}">
                <a16:creationId xmlns:a16="http://schemas.microsoft.com/office/drawing/2014/main" id="{AD09EB14-3056-3141-863A-F12210035814}"/>
              </a:ext>
            </a:extLst>
          </p:cNvPr>
          <p:cNvSpPr>
            <a:spLocks noGrp="1"/>
          </p:cNvSpPr>
          <p:nvPr>
            <p:ph idx="1"/>
          </p:nvPr>
        </p:nvSpPr>
        <p:spPr>
          <a:xfrm>
            <a:off x="1097280" y="1845733"/>
            <a:ext cx="10058400" cy="4725663"/>
          </a:xfrm>
        </p:spPr>
        <p:txBody>
          <a:bodyPr>
            <a:normAutofit lnSpcReduction="10000"/>
          </a:bodyPr>
          <a:lstStyle/>
          <a:p>
            <a:r>
              <a:rPr lang="en-IN" b="1" u="none" strike="noStrike" kern="1200" dirty="0">
                <a:solidFill>
                  <a:schemeClr val="dk1"/>
                </a:solidFill>
                <a:effectLst/>
                <a:latin typeface="+mn-lt"/>
                <a:ea typeface="+mn-ea"/>
                <a:cs typeface="+mn-cs"/>
              </a:rPr>
              <a:t>De</a:t>
            </a:r>
            <a:r>
              <a:rPr lang="en-IN" b="1" u="none" strike="noStrike" kern="1200" dirty="0">
                <a:solidFill>
                  <a:srgbClr val="002060"/>
                </a:solidFill>
                <a:effectLst/>
                <a:latin typeface="+mn-lt"/>
                <a:ea typeface="+mn-ea"/>
                <a:cs typeface="+mn-cs"/>
              </a:rPr>
              <a:t>ploying a simple CloudFormation stack (e.g., EC2 instance or basic VPC setup)</a:t>
            </a:r>
          </a:p>
          <a:p>
            <a:r>
              <a:rPr lang="en-IN" dirty="0"/>
              <a:t>Creation of YAML CI / CD Azure Pipeline :</a:t>
            </a:r>
          </a:p>
          <a:p>
            <a:pPr>
              <a:buFont typeface="Arial" panose="020B0604020202020204" pitchFamily="34" charset="0"/>
              <a:buChar char="•"/>
            </a:pPr>
            <a:r>
              <a:rPr lang="en-IN" dirty="0"/>
              <a:t>Choose repository.</a:t>
            </a:r>
          </a:p>
          <a:p>
            <a:pPr>
              <a:buFont typeface="Arial" panose="020B0604020202020204" pitchFamily="34" charset="0"/>
              <a:buChar char="•"/>
            </a:pPr>
            <a:r>
              <a:rPr lang="en-IN" dirty="0"/>
              <a:t>Select project under repository.</a:t>
            </a:r>
          </a:p>
          <a:p>
            <a:pPr>
              <a:buFont typeface="Arial" panose="020B0604020202020204" pitchFamily="34" charset="0"/>
              <a:buChar char="•"/>
            </a:pPr>
            <a:r>
              <a:rPr lang="en-IN" dirty="0"/>
              <a:t>Select type of pipeline (with existing or new file )and configure the </a:t>
            </a:r>
            <a:r>
              <a:rPr lang="en-IN" b="1" dirty="0"/>
              <a:t>task</a:t>
            </a:r>
            <a:r>
              <a:rPr lang="en-IN" dirty="0"/>
              <a:t> under pipeline.</a:t>
            </a:r>
          </a:p>
          <a:p>
            <a:pPr>
              <a:buFont typeface="Arial" panose="020B0604020202020204" pitchFamily="34" charset="0"/>
              <a:buChar char="•"/>
            </a:pPr>
            <a:r>
              <a:rPr lang="en-US" b="1" dirty="0"/>
              <a:t>Key Components</a:t>
            </a:r>
            <a:r>
              <a:rPr lang="en-US" dirty="0"/>
              <a:t>: </a:t>
            </a:r>
          </a:p>
          <a:p>
            <a:pPr lvl="1">
              <a:buFont typeface="Arial" panose="020B0604020202020204" pitchFamily="34" charset="0"/>
              <a:buChar char="•"/>
            </a:pPr>
            <a:r>
              <a:rPr lang="en-US" b="1" dirty="0"/>
              <a:t>Triggers</a:t>
            </a:r>
            <a:r>
              <a:rPr lang="en-US" dirty="0"/>
              <a:t>: Run the pipeline on code pushes or pull requests.</a:t>
            </a:r>
          </a:p>
          <a:p>
            <a:pPr lvl="1">
              <a:buFont typeface="Arial" panose="020B0604020202020204" pitchFamily="34" charset="0"/>
              <a:buChar char="•"/>
            </a:pPr>
            <a:r>
              <a:rPr lang="en-US" dirty="0"/>
              <a:t>Set the </a:t>
            </a:r>
            <a:r>
              <a:rPr lang="en-US" b="1" dirty="0"/>
              <a:t>pull request</a:t>
            </a:r>
            <a:r>
              <a:rPr lang="en-US" dirty="0"/>
              <a:t>.</a:t>
            </a:r>
          </a:p>
          <a:p>
            <a:pPr lvl="1">
              <a:buFont typeface="Arial" panose="020B0604020202020204" pitchFamily="34" charset="0"/>
              <a:buChar char="•"/>
            </a:pPr>
            <a:r>
              <a:rPr lang="en-US" b="1" dirty="0"/>
              <a:t>Variables</a:t>
            </a:r>
            <a:r>
              <a:rPr lang="en-US" dirty="0"/>
              <a:t>: Store configuration details (e.g., AWS region, stack name).</a:t>
            </a:r>
          </a:p>
          <a:p>
            <a:pPr marL="201168" lvl="1" indent="0">
              <a:buNone/>
            </a:pPr>
            <a:r>
              <a:rPr lang="en-US" b="1" dirty="0"/>
              <a:t>Jobs:</a:t>
            </a:r>
          </a:p>
          <a:p>
            <a:pPr lvl="1">
              <a:buFont typeface="Arial" panose="020B0604020202020204" pitchFamily="34" charset="0"/>
              <a:buChar char="•"/>
            </a:pPr>
            <a:r>
              <a:rPr lang="en-US" b="1" dirty="0"/>
              <a:t>CI Job</a:t>
            </a:r>
            <a:r>
              <a:rPr lang="en-US" dirty="0"/>
              <a:t>: Validates the template using AWS CLI.</a:t>
            </a:r>
          </a:p>
          <a:p>
            <a:pPr lvl="1">
              <a:buFont typeface="Arial" panose="020B0604020202020204" pitchFamily="34" charset="0"/>
              <a:buChar char="•"/>
            </a:pPr>
            <a:r>
              <a:rPr lang="en-US" b="1" dirty="0"/>
              <a:t>CD Job</a:t>
            </a:r>
            <a:r>
              <a:rPr lang="en-US" dirty="0"/>
              <a:t>: Deploys the stack using AWS CLI, with an approval gate.</a:t>
            </a:r>
          </a:p>
          <a:p>
            <a:pPr marL="201168" lvl="1" indent="0">
              <a:buNone/>
            </a:pPr>
            <a:r>
              <a:rPr lang="en-IN" sz="1800" u="sng" dirty="0">
                <a:solidFill>
                  <a:srgbClr val="0000FF"/>
                </a:solidFill>
                <a:effectLst/>
                <a:latin typeface="Times New Roman" panose="02020603050405020304" pitchFamily="18" charset="0"/>
                <a:ea typeface="Times New Roman" panose="02020603050405020304" pitchFamily="18" charset="0"/>
                <a:hlinkClick r:id="rId2"/>
              </a:rPr>
              <a:t>https://learn.microsoft.com/en-us/azure/devops/pipelines/yaml-schema?view=azure-devops</a:t>
            </a:r>
            <a:endParaRPr lang="en-IN" sz="1800" dirty="0">
              <a:effectLst/>
              <a:latin typeface="Times New Roman" panose="02020603050405020304" pitchFamily="18" charset="0"/>
              <a:ea typeface="Times New Roman" panose="02020603050405020304" pitchFamily="18" charset="0"/>
            </a:endParaRPr>
          </a:p>
          <a:p>
            <a:pPr marL="201168" lvl="1" indent="0">
              <a:buNone/>
            </a:pPr>
            <a:endParaRPr lang="en-US" dirty="0"/>
          </a:p>
        </p:txBody>
      </p:sp>
    </p:spTree>
    <p:extLst>
      <p:ext uri="{BB962C8B-B14F-4D97-AF65-F5344CB8AC3E}">
        <p14:creationId xmlns:p14="http://schemas.microsoft.com/office/powerpoint/2010/main" val="15390620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CF58-5EE7-226F-0B12-939F166ADBCA}"/>
              </a:ext>
            </a:extLst>
          </p:cNvPr>
          <p:cNvSpPr>
            <a:spLocks noGrp="1"/>
          </p:cNvSpPr>
          <p:nvPr>
            <p:ph type="title"/>
          </p:nvPr>
        </p:nvSpPr>
        <p:spPr/>
        <p:txBody>
          <a:bodyPr>
            <a:normAutofit/>
          </a:bodyPr>
          <a:lstStyle/>
          <a:p>
            <a:pPr marL="0" rtl="0" eaLnBrk="1" fontAlgn="ctr" latinLnBrk="0" hangingPunct="1">
              <a:spcBef>
                <a:spcPts val="0"/>
              </a:spcBef>
              <a:spcAft>
                <a:spcPts val="0"/>
              </a:spcAft>
            </a:pPr>
            <a:r>
              <a:rPr lang="en-IN" sz="2400" b="1" i="0" u="none" strike="noStrike" kern="1200" dirty="0">
                <a:solidFill>
                  <a:srgbClr val="002060"/>
                </a:solidFill>
                <a:effectLst/>
                <a:latin typeface="Calibri" panose="020F0502020204030204" pitchFamily="34" charset="0"/>
              </a:rPr>
              <a:t>Week 3.1</a:t>
            </a:r>
            <a:br>
              <a:rPr lang="en-IN" sz="2400" b="0" i="0" u="none" strike="noStrike" dirty="0">
                <a:solidFill>
                  <a:srgbClr val="002060"/>
                </a:solidFill>
                <a:effectLst/>
                <a:latin typeface="Arial" panose="020B0604020202020204" pitchFamily="34" charset="0"/>
              </a:rPr>
            </a:br>
            <a:r>
              <a:rPr lang="en-IN" sz="2400" b="1" i="0" u="none" strike="noStrike" kern="1200" dirty="0">
                <a:solidFill>
                  <a:srgbClr val="002060"/>
                </a:solidFill>
                <a:effectLst/>
                <a:latin typeface="Calibri" panose="020F0502020204030204" pitchFamily="34" charset="0"/>
              </a:rPr>
              <a:t>Building Your First Deployment Pipeline - CloudFormation</a:t>
            </a:r>
            <a:br>
              <a:rPr lang="en-IN" sz="2400" b="0" i="0" u="none" strike="noStrike" dirty="0">
                <a:solidFill>
                  <a:srgbClr val="002060"/>
                </a:solidFill>
                <a:effectLst/>
                <a:latin typeface="Arial" panose="020B0604020202020204" pitchFamily="34" charset="0"/>
              </a:rPr>
            </a:br>
            <a:endParaRPr lang="en-IN" sz="2400" dirty="0">
              <a:solidFill>
                <a:srgbClr val="002060"/>
              </a:solidFill>
            </a:endParaRPr>
          </a:p>
        </p:txBody>
      </p:sp>
      <p:sp>
        <p:nvSpPr>
          <p:cNvPr id="3" name="Content Placeholder 2">
            <a:extLst>
              <a:ext uri="{FF2B5EF4-FFF2-40B4-BE49-F238E27FC236}">
                <a16:creationId xmlns:a16="http://schemas.microsoft.com/office/drawing/2014/main" id="{AD09EB14-3056-3141-863A-F12210035814}"/>
              </a:ext>
            </a:extLst>
          </p:cNvPr>
          <p:cNvSpPr>
            <a:spLocks noGrp="1"/>
          </p:cNvSpPr>
          <p:nvPr>
            <p:ph idx="1"/>
          </p:nvPr>
        </p:nvSpPr>
        <p:spPr/>
        <p:txBody>
          <a:bodyPr/>
          <a:lstStyle/>
          <a:p>
            <a:r>
              <a:rPr lang="en-IN" b="1" i="0" dirty="0">
                <a:solidFill>
                  <a:srgbClr val="161616"/>
                </a:solidFill>
                <a:effectLst/>
                <a:latin typeface="Segoe UI" panose="020B0502040204020203" pitchFamily="34" charset="0"/>
              </a:rPr>
              <a:t>Examples</a:t>
            </a:r>
          </a:p>
          <a:p>
            <a:endParaRPr lang="en-IN" dirty="0"/>
          </a:p>
        </p:txBody>
      </p:sp>
      <p:pic>
        <p:nvPicPr>
          <p:cNvPr id="7" name="Picture 6">
            <a:extLst>
              <a:ext uri="{FF2B5EF4-FFF2-40B4-BE49-F238E27FC236}">
                <a16:creationId xmlns:a16="http://schemas.microsoft.com/office/drawing/2014/main" id="{0E0B6DEC-9D98-7518-C054-E3ECF10B9ACD}"/>
              </a:ext>
            </a:extLst>
          </p:cNvPr>
          <p:cNvPicPr>
            <a:picLocks noChangeAspect="1"/>
          </p:cNvPicPr>
          <p:nvPr/>
        </p:nvPicPr>
        <p:blipFill>
          <a:blip r:embed="rId2"/>
          <a:stretch>
            <a:fillRect/>
          </a:stretch>
        </p:blipFill>
        <p:spPr>
          <a:xfrm>
            <a:off x="1097280" y="2319567"/>
            <a:ext cx="5658141" cy="3397425"/>
          </a:xfrm>
          <a:prstGeom prst="rect">
            <a:avLst/>
          </a:prstGeom>
        </p:spPr>
      </p:pic>
    </p:spTree>
    <p:extLst>
      <p:ext uri="{BB962C8B-B14F-4D97-AF65-F5344CB8AC3E}">
        <p14:creationId xmlns:p14="http://schemas.microsoft.com/office/powerpoint/2010/main" val="10690666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CF58-5EE7-226F-0B12-939F166ADBCA}"/>
              </a:ext>
            </a:extLst>
          </p:cNvPr>
          <p:cNvSpPr>
            <a:spLocks noGrp="1"/>
          </p:cNvSpPr>
          <p:nvPr>
            <p:ph type="title"/>
          </p:nvPr>
        </p:nvSpPr>
        <p:spPr/>
        <p:txBody>
          <a:bodyPr>
            <a:normAutofit/>
          </a:bodyPr>
          <a:lstStyle/>
          <a:p>
            <a:pPr marL="0" rtl="0" eaLnBrk="1" fontAlgn="ctr" latinLnBrk="0" hangingPunct="1">
              <a:spcBef>
                <a:spcPts val="0"/>
              </a:spcBef>
              <a:spcAft>
                <a:spcPts val="0"/>
              </a:spcAft>
            </a:pPr>
            <a:r>
              <a:rPr lang="en-IN" sz="2400" b="1" i="0" u="none" strike="noStrike" kern="1200" dirty="0">
                <a:solidFill>
                  <a:srgbClr val="002060"/>
                </a:solidFill>
                <a:effectLst/>
                <a:latin typeface="Calibri" panose="020F0502020204030204" pitchFamily="34" charset="0"/>
              </a:rPr>
              <a:t>Week 3.1</a:t>
            </a:r>
            <a:br>
              <a:rPr lang="en-IN" sz="2400" b="0" i="0" u="none" strike="noStrike" dirty="0">
                <a:solidFill>
                  <a:srgbClr val="002060"/>
                </a:solidFill>
                <a:effectLst/>
                <a:latin typeface="Arial" panose="020B0604020202020204" pitchFamily="34" charset="0"/>
              </a:rPr>
            </a:br>
            <a:r>
              <a:rPr lang="en-IN" sz="2400" b="1" i="0" u="none" strike="noStrike" kern="1200" dirty="0">
                <a:solidFill>
                  <a:srgbClr val="002060"/>
                </a:solidFill>
                <a:effectLst/>
                <a:latin typeface="Calibri" panose="020F0502020204030204" pitchFamily="34" charset="0"/>
              </a:rPr>
              <a:t>Building Your First Deployment Pipeline - CloudFormation</a:t>
            </a:r>
            <a:br>
              <a:rPr lang="en-IN" sz="2400" b="0" i="0" u="none" strike="noStrike" dirty="0">
                <a:solidFill>
                  <a:srgbClr val="002060"/>
                </a:solidFill>
                <a:effectLst/>
                <a:latin typeface="Arial" panose="020B0604020202020204" pitchFamily="34" charset="0"/>
              </a:rPr>
            </a:br>
            <a:endParaRPr lang="en-IN" sz="2400" dirty="0">
              <a:solidFill>
                <a:srgbClr val="002060"/>
              </a:solidFill>
            </a:endParaRPr>
          </a:p>
        </p:txBody>
      </p:sp>
      <p:sp>
        <p:nvSpPr>
          <p:cNvPr id="3" name="Content Placeholder 2">
            <a:extLst>
              <a:ext uri="{FF2B5EF4-FFF2-40B4-BE49-F238E27FC236}">
                <a16:creationId xmlns:a16="http://schemas.microsoft.com/office/drawing/2014/main" id="{AD09EB14-3056-3141-863A-F12210035814}"/>
              </a:ext>
            </a:extLst>
          </p:cNvPr>
          <p:cNvSpPr>
            <a:spLocks noGrp="1"/>
          </p:cNvSpPr>
          <p:nvPr>
            <p:ph idx="1"/>
          </p:nvPr>
        </p:nvSpPr>
        <p:spPr>
          <a:xfrm>
            <a:off x="1097280" y="1845733"/>
            <a:ext cx="10058400" cy="5094082"/>
          </a:xfrm>
        </p:spPr>
        <p:txBody>
          <a:bodyPr>
            <a:normAutofit fontScale="25000" lnSpcReduction="20000"/>
          </a:bodyPr>
          <a:lstStyle/>
          <a:p>
            <a:r>
              <a:rPr lang="en-US" sz="5500" b="1" dirty="0">
                <a:solidFill>
                  <a:srgbClr val="002060"/>
                </a:solidFill>
              </a:rPr>
              <a:t>Steps To write the Basic </a:t>
            </a:r>
            <a:r>
              <a:rPr lang="en-US" sz="5500" b="1" dirty="0" err="1">
                <a:solidFill>
                  <a:srgbClr val="002060"/>
                </a:solidFill>
              </a:rPr>
              <a:t>yaml</a:t>
            </a:r>
            <a:r>
              <a:rPr lang="en-US" sz="5500" b="1" dirty="0">
                <a:solidFill>
                  <a:srgbClr val="002060"/>
                </a:solidFill>
              </a:rPr>
              <a:t> pipeline for CI/CD CloudFormation execution.</a:t>
            </a:r>
          </a:p>
          <a:p>
            <a:pPr>
              <a:buFont typeface="Arial" panose="020B0604020202020204" pitchFamily="34" charset="0"/>
              <a:buChar char="•"/>
            </a:pPr>
            <a:r>
              <a:rPr lang="en-US" sz="5600" dirty="0"/>
              <a:t>To set the trigger on branch as per your requirement.</a:t>
            </a:r>
          </a:p>
          <a:p>
            <a:pPr>
              <a:buFont typeface="Arial" panose="020B0604020202020204" pitchFamily="34" charset="0"/>
              <a:buChar char="•"/>
            </a:pPr>
            <a:r>
              <a:rPr lang="en-US" sz="5600" dirty="0"/>
              <a:t>Set the pr.</a:t>
            </a:r>
          </a:p>
          <a:p>
            <a:pPr>
              <a:buFont typeface="Arial" panose="020B0604020202020204" pitchFamily="34" charset="0"/>
              <a:buChar char="•"/>
            </a:pPr>
            <a:r>
              <a:rPr lang="en-US" sz="5600" dirty="0"/>
              <a:t>Set the pool as per our requirement .</a:t>
            </a:r>
          </a:p>
          <a:p>
            <a:pPr>
              <a:buFont typeface="Arial" panose="020B0604020202020204" pitchFamily="34" charset="0"/>
              <a:buChar char="•"/>
            </a:pPr>
            <a:r>
              <a:rPr lang="en-US" sz="5600" dirty="0"/>
              <a:t>Define the variables for CFT.</a:t>
            </a:r>
          </a:p>
          <a:p>
            <a:pPr>
              <a:buFont typeface="Arial" panose="020B0604020202020204" pitchFamily="34" charset="0"/>
              <a:buChar char="•"/>
            </a:pPr>
            <a:r>
              <a:rPr lang="en-US" sz="5600" dirty="0"/>
              <a:t>Define the jobs:</a:t>
            </a:r>
          </a:p>
          <a:p>
            <a:pPr lvl="1">
              <a:buFont typeface="Arial" panose="020B0604020202020204" pitchFamily="34" charset="0"/>
              <a:buChar char="•"/>
            </a:pPr>
            <a:r>
              <a:rPr lang="en-US" sz="5600" b="1" dirty="0"/>
              <a:t>For CI  </a:t>
            </a:r>
          </a:p>
          <a:p>
            <a:pPr lvl="2">
              <a:buFont typeface="Arial" panose="020B0604020202020204" pitchFamily="34" charset="0"/>
              <a:buChar char="•"/>
            </a:pPr>
            <a:r>
              <a:rPr lang="en-US" sz="5600" dirty="0"/>
              <a:t>Define CI as jobs with labels(display name)</a:t>
            </a:r>
          </a:p>
          <a:p>
            <a:pPr lvl="2">
              <a:buFont typeface="Arial" panose="020B0604020202020204" pitchFamily="34" charset="0"/>
              <a:buChar char="•"/>
            </a:pPr>
            <a:r>
              <a:rPr lang="en-US" sz="5600" b="1" dirty="0"/>
              <a:t>Steps</a:t>
            </a:r>
            <a:r>
              <a:rPr lang="en-US" sz="5600" dirty="0"/>
              <a:t> required for self </a:t>
            </a:r>
            <a:r>
              <a:rPr lang="en-US" sz="5600" b="1" dirty="0"/>
              <a:t>checkout</a:t>
            </a:r>
            <a:r>
              <a:rPr lang="en-US" sz="5600" dirty="0"/>
              <a:t>  of codes  and </a:t>
            </a:r>
            <a:r>
              <a:rPr lang="en-US" sz="5600" b="1" dirty="0"/>
              <a:t>task</a:t>
            </a:r>
            <a:r>
              <a:rPr lang="en-US" sz="5600" dirty="0"/>
              <a:t> for </a:t>
            </a:r>
            <a:r>
              <a:rPr lang="en-US" sz="5600" dirty="0" err="1"/>
              <a:t>AWSshellscript</a:t>
            </a:r>
            <a:r>
              <a:rPr lang="en-US" sz="5600" dirty="0"/>
              <a:t> to </a:t>
            </a:r>
            <a:r>
              <a:rPr lang="en-US" sz="5600" b="1" dirty="0"/>
              <a:t>v</a:t>
            </a:r>
            <a:r>
              <a:rPr lang="en-IN" sz="5600" b="1" dirty="0" err="1"/>
              <a:t>alidate</a:t>
            </a:r>
            <a:r>
              <a:rPr lang="en-IN" sz="5600" b="1" dirty="0"/>
              <a:t> CloudFormation Template</a:t>
            </a:r>
            <a:r>
              <a:rPr lang="en-US" sz="5600" dirty="0"/>
              <a:t>.</a:t>
            </a:r>
          </a:p>
          <a:p>
            <a:pPr lvl="2">
              <a:buFont typeface="Arial" panose="020B0604020202020204" pitchFamily="34" charset="0"/>
              <a:buChar char="•"/>
            </a:pPr>
            <a:r>
              <a:rPr lang="en-US" sz="5600" dirty="0"/>
              <a:t>Define the input and shell script command for </a:t>
            </a:r>
            <a:r>
              <a:rPr lang="en-US" sz="5600" dirty="0" err="1"/>
              <a:t>AWSshellcript</a:t>
            </a:r>
            <a:r>
              <a:rPr lang="en-US" sz="5600" dirty="0"/>
              <a:t> to validate the CFT.</a:t>
            </a:r>
          </a:p>
          <a:p>
            <a:pPr lvl="2">
              <a:buFont typeface="Arial" panose="020B0604020202020204" pitchFamily="34" charset="0"/>
              <a:buChar char="•"/>
            </a:pPr>
            <a:r>
              <a:rPr lang="en-IN" sz="6400" u="sng" dirty="0">
                <a:solidFill>
                  <a:srgbClr val="0000FF"/>
                </a:solidFill>
                <a:effectLst/>
                <a:latin typeface="Times New Roman" panose="02020603050405020304" pitchFamily="18" charset="0"/>
                <a:ea typeface="Times New Roman" panose="02020603050405020304" pitchFamily="18" charset="0"/>
                <a:hlinkClick r:id="rId2"/>
              </a:rPr>
              <a:t>https://docs.aws.amazon.com/cli/latest/reference/cloudformation/validate-template.html</a:t>
            </a:r>
            <a:r>
              <a:rPr lang="en-IN" sz="6400" u="sng" dirty="0">
                <a:solidFill>
                  <a:srgbClr val="0000FF"/>
                </a:solidFill>
                <a:effectLst/>
                <a:latin typeface="Times New Roman" panose="02020603050405020304" pitchFamily="18" charset="0"/>
                <a:ea typeface="Times New Roman" panose="02020603050405020304" pitchFamily="18" charset="0"/>
              </a:rPr>
              <a:t> - </a:t>
            </a:r>
            <a:r>
              <a:rPr lang="en-US" sz="6400" dirty="0" err="1">
                <a:solidFill>
                  <a:schemeClr val="tx1"/>
                </a:solidFill>
                <a:effectLst/>
                <a:latin typeface="Times New Roman" panose="02020603050405020304" pitchFamily="18" charset="0"/>
                <a:ea typeface="Times New Roman" panose="02020603050405020304" pitchFamily="18" charset="0"/>
              </a:rPr>
              <a:t>aws</a:t>
            </a:r>
            <a:r>
              <a:rPr lang="en-US" sz="6400" dirty="0">
                <a:solidFill>
                  <a:schemeClr val="tx1"/>
                </a:solidFill>
                <a:effectLst/>
                <a:latin typeface="Times New Roman" panose="02020603050405020304" pitchFamily="18" charset="0"/>
                <a:ea typeface="Times New Roman" panose="02020603050405020304" pitchFamily="18" charset="0"/>
              </a:rPr>
              <a:t> shell script to validate the </a:t>
            </a:r>
            <a:r>
              <a:rPr lang="en-US" sz="6400" dirty="0" err="1">
                <a:solidFill>
                  <a:schemeClr val="tx1"/>
                </a:solidFill>
                <a:effectLst/>
                <a:latin typeface="Times New Roman" panose="02020603050405020304" pitchFamily="18" charset="0"/>
                <a:ea typeface="Times New Roman" panose="02020603050405020304" pitchFamily="18" charset="0"/>
              </a:rPr>
              <a:t>cloudformation</a:t>
            </a:r>
            <a:r>
              <a:rPr lang="en-US" sz="6400" dirty="0">
                <a:solidFill>
                  <a:schemeClr val="tx1"/>
                </a:solidFill>
                <a:effectLst/>
                <a:latin typeface="Times New Roman" panose="02020603050405020304" pitchFamily="18" charset="0"/>
                <a:ea typeface="Times New Roman" panose="02020603050405020304" pitchFamily="18" charset="0"/>
              </a:rPr>
              <a:t> validate-template command</a:t>
            </a:r>
            <a:endParaRPr lang="en-US" sz="5600" dirty="0">
              <a:solidFill>
                <a:schemeClr val="tx1"/>
              </a:solidFill>
            </a:endParaRPr>
          </a:p>
          <a:p>
            <a:pPr lvl="1">
              <a:buFont typeface="Arial" panose="020B0604020202020204" pitchFamily="34" charset="0"/>
              <a:buChar char="•"/>
            </a:pPr>
            <a:r>
              <a:rPr lang="en-US" sz="5600" b="1" dirty="0"/>
              <a:t>For CD</a:t>
            </a:r>
          </a:p>
          <a:p>
            <a:pPr lvl="2">
              <a:buFont typeface="Arial" panose="020B0604020202020204" pitchFamily="34" charset="0"/>
              <a:buChar char="•"/>
            </a:pPr>
            <a:r>
              <a:rPr lang="en-US" sz="5600" dirty="0"/>
              <a:t>Define deployment type with labels.</a:t>
            </a:r>
          </a:p>
          <a:p>
            <a:pPr lvl="2">
              <a:buFont typeface="Arial" panose="020B0604020202020204" pitchFamily="34" charset="0"/>
              <a:buChar char="•"/>
            </a:pPr>
            <a:r>
              <a:rPr lang="en-US" sz="5600" b="1" dirty="0"/>
              <a:t>Steps</a:t>
            </a:r>
            <a:r>
              <a:rPr lang="en-US" sz="5600" dirty="0"/>
              <a:t> required for self </a:t>
            </a:r>
            <a:r>
              <a:rPr lang="en-US" sz="5600" b="1" dirty="0"/>
              <a:t>checkout</a:t>
            </a:r>
            <a:r>
              <a:rPr lang="en-US" sz="5600" dirty="0"/>
              <a:t>  of codes  and </a:t>
            </a:r>
            <a:r>
              <a:rPr lang="en-US" sz="5600" b="1" dirty="0"/>
              <a:t>task</a:t>
            </a:r>
            <a:r>
              <a:rPr lang="en-US" sz="5600" dirty="0"/>
              <a:t> for </a:t>
            </a:r>
            <a:r>
              <a:rPr lang="en-US" sz="5600" dirty="0" err="1"/>
              <a:t>AWSshellscript</a:t>
            </a:r>
            <a:r>
              <a:rPr lang="en-US" sz="5600" dirty="0"/>
              <a:t> to </a:t>
            </a:r>
            <a:r>
              <a:rPr lang="en-IN" sz="5600" b="1" dirty="0"/>
              <a:t>Deploy CloudFormation Stack.</a:t>
            </a:r>
          </a:p>
          <a:p>
            <a:pPr lvl="2">
              <a:buFont typeface="Arial" panose="020B0604020202020204" pitchFamily="34" charset="0"/>
              <a:buChar char="•"/>
            </a:pPr>
            <a:r>
              <a:rPr lang="en-US" sz="5600" dirty="0"/>
              <a:t>Define the input and shell script command for </a:t>
            </a:r>
            <a:r>
              <a:rPr lang="en-US" sz="5600" dirty="0" err="1"/>
              <a:t>AWSshellcript</a:t>
            </a:r>
            <a:r>
              <a:rPr lang="en-US" sz="5600" dirty="0"/>
              <a:t> to validate the CFT.</a:t>
            </a:r>
            <a:endParaRPr lang="en-US" sz="5600" b="1" dirty="0"/>
          </a:p>
          <a:p>
            <a:pPr lvl="2">
              <a:buFont typeface="Arial" panose="020B0604020202020204" pitchFamily="34" charset="0"/>
              <a:buChar char="•"/>
            </a:pPr>
            <a:r>
              <a:rPr lang="en-US" sz="5600" dirty="0"/>
              <a:t>Dependencies.</a:t>
            </a:r>
          </a:p>
          <a:p>
            <a:pPr lvl="2">
              <a:buFont typeface="Arial" panose="020B0604020202020204" pitchFamily="34" charset="0"/>
              <a:buChar char="•"/>
            </a:pPr>
            <a:r>
              <a:rPr lang="en-US" sz="5600" dirty="0"/>
              <a:t>Condition</a:t>
            </a:r>
          </a:p>
          <a:p>
            <a:pPr lvl="2">
              <a:buFont typeface="Arial" panose="020B0604020202020204" pitchFamily="34" charset="0"/>
              <a:buChar char="•"/>
            </a:pPr>
            <a:endParaRPr lang="en-US" sz="5600" dirty="0"/>
          </a:p>
          <a:p>
            <a:pPr lvl="2">
              <a:buFont typeface="Arial" panose="020B0604020202020204" pitchFamily="34" charset="0"/>
              <a:buChar char="•"/>
            </a:pPr>
            <a:endParaRPr lang="en-US" sz="1200" dirty="0"/>
          </a:p>
          <a:p>
            <a:pPr lvl="2">
              <a:buFont typeface="Arial" panose="020B0604020202020204" pitchFamily="34" charset="0"/>
              <a:buChar char="•"/>
            </a:pPr>
            <a:endParaRPr lang="en-US" sz="1200" dirty="0"/>
          </a:p>
          <a:p>
            <a:pPr lvl="2">
              <a:buFont typeface="Arial" panose="020B0604020202020204" pitchFamily="34" charset="0"/>
              <a:buChar char="•"/>
            </a:pPr>
            <a:endParaRPr lang="en-US" sz="1200" dirty="0"/>
          </a:p>
          <a:p>
            <a:pPr marL="0" indent="0">
              <a:buNone/>
            </a:pPr>
            <a:r>
              <a:rPr lang="en-US" dirty="0"/>
              <a:t>   </a:t>
            </a:r>
          </a:p>
          <a:p>
            <a:pPr>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14494726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CF58-5EE7-226F-0B12-939F166ADBCA}"/>
              </a:ext>
            </a:extLst>
          </p:cNvPr>
          <p:cNvSpPr>
            <a:spLocks noGrp="1"/>
          </p:cNvSpPr>
          <p:nvPr>
            <p:ph type="title"/>
          </p:nvPr>
        </p:nvSpPr>
        <p:spPr/>
        <p:txBody>
          <a:bodyPr>
            <a:normAutofit/>
          </a:bodyPr>
          <a:lstStyle/>
          <a:p>
            <a:pPr marL="0" rtl="0" eaLnBrk="1" fontAlgn="ctr" latinLnBrk="0" hangingPunct="1">
              <a:spcBef>
                <a:spcPts val="0"/>
              </a:spcBef>
              <a:spcAft>
                <a:spcPts val="0"/>
              </a:spcAft>
            </a:pPr>
            <a:r>
              <a:rPr lang="en-IN" sz="2400" b="1" i="0" u="none" strike="noStrike" kern="1200" dirty="0">
                <a:solidFill>
                  <a:srgbClr val="002060"/>
                </a:solidFill>
                <a:effectLst/>
                <a:latin typeface="Calibri" panose="020F0502020204030204" pitchFamily="34" charset="0"/>
              </a:rPr>
              <a:t>Week 3.1</a:t>
            </a:r>
            <a:br>
              <a:rPr lang="en-IN" sz="2400" b="0" i="0" u="none" strike="noStrike" dirty="0">
                <a:solidFill>
                  <a:srgbClr val="002060"/>
                </a:solidFill>
                <a:effectLst/>
                <a:latin typeface="Arial" panose="020B0604020202020204" pitchFamily="34" charset="0"/>
              </a:rPr>
            </a:br>
            <a:r>
              <a:rPr lang="en-IN" sz="2400" b="1" i="0" u="none" strike="noStrike" kern="1200" dirty="0">
                <a:solidFill>
                  <a:srgbClr val="002060"/>
                </a:solidFill>
                <a:effectLst/>
                <a:latin typeface="Calibri" panose="020F0502020204030204" pitchFamily="34" charset="0"/>
              </a:rPr>
              <a:t>Building Your First Deployment Pipeline - CloudFormation</a:t>
            </a:r>
            <a:br>
              <a:rPr lang="en-IN" sz="2400" b="0" i="0" u="none" strike="noStrike" dirty="0">
                <a:solidFill>
                  <a:srgbClr val="002060"/>
                </a:solidFill>
                <a:effectLst/>
                <a:latin typeface="Arial" panose="020B0604020202020204" pitchFamily="34" charset="0"/>
              </a:rPr>
            </a:br>
            <a:endParaRPr lang="en-IN" sz="2400" dirty="0">
              <a:solidFill>
                <a:srgbClr val="002060"/>
              </a:solidFill>
            </a:endParaRPr>
          </a:p>
        </p:txBody>
      </p:sp>
      <p:sp>
        <p:nvSpPr>
          <p:cNvPr id="3" name="Content Placeholder 2">
            <a:extLst>
              <a:ext uri="{FF2B5EF4-FFF2-40B4-BE49-F238E27FC236}">
                <a16:creationId xmlns:a16="http://schemas.microsoft.com/office/drawing/2014/main" id="{AD09EB14-3056-3141-863A-F12210035814}"/>
              </a:ext>
            </a:extLst>
          </p:cNvPr>
          <p:cNvSpPr>
            <a:spLocks noGrp="1"/>
          </p:cNvSpPr>
          <p:nvPr>
            <p:ph idx="1"/>
          </p:nvPr>
        </p:nvSpPr>
        <p:spPr>
          <a:xfrm>
            <a:off x="1097280" y="1845733"/>
            <a:ext cx="10058400" cy="5094082"/>
          </a:xfrm>
        </p:spPr>
        <p:txBody>
          <a:bodyPr>
            <a:normAutofit fontScale="25000" lnSpcReduction="20000"/>
          </a:bodyPr>
          <a:lstStyle/>
          <a:p>
            <a:r>
              <a:rPr lang="en-US" sz="5500" b="1" dirty="0">
                <a:solidFill>
                  <a:srgbClr val="002060"/>
                </a:solidFill>
              </a:rPr>
              <a:t>Steps To write the Basic </a:t>
            </a:r>
            <a:r>
              <a:rPr lang="en-US" sz="5500" b="1" dirty="0" err="1">
                <a:solidFill>
                  <a:srgbClr val="002060"/>
                </a:solidFill>
              </a:rPr>
              <a:t>yaml</a:t>
            </a:r>
            <a:r>
              <a:rPr lang="en-US" sz="5500" b="1" dirty="0">
                <a:solidFill>
                  <a:srgbClr val="002060"/>
                </a:solidFill>
              </a:rPr>
              <a:t> pipeline for CI/CD CloudFormation execution.</a:t>
            </a:r>
          </a:p>
          <a:p>
            <a:pPr>
              <a:buFont typeface="Arial" panose="020B0604020202020204" pitchFamily="34" charset="0"/>
              <a:buChar char="•"/>
            </a:pPr>
            <a:r>
              <a:rPr lang="en-US" sz="5600" dirty="0"/>
              <a:t>To set the trigger on branch as per your requirement.</a:t>
            </a:r>
          </a:p>
          <a:p>
            <a:pPr>
              <a:buFont typeface="Arial" panose="020B0604020202020204" pitchFamily="34" charset="0"/>
              <a:buChar char="•"/>
            </a:pPr>
            <a:r>
              <a:rPr lang="en-US" sz="5600" dirty="0"/>
              <a:t>Set the pr.</a:t>
            </a:r>
          </a:p>
          <a:p>
            <a:pPr>
              <a:buFont typeface="Arial" panose="020B0604020202020204" pitchFamily="34" charset="0"/>
              <a:buChar char="•"/>
            </a:pPr>
            <a:r>
              <a:rPr lang="en-US" sz="5600" dirty="0"/>
              <a:t>Set the pool as per our requirement .</a:t>
            </a:r>
          </a:p>
          <a:p>
            <a:pPr>
              <a:buFont typeface="Arial" panose="020B0604020202020204" pitchFamily="34" charset="0"/>
              <a:buChar char="•"/>
            </a:pPr>
            <a:r>
              <a:rPr lang="en-US" sz="5600" dirty="0"/>
              <a:t>Define the variables for CFT.</a:t>
            </a:r>
          </a:p>
          <a:p>
            <a:pPr>
              <a:buFont typeface="Arial" panose="020B0604020202020204" pitchFamily="34" charset="0"/>
              <a:buChar char="•"/>
            </a:pPr>
            <a:r>
              <a:rPr lang="en-US" sz="5600" dirty="0"/>
              <a:t>Define the jobs:</a:t>
            </a:r>
          </a:p>
          <a:p>
            <a:pPr lvl="1">
              <a:buFont typeface="Arial" panose="020B0604020202020204" pitchFamily="34" charset="0"/>
              <a:buChar char="•"/>
            </a:pPr>
            <a:r>
              <a:rPr lang="en-US" sz="5600" b="1" dirty="0"/>
              <a:t>For CI  </a:t>
            </a:r>
          </a:p>
          <a:p>
            <a:pPr lvl="2">
              <a:buFont typeface="Arial" panose="020B0604020202020204" pitchFamily="34" charset="0"/>
              <a:buChar char="•"/>
            </a:pPr>
            <a:r>
              <a:rPr lang="en-US" sz="5600" dirty="0"/>
              <a:t>Define CI as jobs with labels(display name)</a:t>
            </a:r>
          </a:p>
          <a:p>
            <a:pPr lvl="2">
              <a:buFont typeface="Arial" panose="020B0604020202020204" pitchFamily="34" charset="0"/>
              <a:buChar char="•"/>
            </a:pPr>
            <a:r>
              <a:rPr lang="en-US" sz="5600" dirty="0"/>
              <a:t>Steps with required task (for  </a:t>
            </a:r>
            <a:r>
              <a:rPr lang="en-US" sz="5600" b="1" dirty="0"/>
              <a:t>bringing the code </a:t>
            </a:r>
            <a:r>
              <a:rPr lang="en-US" sz="5600" dirty="0"/>
              <a:t>/checkout and for and </a:t>
            </a:r>
            <a:r>
              <a:rPr lang="en-US" sz="5600" b="1" dirty="0" err="1"/>
              <a:t>AWSshellscripti</a:t>
            </a:r>
            <a:r>
              <a:rPr lang="en-US" sz="5600" dirty="0"/>
              <a:t>) with proper labels.</a:t>
            </a:r>
          </a:p>
          <a:p>
            <a:pPr lvl="2">
              <a:buFont typeface="Arial" panose="020B0604020202020204" pitchFamily="34" charset="0"/>
              <a:buChar char="•"/>
            </a:pPr>
            <a:r>
              <a:rPr lang="en-US" sz="5600" dirty="0"/>
              <a:t>Define on what input we need to run the </a:t>
            </a:r>
            <a:r>
              <a:rPr lang="en-US" sz="5600" dirty="0" err="1"/>
              <a:t>AWSshellcript</a:t>
            </a:r>
            <a:r>
              <a:rPr lang="en-US" sz="5600" dirty="0"/>
              <a:t>.</a:t>
            </a:r>
          </a:p>
          <a:p>
            <a:pPr lvl="2">
              <a:buFont typeface="Arial" panose="020B0604020202020204" pitchFamily="34" charset="0"/>
              <a:buChar char="•"/>
            </a:pPr>
            <a:r>
              <a:rPr lang="en-IN" sz="6400" u="sng" dirty="0">
                <a:solidFill>
                  <a:srgbClr val="0000FF"/>
                </a:solidFill>
                <a:effectLst/>
                <a:latin typeface="Times New Roman" panose="02020603050405020304" pitchFamily="18" charset="0"/>
                <a:ea typeface="Times New Roman" panose="02020603050405020304" pitchFamily="18" charset="0"/>
                <a:hlinkClick r:id="rId2"/>
              </a:rPr>
              <a:t>https://docs.aws.amazon.com/cli/latest/reference/cloudformation/validate-template.html</a:t>
            </a:r>
            <a:r>
              <a:rPr lang="en-IN" sz="6400" u="sng" dirty="0">
                <a:solidFill>
                  <a:srgbClr val="0000FF"/>
                </a:solidFill>
                <a:effectLst/>
                <a:latin typeface="Times New Roman" panose="02020603050405020304" pitchFamily="18" charset="0"/>
                <a:ea typeface="Times New Roman" panose="02020603050405020304" pitchFamily="18" charset="0"/>
              </a:rPr>
              <a:t> - </a:t>
            </a:r>
            <a:r>
              <a:rPr lang="en-US" sz="6400" dirty="0" err="1">
                <a:solidFill>
                  <a:schemeClr val="tx1"/>
                </a:solidFill>
                <a:effectLst/>
                <a:latin typeface="Times New Roman" panose="02020603050405020304" pitchFamily="18" charset="0"/>
                <a:ea typeface="Times New Roman" panose="02020603050405020304" pitchFamily="18" charset="0"/>
              </a:rPr>
              <a:t>aws</a:t>
            </a:r>
            <a:r>
              <a:rPr lang="en-US" sz="6400" dirty="0">
                <a:solidFill>
                  <a:schemeClr val="tx1"/>
                </a:solidFill>
                <a:effectLst/>
                <a:latin typeface="Times New Roman" panose="02020603050405020304" pitchFamily="18" charset="0"/>
                <a:ea typeface="Times New Roman" panose="02020603050405020304" pitchFamily="18" charset="0"/>
              </a:rPr>
              <a:t> shell script to validate the </a:t>
            </a:r>
            <a:r>
              <a:rPr lang="en-US" sz="6400" dirty="0" err="1">
                <a:solidFill>
                  <a:schemeClr val="tx1"/>
                </a:solidFill>
                <a:effectLst/>
                <a:latin typeface="Times New Roman" panose="02020603050405020304" pitchFamily="18" charset="0"/>
                <a:ea typeface="Times New Roman" panose="02020603050405020304" pitchFamily="18" charset="0"/>
              </a:rPr>
              <a:t>cloudformation</a:t>
            </a:r>
            <a:r>
              <a:rPr lang="en-US" sz="6400" dirty="0">
                <a:solidFill>
                  <a:schemeClr val="tx1"/>
                </a:solidFill>
                <a:effectLst/>
                <a:latin typeface="Times New Roman" panose="02020603050405020304" pitchFamily="18" charset="0"/>
                <a:ea typeface="Times New Roman" panose="02020603050405020304" pitchFamily="18" charset="0"/>
              </a:rPr>
              <a:t> validate-template command</a:t>
            </a:r>
            <a:endParaRPr lang="en-US" sz="5600" dirty="0">
              <a:solidFill>
                <a:schemeClr val="tx1"/>
              </a:solidFill>
            </a:endParaRPr>
          </a:p>
          <a:p>
            <a:pPr lvl="1">
              <a:buFont typeface="Arial" panose="020B0604020202020204" pitchFamily="34" charset="0"/>
              <a:buChar char="•"/>
            </a:pPr>
            <a:r>
              <a:rPr lang="en-US" sz="5600" b="1" dirty="0"/>
              <a:t>For CD</a:t>
            </a:r>
          </a:p>
          <a:p>
            <a:pPr marL="566928" marR="0" lvl="2" indent="-182880" algn="l" defTabSz="914400" rtl="0" eaLnBrk="1" fontAlgn="auto" latinLnBrk="0" hangingPunct="1">
              <a:lnSpc>
                <a:spcPct val="90000"/>
              </a:lnSpc>
              <a:spcBef>
                <a:spcPts val="200"/>
              </a:spcBef>
              <a:spcAft>
                <a:spcPts val="400"/>
              </a:spcAft>
              <a:buClr>
                <a:srgbClr val="99CB38"/>
              </a:buClr>
              <a:buSzTx/>
              <a:buFont typeface="Arial" panose="020B0604020202020204" pitchFamily="34" charset="0"/>
              <a:buChar char="•"/>
              <a:tabLst/>
              <a:defRPr/>
            </a:pPr>
            <a:r>
              <a:rPr kumimoji="0" lang="en-US" sz="56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Define CI as jobs with labels(display name)</a:t>
            </a:r>
          </a:p>
          <a:p>
            <a:pPr lvl="2">
              <a:buFont typeface="Arial" panose="020B0604020202020204" pitchFamily="34" charset="0"/>
              <a:buChar char="•"/>
            </a:pPr>
            <a:r>
              <a:rPr lang="en-US" sz="5600" dirty="0"/>
              <a:t>Dependencies.</a:t>
            </a:r>
          </a:p>
          <a:p>
            <a:pPr lvl="2">
              <a:buFont typeface="Arial" panose="020B0604020202020204" pitchFamily="34" charset="0"/>
              <a:buChar char="•"/>
            </a:pPr>
            <a:r>
              <a:rPr lang="en-US" sz="5600" dirty="0"/>
              <a:t>Condition</a:t>
            </a:r>
          </a:p>
          <a:p>
            <a:pPr lvl="2">
              <a:buFont typeface="Arial" panose="020B0604020202020204" pitchFamily="34" charset="0"/>
              <a:buChar char="•"/>
            </a:pPr>
            <a:r>
              <a:rPr lang="en-US" sz="5600" dirty="0"/>
              <a:t>Environment</a:t>
            </a:r>
          </a:p>
          <a:p>
            <a:pPr lvl="2">
              <a:buFont typeface="Arial" panose="020B0604020202020204" pitchFamily="34" charset="0"/>
              <a:buChar char="•"/>
            </a:pPr>
            <a:r>
              <a:rPr lang="en-US" sz="5600" dirty="0"/>
              <a:t>Strategies type followed by  </a:t>
            </a:r>
            <a:r>
              <a:rPr lang="en-US" sz="5600" dirty="0" err="1"/>
              <a:t>steps.Steps</a:t>
            </a:r>
            <a:r>
              <a:rPr lang="en-US" sz="5600" dirty="0"/>
              <a:t> with required task (for checkout and for and </a:t>
            </a:r>
            <a:r>
              <a:rPr lang="en-US" sz="5600" dirty="0" err="1"/>
              <a:t>shellscripti</a:t>
            </a:r>
            <a:r>
              <a:rPr lang="en-US" sz="5600" dirty="0"/>
              <a:t>) with proper labels.</a:t>
            </a:r>
          </a:p>
          <a:p>
            <a:pPr lvl="2">
              <a:buFont typeface="Arial" panose="020B0604020202020204" pitchFamily="34" charset="0"/>
              <a:buChar char="•"/>
            </a:pPr>
            <a:endParaRPr lang="en-US" sz="1200" dirty="0"/>
          </a:p>
          <a:p>
            <a:pPr lvl="2">
              <a:buFont typeface="Arial" panose="020B0604020202020204" pitchFamily="34" charset="0"/>
              <a:buChar char="•"/>
            </a:pPr>
            <a:endParaRPr lang="en-US" sz="1200" dirty="0"/>
          </a:p>
          <a:p>
            <a:pPr lvl="2">
              <a:buFont typeface="Arial" panose="020B0604020202020204" pitchFamily="34" charset="0"/>
              <a:buChar char="•"/>
            </a:pPr>
            <a:endParaRPr lang="en-US" sz="1200" dirty="0"/>
          </a:p>
          <a:p>
            <a:pPr marL="0" indent="0">
              <a:buNone/>
            </a:pPr>
            <a:r>
              <a:rPr lang="en-US" dirty="0"/>
              <a:t>   </a:t>
            </a:r>
          </a:p>
          <a:p>
            <a:pPr>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26849317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CF58-5EE7-226F-0B12-939F166ADBCA}"/>
              </a:ext>
            </a:extLst>
          </p:cNvPr>
          <p:cNvSpPr>
            <a:spLocks noGrp="1"/>
          </p:cNvSpPr>
          <p:nvPr>
            <p:ph type="title"/>
          </p:nvPr>
        </p:nvSpPr>
        <p:spPr/>
        <p:txBody>
          <a:bodyPr>
            <a:normAutofit/>
          </a:bodyPr>
          <a:lstStyle/>
          <a:p>
            <a:pPr marL="0" algn="l" rtl="0" eaLnBrk="1" fontAlgn="ctr" latinLnBrk="0" hangingPunct="1">
              <a:spcBef>
                <a:spcPts val="0"/>
              </a:spcBef>
              <a:spcAft>
                <a:spcPts val="0"/>
              </a:spcAft>
            </a:pPr>
            <a:r>
              <a:rPr lang="en-IN" sz="2800" b="1" i="0" u="none" strike="noStrike" kern="1200" dirty="0">
                <a:solidFill>
                  <a:srgbClr val="002060"/>
                </a:solidFill>
                <a:effectLst/>
                <a:latin typeface="Calibri" panose="020F0502020204030204" pitchFamily="34" charset="0"/>
              </a:rPr>
              <a:t>Week 3.2</a:t>
            </a:r>
            <a:br>
              <a:rPr lang="en-IN" sz="2800" b="0" i="0" u="none" strike="noStrike" dirty="0">
                <a:solidFill>
                  <a:srgbClr val="002060"/>
                </a:solidFill>
                <a:effectLst/>
                <a:latin typeface="Arial" panose="020B0604020202020204" pitchFamily="34" charset="0"/>
              </a:rPr>
            </a:br>
            <a:r>
              <a:rPr lang="en-IN" sz="2800" b="1" i="0" u="none" strike="noStrike" kern="1200" dirty="0">
                <a:solidFill>
                  <a:srgbClr val="002060"/>
                </a:solidFill>
                <a:effectLst/>
                <a:latin typeface="Calibri" panose="020F0502020204030204" pitchFamily="34" charset="0"/>
              </a:rPr>
              <a:t>Advanced Pipeline Concepts &amp; Best Practices</a:t>
            </a:r>
            <a:endParaRPr lang="en-IN" sz="2800" b="0" i="0" u="none" strike="noStrike" dirty="0">
              <a:solidFill>
                <a:srgbClr val="002060"/>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AD09EB14-3056-3141-863A-F12210035814}"/>
              </a:ext>
            </a:extLst>
          </p:cNvPr>
          <p:cNvSpPr>
            <a:spLocks noGrp="1"/>
          </p:cNvSpPr>
          <p:nvPr>
            <p:ph idx="1"/>
          </p:nvPr>
        </p:nvSpPr>
        <p:spPr/>
        <p:txBody>
          <a:bodyPr/>
          <a:lstStyle/>
          <a:p>
            <a:r>
              <a:rPr lang="en-IN" sz="2000" u="none" strike="noStrike" kern="1200" dirty="0">
                <a:solidFill>
                  <a:schemeClr val="dk1"/>
                </a:solidFill>
                <a:effectLst/>
                <a:latin typeface="+mn-lt"/>
                <a:ea typeface="+mn-ea"/>
                <a:cs typeface="+mn-cs"/>
              </a:rPr>
              <a:t>Enhancing pipelines with variables; </a:t>
            </a:r>
          </a:p>
          <a:p>
            <a:r>
              <a:rPr lang="en-IN" sz="2000" u="none" strike="noStrike" kern="1200" dirty="0">
                <a:solidFill>
                  <a:schemeClr val="dk1"/>
                </a:solidFill>
                <a:effectLst/>
                <a:latin typeface="+mn-lt"/>
                <a:ea typeface="+mn-ea"/>
                <a:cs typeface="+mn-cs"/>
              </a:rPr>
              <a:t>Introduction to multi-stage deployments; </a:t>
            </a:r>
          </a:p>
          <a:p>
            <a:r>
              <a:rPr lang="en-IN" sz="2000" u="none" strike="noStrike" kern="1200" dirty="0">
                <a:solidFill>
                  <a:schemeClr val="dk1"/>
                </a:solidFill>
                <a:effectLst/>
                <a:latin typeface="+mn-lt"/>
                <a:ea typeface="+mn-ea"/>
                <a:cs typeface="+mn-cs"/>
              </a:rPr>
              <a:t>Implementing approvals and gates for controlled deployments.</a:t>
            </a:r>
          </a:p>
          <a:p>
            <a:endParaRPr lang="en-IN" dirty="0">
              <a:solidFill>
                <a:schemeClr val="dk1"/>
              </a:solidFill>
            </a:endParaRPr>
          </a:p>
          <a:p>
            <a:endParaRPr lang="en-IN" sz="2000" u="none" strike="noStrike" kern="1200" dirty="0">
              <a:solidFill>
                <a:schemeClr val="dk1"/>
              </a:solidFill>
              <a:effectLst/>
              <a:latin typeface="+mn-lt"/>
              <a:ea typeface="+mn-ea"/>
              <a:cs typeface="+mn-cs"/>
            </a:endParaRPr>
          </a:p>
          <a:p>
            <a:endParaRPr lang="en-IN" dirty="0"/>
          </a:p>
          <a:p>
            <a:endParaRPr lang="en-IN" dirty="0"/>
          </a:p>
          <a:p>
            <a:endParaRPr lang="en-IN" dirty="0"/>
          </a:p>
        </p:txBody>
      </p:sp>
    </p:spTree>
    <p:extLst>
      <p:ext uri="{BB962C8B-B14F-4D97-AF65-F5344CB8AC3E}">
        <p14:creationId xmlns:p14="http://schemas.microsoft.com/office/powerpoint/2010/main" val="26329804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CF58-5EE7-226F-0B12-939F166ADBCA}"/>
              </a:ext>
            </a:extLst>
          </p:cNvPr>
          <p:cNvSpPr>
            <a:spLocks noGrp="1"/>
          </p:cNvSpPr>
          <p:nvPr>
            <p:ph type="title"/>
          </p:nvPr>
        </p:nvSpPr>
        <p:spPr/>
        <p:txBody>
          <a:bodyPr>
            <a:normAutofit/>
          </a:bodyPr>
          <a:lstStyle/>
          <a:p>
            <a:pPr marL="0" algn="l" rtl="0" eaLnBrk="1" fontAlgn="ctr" latinLnBrk="0" hangingPunct="1">
              <a:spcBef>
                <a:spcPts val="0"/>
              </a:spcBef>
              <a:spcAft>
                <a:spcPts val="0"/>
              </a:spcAft>
            </a:pPr>
            <a:r>
              <a:rPr lang="en-IN" sz="2800" b="1" i="0" u="none" strike="noStrike" kern="1200" dirty="0">
                <a:solidFill>
                  <a:srgbClr val="002060"/>
                </a:solidFill>
                <a:effectLst/>
                <a:latin typeface="Calibri" panose="020F0502020204030204" pitchFamily="34" charset="0"/>
              </a:rPr>
              <a:t>Week 3.2</a:t>
            </a:r>
            <a:br>
              <a:rPr lang="en-IN" sz="2800" b="0" i="0" u="none" strike="noStrike" dirty="0">
                <a:solidFill>
                  <a:srgbClr val="002060"/>
                </a:solidFill>
                <a:effectLst/>
                <a:latin typeface="Arial" panose="020B0604020202020204" pitchFamily="34" charset="0"/>
              </a:rPr>
            </a:br>
            <a:r>
              <a:rPr lang="en-IN" sz="2800" b="1" i="0" u="none" strike="noStrike" kern="1200" dirty="0">
                <a:solidFill>
                  <a:srgbClr val="002060"/>
                </a:solidFill>
                <a:effectLst/>
                <a:latin typeface="Calibri" panose="020F0502020204030204" pitchFamily="34" charset="0"/>
              </a:rPr>
              <a:t>Advanced Pipeline Concepts &amp; Best Practices</a:t>
            </a:r>
            <a:endParaRPr lang="en-IN" sz="2800" b="0" i="0" u="none" strike="noStrike" dirty="0">
              <a:solidFill>
                <a:srgbClr val="002060"/>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AD09EB14-3056-3141-863A-F12210035814}"/>
              </a:ext>
            </a:extLst>
          </p:cNvPr>
          <p:cNvSpPr>
            <a:spLocks noGrp="1"/>
          </p:cNvSpPr>
          <p:nvPr>
            <p:ph idx="1"/>
          </p:nvPr>
        </p:nvSpPr>
        <p:spPr/>
        <p:txBody>
          <a:bodyPr/>
          <a:lstStyle/>
          <a:p>
            <a:r>
              <a:rPr lang="en-IN" sz="2000" u="none" strike="noStrike" kern="1200" dirty="0">
                <a:solidFill>
                  <a:schemeClr val="dk1"/>
                </a:solidFill>
                <a:effectLst/>
                <a:latin typeface="+mn-lt"/>
                <a:ea typeface="+mn-ea"/>
                <a:cs typeface="+mn-cs"/>
              </a:rPr>
              <a:t>Enhancing pipelines with variables; </a:t>
            </a:r>
          </a:p>
          <a:p>
            <a:endParaRPr lang="en-IN" dirty="0"/>
          </a:p>
        </p:txBody>
      </p:sp>
      <p:pic>
        <p:nvPicPr>
          <p:cNvPr id="5" name="Picture 4">
            <a:extLst>
              <a:ext uri="{FF2B5EF4-FFF2-40B4-BE49-F238E27FC236}">
                <a16:creationId xmlns:a16="http://schemas.microsoft.com/office/drawing/2014/main" id="{06932A7D-155C-5269-74AF-83748B7F6806}"/>
              </a:ext>
            </a:extLst>
          </p:cNvPr>
          <p:cNvPicPr>
            <a:picLocks noChangeAspect="1"/>
          </p:cNvPicPr>
          <p:nvPr/>
        </p:nvPicPr>
        <p:blipFill>
          <a:blip r:embed="rId2"/>
          <a:stretch>
            <a:fillRect/>
          </a:stretch>
        </p:blipFill>
        <p:spPr>
          <a:xfrm>
            <a:off x="1237566" y="2482584"/>
            <a:ext cx="8407832" cy="1238314"/>
          </a:xfrm>
          <a:prstGeom prst="rect">
            <a:avLst/>
          </a:prstGeom>
        </p:spPr>
      </p:pic>
    </p:spTree>
    <p:extLst>
      <p:ext uri="{BB962C8B-B14F-4D97-AF65-F5344CB8AC3E}">
        <p14:creationId xmlns:p14="http://schemas.microsoft.com/office/powerpoint/2010/main" val="15448452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CF58-5EE7-226F-0B12-939F166ADBCA}"/>
              </a:ext>
            </a:extLst>
          </p:cNvPr>
          <p:cNvSpPr>
            <a:spLocks noGrp="1"/>
          </p:cNvSpPr>
          <p:nvPr>
            <p:ph type="title"/>
          </p:nvPr>
        </p:nvSpPr>
        <p:spPr/>
        <p:txBody>
          <a:bodyPr>
            <a:normAutofit/>
          </a:bodyPr>
          <a:lstStyle/>
          <a:p>
            <a:pPr marL="0" algn="l" rtl="0" eaLnBrk="1" fontAlgn="ctr" latinLnBrk="0" hangingPunct="1">
              <a:spcBef>
                <a:spcPts val="0"/>
              </a:spcBef>
              <a:spcAft>
                <a:spcPts val="0"/>
              </a:spcAft>
            </a:pPr>
            <a:r>
              <a:rPr lang="en-IN" sz="2800" b="1" i="0" u="none" strike="noStrike" kern="1200" dirty="0">
                <a:solidFill>
                  <a:srgbClr val="002060"/>
                </a:solidFill>
                <a:effectLst/>
                <a:latin typeface="Calibri" panose="020F0502020204030204" pitchFamily="34" charset="0"/>
              </a:rPr>
              <a:t>Week 3.2</a:t>
            </a:r>
            <a:br>
              <a:rPr lang="en-IN" sz="2800" b="0" i="0" u="none" strike="noStrike" dirty="0">
                <a:solidFill>
                  <a:srgbClr val="002060"/>
                </a:solidFill>
                <a:effectLst/>
                <a:latin typeface="Arial" panose="020B0604020202020204" pitchFamily="34" charset="0"/>
              </a:rPr>
            </a:br>
            <a:r>
              <a:rPr lang="en-IN" sz="2800" b="1" i="0" u="none" strike="noStrike" kern="1200" dirty="0">
                <a:solidFill>
                  <a:srgbClr val="002060"/>
                </a:solidFill>
                <a:effectLst/>
                <a:latin typeface="Calibri" panose="020F0502020204030204" pitchFamily="34" charset="0"/>
              </a:rPr>
              <a:t>Advanced Pipeline Concepts &amp; Best Practices</a:t>
            </a:r>
            <a:endParaRPr lang="en-IN" sz="2800" b="0" i="0" u="none" strike="noStrike" dirty="0">
              <a:solidFill>
                <a:srgbClr val="002060"/>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AD09EB14-3056-3141-863A-F12210035814}"/>
              </a:ext>
            </a:extLst>
          </p:cNvPr>
          <p:cNvSpPr>
            <a:spLocks noGrp="1"/>
          </p:cNvSpPr>
          <p:nvPr>
            <p:ph idx="1"/>
          </p:nvPr>
        </p:nvSpPr>
        <p:spPr>
          <a:xfrm>
            <a:off x="1097280" y="1845733"/>
            <a:ext cx="10058400" cy="4725663"/>
          </a:xfrm>
        </p:spPr>
        <p:txBody>
          <a:bodyPr/>
          <a:lstStyle/>
          <a:p>
            <a:r>
              <a:rPr lang="en-IN" sz="2000" b="1" u="none" strike="noStrike" kern="1200" dirty="0">
                <a:solidFill>
                  <a:srgbClr val="002060"/>
                </a:solidFill>
                <a:effectLst/>
                <a:latin typeface="+mn-lt"/>
                <a:ea typeface="+mn-ea"/>
                <a:cs typeface="+mn-cs"/>
              </a:rPr>
              <a:t>Introduction to multi-stage deployments; </a:t>
            </a:r>
          </a:p>
          <a:p>
            <a:r>
              <a:rPr lang="en-IN" dirty="0">
                <a:solidFill>
                  <a:schemeClr val="tx1"/>
                </a:solidFill>
              </a:rPr>
              <a:t>Setting up dev and prod environment by using below strategies.</a:t>
            </a:r>
          </a:p>
          <a:p>
            <a:pPr>
              <a:buFont typeface="Arial" panose="020B0604020202020204" pitchFamily="34" charset="0"/>
              <a:buChar char="•"/>
            </a:pPr>
            <a:r>
              <a:rPr lang="en-IN" sz="2000" u="none" strike="noStrike" kern="1200" dirty="0">
                <a:solidFill>
                  <a:schemeClr val="tx1"/>
                </a:solidFill>
                <a:effectLst/>
                <a:latin typeface="+mn-lt"/>
                <a:ea typeface="+mn-ea"/>
                <a:cs typeface="+mn-cs"/>
              </a:rPr>
              <a:t>Define jobs into stages to accomplish the multistage and environment.(stage name with labels.)</a:t>
            </a:r>
          </a:p>
          <a:p>
            <a:pPr>
              <a:buFont typeface="Arial" panose="020B0604020202020204" pitchFamily="34" charset="0"/>
              <a:buChar char="•"/>
            </a:pPr>
            <a:r>
              <a:rPr lang="en-IN" sz="2000" u="none" strike="noStrike" kern="1200" dirty="0">
                <a:solidFill>
                  <a:schemeClr val="tx1"/>
                </a:solidFill>
                <a:effectLst/>
                <a:latin typeface="+mn-lt"/>
                <a:ea typeface="+mn-ea"/>
                <a:cs typeface="+mn-cs"/>
              </a:rPr>
              <a:t>Set jobs as </a:t>
            </a:r>
            <a:r>
              <a:rPr lang="en-IN" sz="2000" u="none" strike="noStrike" kern="1200" dirty="0" err="1">
                <a:solidFill>
                  <a:schemeClr val="tx1"/>
                </a:solidFill>
                <a:effectLst/>
                <a:latin typeface="+mn-lt"/>
                <a:ea typeface="+mn-ea"/>
                <a:cs typeface="+mn-cs"/>
              </a:rPr>
              <a:t>deployements</a:t>
            </a:r>
            <a:endParaRPr lang="en-IN" sz="2000" u="none" strike="noStrike" kern="1200" dirty="0">
              <a:solidFill>
                <a:schemeClr val="tx1"/>
              </a:solidFill>
              <a:effectLst/>
              <a:latin typeface="+mn-lt"/>
              <a:ea typeface="+mn-ea"/>
              <a:cs typeface="+mn-cs"/>
            </a:endParaRPr>
          </a:p>
          <a:p>
            <a:pPr marL="0" indent="0">
              <a:buNone/>
            </a:pPr>
            <a:r>
              <a:rPr lang="en-IN" dirty="0">
                <a:solidFill>
                  <a:schemeClr val="tx1"/>
                </a:solidFill>
              </a:rPr>
              <a:t>&gt;dev </a:t>
            </a:r>
            <a:r>
              <a:rPr lang="en-IN" dirty="0" err="1">
                <a:solidFill>
                  <a:schemeClr val="tx1"/>
                </a:solidFill>
              </a:rPr>
              <a:t>deployements</a:t>
            </a:r>
            <a:r>
              <a:rPr lang="en-IN" dirty="0">
                <a:solidFill>
                  <a:schemeClr val="tx1"/>
                </a:solidFill>
              </a:rPr>
              <a:t>(add </a:t>
            </a:r>
            <a:r>
              <a:rPr lang="en-IN" b="1" dirty="0">
                <a:solidFill>
                  <a:schemeClr val="tx1"/>
                </a:solidFill>
              </a:rPr>
              <a:t>stage</a:t>
            </a:r>
            <a:r>
              <a:rPr lang="en-IN" dirty="0">
                <a:solidFill>
                  <a:schemeClr val="tx1"/>
                </a:solidFill>
              </a:rPr>
              <a:t> and </a:t>
            </a:r>
            <a:r>
              <a:rPr lang="en-IN" b="1" dirty="0">
                <a:solidFill>
                  <a:schemeClr val="tx1"/>
                </a:solidFill>
              </a:rPr>
              <a:t>deployment strategies</a:t>
            </a:r>
            <a:r>
              <a:rPr lang="en-IN" dirty="0">
                <a:solidFill>
                  <a:schemeClr val="tx1"/>
                </a:solidFill>
              </a:rPr>
              <a:t>)</a:t>
            </a:r>
          </a:p>
          <a:p>
            <a:pPr marL="0" indent="0">
              <a:buNone/>
            </a:pPr>
            <a:r>
              <a:rPr lang="en-IN" sz="2000" u="none" strike="noStrike" kern="1200" dirty="0">
                <a:solidFill>
                  <a:schemeClr val="tx1"/>
                </a:solidFill>
                <a:effectLst/>
                <a:latin typeface="+mn-lt"/>
                <a:ea typeface="+mn-ea"/>
                <a:cs typeface="+mn-cs"/>
              </a:rPr>
              <a:t>&gt;prod </a:t>
            </a:r>
            <a:r>
              <a:rPr lang="en-IN" sz="2000" u="none" strike="noStrike" kern="1200" dirty="0" err="1">
                <a:solidFill>
                  <a:schemeClr val="tx1"/>
                </a:solidFill>
                <a:effectLst/>
                <a:latin typeface="+mn-lt"/>
                <a:ea typeface="+mn-ea"/>
                <a:cs typeface="+mn-cs"/>
              </a:rPr>
              <a:t>deployements</a:t>
            </a:r>
            <a:r>
              <a:rPr lang="en-IN" dirty="0" err="1">
                <a:solidFill>
                  <a:schemeClr val="tx1"/>
                </a:solidFill>
              </a:rPr>
              <a:t>add</a:t>
            </a:r>
            <a:r>
              <a:rPr lang="en-IN" dirty="0">
                <a:solidFill>
                  <a:schemeClr val="tx1"/>
                </a:solidFill>
              </a:rPr>
              <a:t> </a:t>
            </a:r>
            <a:r>
              <a:rPr lang="en-IN" b="1" dirty="0">
                <a:solidFill>
                  <a:schemeClr val="tx1"/>
                </a:solidFill>
              </a:rPr>
              <a:t>stage</a:t>
            </a:r>
            <a:r>
              <a:rPr lang="en-IN" dirty="0">
                <a:solidFill>
                  <a:schemeClr val="tx1"/>
                </a:solidFill>
              </a:rPr>
              <a:t> and </a:t>
            </a:r>
            <a:r>
              <a:rPr lang="en-IN" b="1" dirty="0">
                <a:solidFill>
                  <a:schemeClr val="tx1"/>
                </a:solidFill>
              </a:rPr>
              <a:t>deployment strategies</a:t>
            </a:r>
            <a:r>
              <a:rPr lang="en-IN" dirty="0">
                <a:solidFill>
                  <a:schemeClr val="tx1"/>
                </a:solidFill>
              </a:rPr>
              <a:t>)</a:t>
            </a:r>
            <a:endParaRPr lang="en-IN" sz="2000" u="none" strike="noStrike" kern="1200" dirty="0">
              <a:solidFill>
                <a:schemeClr val="tx1"/>
              </a:solidFill>
              <a:effectLst/>
              <a:latin typeface="+mn-lt"/>
              <a:ea typeface="+mn-ea"/>
              <a:cs typeface="+mn-cs"/>
            </a:endParaRPr>
          </a:p>
          <a:p>
            <a:pPr marL="0" indent="0">
              <a:buNone/>
            </a:pPr>
            <a:r>
              <a:rPr lang="en-IN" dirty="0">
                <a:solidFill>
                  <a:schemeClr val="tx1"/>
                </a:solidFill>
              </a:rPr>
              <a:t>Setup the environment with strategies type.</a:t>
            </a:r>
          </a:p>
          <a:p>
            <a:pPr>
              <a:buFont typeface="Arial" panose="020B0604020202020204" pitchFamily="34" charset="0"/>
              <a:buChar char="•"/>
            </a:pPr>
            <a:r>
              <a:rPr lang="en-IN" dirty="0">
                <a:solidFill>
                  <a:schemeClr val="tx1"/>
                </a:solidFill>
              </a:rPr>
              <a:t>In environment library setup the approval and checks for prod</a:t>
            </a:r>
          </a:p>
          <a:p>
            <a:pPr>
              <a:buFont typeface="Arial" panose="020B0604020202020204" pitchFamily="34" charset="0"/>
              <a:buChar char="•"/>
            </a:pPr>
            <a:endParaRPr lang="en-IN" dirty="0">
              <a:solidFill>
                <a:schemeClr val="tx1"/>
              </a:solidFill>
            </a:endParaRPr>
          </a:p>
          <a:p>
            <a:pPr marL="0" indent="0">
              <a:buNone/>
            </a:pPr>
            <a:endParaRPr lang="en-IN" sz="2000" u="none" strike="noStrike" kern="1200" dirty="0">
              <a:solidFill>
                <a:schemeClr val="tx1"/>
              </a:solidFill>
              <a:effectLst/>
              <a:latin typeface="+mn-lt"/>
              <a:ea typeface="+mn-ea"/>
              <a:cs typeface="+mn-cs"/>
            </a:endParaRPr>
          </a:p>
          <a:p>
            <a:pPr>
              <a:buFont typeface="Arial" panose="020B0604020202020204" pitchFamily="34" charset="0"/>
              <a:buChar char="•"/>
            </a:pPr>
            <a:endParaRPr lang="en-IN" sz="2000" u="none" strike="noStrike" kern="1200" dirty="0">
              <a:solidFill>
                <a:schemeClr val="tx1"/>
              </a:solidFill>
              <a:effectLst/>
              <a:latin typeface="+mn-lt"/>
              <a:ea typeface="+mn-ea"/>
              <a:cs typeface="+mn-cs"/>
            </a:endParaRPr>
          </a:p>
          <a:p>
            <a:endParaRPr lang="en-IN" dirty="0"/>
          </a:p>
        </p:txBody>
      </p:sp>
      <p:pic>
        <p:nvPicPr>
          <p:cNvPr id="5" name="Picture 4">
            <a:extLst>
              <a:ext uri="{FF2B5EF4-FFF2-40B4-BE49-F238E27FC236}">
                <a16:creationId xmlns:a16="http://schemas.microsoft.com/office/drawing/2014/main" id="{B3E1DA6F-67DF-8D21-0A32-FBC6D96E0D6D}"/>
              </a:ext>
            </a:extLst>
          </p:cNvPr>
          <p:cNvPicPr>
            <a:picLocks noChangeAspect="1"/>
          </p:cNvPicPr>
          <p:nvPr/>
        </p:nvPicPr>
        <p:blipFill>
          <a:blip r:embed="rId2"/>
          <a:stretch>
            <a:fillRect/>
          </a:stretch>
        </p:blipFill>
        <p:spPr>
          <a:xfrm>
            <a:off x="1097280" y="5430921"/>
            <a:ext cx="10270156" cy="876345"/>
          </a:xfrm>
          <a:prstGeom prst="rect">
            <a:avLst/>
          </a:prstGeom>
        </p:spPr>
      </p:pic>
    </p:spTree>
    <p:extLst>
      <p:ext uri="{BB962C8B-B14F-4D97-AF65-F5344CB8AC3E}">
        <p14:creationId xmlns:p14="http://schemas.microsoft.com/office/powerpoint/2010/main" val="6379760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CF58-5EE7-226F-0B12-939F166ADBCA}"/>
              </a:ext>
            </a:extLst>
          </p:cNvPr>
          <p:cNvSpPr>
            <a:spLocks noGrp="1"/>
          </p:cNvSpPr>
          <p:nvPr>
            <p:ph type="title"/>
          </p:nvPr>
        </p:nvSpPr>
        <p:spPr/>
        <p:txBody>
          <a:bodyPr>
            <a:normAutofit/>
          </a:bodyPr>
          <a:lstStyle/>
          <a:p>
            <a:pPr marL="0" algn="l" rtl="0" eaLnBrk="1" fontAlgn="ctr" latinLnBrk="0" hangingPunct="1">
              <a:spcBef>
                <a:spcPts val="0"/>
              </a:spcBef>
              <a:spcAft>
                <a:spcPts val="0"/>
              </a:spcAft>
            </a:pPr>
            <a:r>
              <a:rPr lang="en-IN" sz="2400" b="1" i="0" u="none" strike="noStrike" kern="1200" dirty="0">
                <a:solidFill>
                  <a:srgbClr val="002060"/>
                </a:solidFill>
                <a:effectLst/>
                <a:latin typeface="Calibri" panose="020F0502020204030204" pitchFamily="34" charset="0"/>
              </a:rPr>
              <a:t>Week 4.1</a:t>
            </a:r>
            <a:br>
              <a:rPr lang="en-IN" sz="2400" b="0" i="0" u="none" strike="noStrike" dirty="0">
                <a:solidFill>
                  <a:srgbClr val="002060"/>
                </a:solidFill>
                <a:effectLst/>
                <a:latin typeface="Arial" panose="020B0604020202020204" pitchFamily="34" charset="0"/>
              </a:rPr>
            </a:br>
            <a:r>
              <a:rPr lang="en-IN" sz="2400" b="1" i="0" u="none" strike="noStrike" kern="1200" dirty="0">
                <a:solidFill>
                  <a:srgbClr val="002060"/>
                </a:solidFill>
                <a:effectLst/>
                <a:latin typeface="Calibri" panose="020F0502020204030204" pitchFamily="34" charset="0"/>
              </a:rPr>
              <a:t>Real-World Scenarios, Monitoring, and Next Steps (Part 1)</a:t>
            </a:r>
            <a:endParaRPr lang="en-IN" sz="2400" b="0" i="0" u="none" strike="noStrike" dirty="0">
              <a:solidFill>
                <a:srgbClr val="002060"/>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B4EF99B9-9511-82E3-4129-505B0DB39296}"/>
              </a:ext>
            </a:extLst>
          </p:cNvPr>
          <p:cNvSpPr>
            <a:spLocks noGrp="1"/>
          </p:cNvSpPr>
          <p:nvPr>
            <p:ph idx="1"/>
          </p:nvPr>
        </p:nvSpPr>
        <p:spPr/>
        <p:txBody>
          <a:bodyPr/>
          <a:lstStyle/>
          <a:p>
            <a:r>
              <a:rPr lang="en-IN" sz="2000" b="1" u="none" strike="noStrike" kern="1200" dirty="0">
                <a:solidFill>
                  <a:schemeClr val="dk1"/>
                </a:solidFill>
                <a:effectLst/>
                <a:latin typeface="+mn-lt"/>
                <a:ea typeface="+mn-ea"/>
                <a:cs typeface="+mn-cs"/>
              </a:rPr>
              <a:t>Demonstrating deploying a more elaborate architecture (multiple EC2 instances within a custom VPC, potentially behind a load balancer); </a:t>
            </a:r>
          </a:p>
          <a:p>
            <a:r>
              <a:rPr lang="en-IN" sz="2000" b="1" u="none" strike="noStrike" kern="1200" dirty="0">
                <a:solidFill>
                  <a:schemeClr val="dk1"/>
                </a:solidFill>
                <a:effectLst/>
                <a:latin typeface="+mn-lt"/>
                <a:ea typeface="+mn-ea"/>
                <a:cs typeface="+mn-cs"/>
              </a:rPr>
              <a:t>Serving content via CloudFront in a more complex setup.</a:t>
            </a:r>
          </a:p>
          <a:p>
            <a:r>
              <a:rPr lang="en-IN" sz="1200" b="1" dirty="0" err="1">
                <a:solidFill>
                  <a:schemeClr val="dk1"/>
                </a:solidFill>
              </a:rPr>
              <a:t>Goodgift.fashin</a:t>
            </a:r>
            <a:endParaRPr lang="en-IN" sz="1200" b="1" dirty="0">
              <a:solidFill>
                <a:schemeClr val="dk1"/>
              </a:solidFill>
            </a:endParaRPr>
          </a:p>
          <a:p>
            <a:endParaRPr lang="en-IN" sz="2000" b="1" u="none" strike="noStrike" kern="1200" dirty="0">
              <a:solidFill>
                <a:schemeClr val="dk1"/>
              </a:solidFill>
              <a:effectLst/>
              <a:latin typeface="+mn-lt"/>
              <a:ea typeface="+mn-ea"/>
              <a:cs typeface="+mn-cs"/>
            </a:endParaRPr>
          </a:p>
          <a:p>
            <a:endParaRPr lang="en-US" dirty="0"/>
          </a:p>
          <a:p>
            <a:endParaRPr lang="en-IN" dirty="0"/>
          </a:p>
          <a:p>
            <a:endParaRPr lang="en-IN" dirty="0"/>
          </a:p>
          <a:p>
            <a:endParaRPr lang="en-IN" dirty="0"/>
          </a:p>
          <a:p>
            <a:endParaRPr lang="en-IN" dirty="0"/>
          </a:p>
        </p:txBody>
      </p:sp>
      <p:pic>
        <p:nvPicPr>
          <p:cNvPr id="7" name="Picture 6">
            <a:extLst>
              <a:ext uri="{FF2B5EF4-FFF2-40B4-BE49-F238E27FC236}">
                <a16:creationId xmlns:a16="http://schemas.microsoft.com/office/drawing/2014/main" id="{CEAE53C8-B7C8-74A8-BD75-84D52C84DCE3}"/>
              </a:ext>
            </a:extLst>
          </p:cNvPr>
          <p:cNvPicPr>
            <a:picLocks noChangeAspect="1"/>
          </p:cNvPicPr>
          <p:nvPr/>
        </p:nvPicPr>
        <p:blipFill>
          <a:blip r:embed="rId2"/>
          <a:stretch>
            <a:fillRect/>
          </a:stretch>
        </p:blipFill>
        <p:spPr>
          <a:xfrm>
            <a:off x="1301181" y="3259746"/>
            <a:ext cx="8468461" cy="2496341"/>
          </a:xfrm>
          <a:prstGeom prst="rect">
            <a:avLst/>
          </a:prstGeom>
        </p:spPr>
      </p:pic>
    </p:spTree>
    <p:extLst>
      <p:ext uri="{BB962C8B-B14F-4D97-AF65-F5344CB8AC3E}">
        <p14:creationId xmlns:p14="http://schemas.microsoft.com/office/powerpoint/2010/main" val="2875467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CF58-5EE7-226F-0B12-939F166ADBCA}"/>
              </a:ext>
            </a:extLst>
          </p:cNvPr>
          <p:cNvSpPr>
            <a:spLocks noGrp="1"/>
          </p:cNvSpPr>
          <p:nvPr>
            <p:ph type="title"/>
          </p:nvPr>
        </p:nvSpPr>
        <p:spPr/>
        <p:txBody>
          <a:bodyPr>
            <a:normAutofit/>
          </a:bodyPr>
          <a:lstStyle/>
          <a:p>
            <a:pPr marL="0" algn="l" rtl="0" eaLnBrk="1" fontAlgn="ctr" latinLnBrk="0" hangingPunct="1">
              <a:spcBef>
                <a:spcPts val="0"/>
              </a:spcBef>
              <a:spcAft>
                <a:spcPts val="0"/>
              </a:spcAft>
            </a:pPr>
            <a:r>
              <a:rPr lang="en-IN" sz="2400" b="1" i="0" u="none" strike="noStrike" kern="1200" dirty="0">
                <a:solidFill>
                  <a:srgbClr val="002060"/>
                </a:solidFill>
                <a:effectLst/>
                <a:latin typeface="Calibri" panose="020F0502020204030204" pitchFamily="34" charset="0"/>
              </a:rPr>
              <a:t>Week 4.1</a:t>
            </a:r>
            <a:br>
              <a:rPr lang="en-IN" sz="2400" b="0" i="0" u="none" strike="noStrike" dirty="0">
                <a:solidFill>
                  <a:srgbClr val="002060"/>
                </a:solidFill>
                <a:effectLst/>
                <a:latin typeface="Arial" panose="020B0604020202020204" pitchFamily="34" charset="0"/>
              </a:rPr>
            </a:br>
            <a:r>
              <a:rPr lang="en-IN" sz="2400" b="1" i="0" u="none" strike="noStrike" kern="1200" dirty="0">
                <a:solidFill>
                  <a:srgbClr val="002060"/>
                </a:solidFill>
                <a:effectLst/>
                <a:latin typeface="Calibri" panose="020F0502020204030204" pitchFamily="34" charset="0"/>
              </a:rPr>
              <a:t>Real-World Scenarios, Monitoring, and Next Steps (Part 1)</a:t>
            </a:r>
            <a:endParaRPr lang="en-IN" sz="2400" b="0" i="0" u="none" strike="noStrike" dirty="0">
              <a:solidFill>
                <a:srgbClr val="002060"/>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B4EF99B9-9511-82E3-4129-505B0DB39296}"/>
              </a:ext>
            </a:extLst>
          </p:cNvPr>
          <p:cNvSpPr>
            <a:spLocks noGrp="1"/>
          </p:cNvSpPr>
          <p:nvPr>
            <p:ph idx="1"/>
          </p:nvPr>
        </p:nvSpPr>
        <p:spPr/>
        <p:txBody>
          <a:bodyPr/>
          <a:lstStyle/>
          <a:p>
            <a:endParaRPr lang="en-US" dirty="0"/>
          </a:p>
          <a:p>
            <a:pPr>
              <a:buFont typeface="Arial" panose="020B0604020202020204" pitchFamily="34" charset="0"/>
              <a:buChar char="•"/>
            </a:pPr>
            <a:r>
              <a:rPr lang="en-IN" dirty="0"/>
              <a:t>How a load balancer works .:</a:t>
            </a:r>
            <a:r>
              <a:rPr lang="en-US" dirty="0"/>
              <a:t>A load balancer distributes incoming network traffic across multiple servers to ensure no single server is overloaded, improving responsiveness and availability.</a:t>
            </a:r>
            <a:endParaRPr lang="en-IN" dirty="0"/>
          </a:p>
          <a:p>
            <a:pPr>
              <a:buFont typeface="Arial" panose="020B0604020202020204" pitchFamily="34" charset="0"/>
              <a:buChar char="•"/>
            </a:pPr>
            <a:endParaRPr lang="en-IN" dirty="0"/>
          </a:p>
          <a:p>
            <a:pPr>
              <a:buFont typeface="Arial" panose="020B0604020202020204" pitchFamily="34" charset="0"/>
              <a:buChar char="•"/>
            </a:pPr>
            <a:r>
              <a:rPr lang="en-IN" dirty="0"/>
              <a:t>Target Group.</a:t>
            </a:r>
          </a:p>
          <a:p>
            <a:pPr>
              <a:buFont typeface="Arial" panose="020B0604020202020204" pitchFamily="34" charset="0"/>
              <a:buChar char="•"/>
            </a:pPr>
            <a:r>
              <a:rPr lang="en-IN" dirty="0"/>
              <a:t>Listener</a:t>
            </a:r>
          </a:p>
          <a:p>
            <a:pPr>
              <a:buFont typeface="Arial" panose="020B0604020202020204" pitchFamily="34" charset="0"/>
              <a:buChar char="•"/>
            </a:pPr>
            <a:r>
              <a:rPr lang="en-IN" dirty="0"/>
              <a:t>Health check</a:t>
            </a:r>
          </a:p>
          <a:p>
            <a:endParaRPr lang="en-IN" dirty="0"/>
          </a:p>
          <a:p>
            <a:endParaRPr lang="en-IN" dirty="0"/>
          </a:p>
        </p:txBody>
      </p:sp>
      <p:pic>
        <p:nvPicPr>
          <p:cNvPr id="4" name="Picture 3">
            <a:extLst>
              <a:ext uri="{FF2B5EF4-FFF2-40B4-BE49-F238E27FC236}">
                <a16:creationId xmlns:a16="http://schemas.microsoft.com/office/drawing/2014/main" id="{8FDB3789-6D27-0E17-A3C9-579EA5FCBF26}"/>
              </a:ext>
            </a:extLst>
          </p:cNvPr>
          <p:cNvPicPr>
            <a:picLocks noChangeAspect="1"/>
          </p:cNvPicPr>
          <p:nvPr/>
        </p:nvPicPr>
        <p:blipFill>
          <a:blip r:embed="rId2"/>
          <a:stretch>
            <a:fillRect/>
          </a:stretch>
        </p:blipFill>
        <p:spPr>
          <a:xfrm>
            <a:off x="6488190" y="3060833"/>
            <a:ext cx="4667490" cy="2647127"/>
          </a:xfrm>
          <a:prstGeom prst="rect">
            <a:avLst/>
          </a:prstGeom>
        </p:spPr>
      </p:pic>
    </p:spTree>
    <p:extLst>
      <p:ext uri="{BB962C8B-B14F-4D97-AF65-F5344CB8AC3E}">
        <p14:creationId xmlns:p14="http://schemas.microsoft.com/office/powerpoint/2010/main" val="30977989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D088D-4555-DAC5-41DF-8D63DC2BBE31}"/>
              </a:ext>
            </a:extLst>
          </p:cNvPr>
          <p:cNvSpPr>
            <a:spLocks noGrp="1"/>
          </p:cNvSpPr>
          <p:nvPr>
            <p:ph type="title"/>
          </p:nvPr>
        </p:nvSpPr>
        <p:spPr/>
        <p:txBody>
          <a:bodyPr>
            <a:normAutofit/>
          </a:bodyPr>
          <a:lstStyle/>
          <a:p>
            <a:r>
              <a:rPr lang="en-IN" sz="2800" b="1" i="0" u="none" strike="noStrike" kern="1200" dirty="0">
                <a:solidFill>
                  <a:srgbClr val="002060"/>
                </a:solidFill>
                <a:effectLst/>
                <a:latin typeface="Calibri" panose="020F0502020204030204" pitchFamily="34" charset="0"/>
              </a:rPr>
              <a:t>Week 4.1</a:t>
            </a:r>
            <a:br>
              <a:rPr lang="en-IN" sz="2800" b="0" i="0" u="none" strike="noStrike" dirty="0">
                <a:solidFill>
                  <a:srgbClr val="002060"/>
                </a:solidFill>
                <a:effectLst/>
                <a:latin typeface="Arial" panose="020B0604020202020204" pitchFamily="34" charset="0"/>
              </a:rPr>
            </a:br>
            <a:r>
              <a:rPr lang="en-IN" sz="2800" b="1" i="0" u="none" strike="noStrike" kern="1200" dirty="0">
                <a:solidFill>
                  <a:srgbClr val="002060"/>
                </a:solidFill>
                <a:effectLst/>
                <a:latin typeface="Calibri" panose="020F0502020204030204" pitchFamily="34" charset="0"/>
              </a:rPr>
              <a:t>Real-World Scenarios, Monitoring, and Next Steps (Part 1)</a:t>
            </a:r>
            <a:endParaRPr lang="en-IN" sz="2800" dirty="0"/>
          </a:p>
        </p:txBody>
      </p:sp>
      <p:sp>
        <p:nvSpPr>
          <p:cNvPr id="3" name="Content Placeholder 2">
            <a:extLst>
              <a:ext uri="{FF2B5EF4-FFF2-40B4-BE49-F238E27FC236}">
                <a16:creationId xmlns:a16="http://schemas.microsoft.com/office/drawing/2014/main" id="{A30F5F7A-5BCF-503E-16D7-F1A5CC0C0264}"/>
              </a:ext>
            </a:extLst>
          </p:cNvPr>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Target Group:</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logical grouping of backend servers (or other resources) to which a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load balancer routes traffic.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Listener:</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process that checks for connection requests using the protocol and port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you configure, then forwards requests to one or more target groups based on rules.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 Check:</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periodic test performed by a load balancer to determine if registered</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tx1"/>
                </a:solidFill>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targets are available and ready to receive traffic.</a:t>
            </a:r>
            <a:endParaRPr lang="en-IN" dirty="0"/>
          </a:p>
          <a:p>
            <a:pPr marL="0" indent="0">
              <a:buNone/>
            </a:pPr>
            <a:r>
              <a:rPr lang="en-IN" b="1" dirty="0"/>
              <a:t>DNS : </a:t>
            </a:r>
            <a:r>
              <a:rPr lang="en-US" sz="1600" dirty="0"/>
              <a:t>DNS (Domain Name System) is the internet's "phonebook" that translates human-readable domain names (like https://www.google.com/search?q=google.com) into numerical IP addresses (like 172.217.160.142) that computers use to locate and connect to websites and other internet resources. </a:t>
            </a:r>
          </a:p>
          <a:p>
            <a:pPr marL="0" indent="0">
              <a:buNone/>
            </a:pPr>
            <a:endParaRPr lang="en-US" sz="1600" dirty="0"/>
          </a:p>
          <a:p>
            <a:pPr marL="0" indent="0">
              <a:buNone/>
            </a:pPr>
            <a:r>
              <a:rPr lang="en-US" sz="1600" b="1" dirty="0">
                <a:solidFill>
                  <a:srgbClr val="002060"/>
                </a:solidFill>
              </a:rPr>
              <a:t>SSL/TLS Certificate: (create in AWS ACM): </a:t>
            </a:r>
            <a:r>
              <a:rPr lang="en-US" sz="1400" dirty="0"/>
              <a:t>SSL/TLS (Secure Sockets Layer/Transport Layer Security) is a cryptographic protocol that provides secure, encrypted communication between a client (like a web browser) and a server, ensuring data privacy, integrity, and authentication.</a:t>
            </a:r>
            <a:endParaRPr lang="en-US" sz="1600" dirty="0"/>
          </a:p>
          <a:p>
            <a:pPr marL="0" indent="0">
              <a:buNone/>
            </a:pPr>
            <a:endParaRPr lang="en-IN" sz="1600" b="1" dirty="0"/>
          </a:p>
        </p:txBody>
      </p:sp>
    </p:spTree>
    <p:extLst>
      <p:ext uri="{BB962C8B-B14F-4D97-AF65-F5344CB8AC3E}">
        <p14:creationId xmlns:p14="http://schemas.microsoft.com/office/powerpoint/2010/main" val="11404361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04AAC-A1ED-578B-D3B3-9AF5448E6D96}"/>
              </a:ext>
            </a:extLst>
          </p:cNvPr>
          <p:cNvSpPr>
            <a:spLocks noGrp="1"/>
          </p:cNvSpPr>
          <p:nvPr>
            <p:ph type="title"/>
          </p:nvPr>
        </p:nvSpPr>
        <p:spPr/>
        <p:txBody>
          <a:bodyPr>
            <a:normAutofit/>
          </a:bodyPr>
          <a:lstStyle/>
          <a:p>
            <a:r>
              <a:rPr lang="en-IN" sz="2000" b="1" i="0" u="none" strike="noStrike" kern="1200" dirty="0">
                <a:solidFill>
                  <a:srgbClr val="002060"/>
                </a:solidFill>
                <a:effectLst/>
                <a:latin typeface="Calibri" panose="020F0502020204030204" pitchFamily="34" charset="0"/>
              </a:rPr>
              <a:t>Week 4.1</a:t>
            </a:r>
            <a:br>
              <a:rPr lang="en-IN" sz="2000" b="0" i="0" u="none" strike="noStrike" dirty="0">
                <a:solidFill>
                  <a:srgbClr val="002060"/>
                </a:solidFill>
                <a:effectLst/>
                <a:latin typeface="Arial" panose="020B0604020202020204" pitchFamily="34" charset="0"/>
              </a:rPr>
            </a:br>
            <a:r>
              <a:rPr lang="en-IN" sz="2000" b="1" i="0" u="none" strike="noStrike" kern="1200" dirty="0">
                <a:solidFill>
                  <a:srgbClr val="002060"/>
                </a:solidFill>
                <a:effectLst/>
                <a:latin typeface="Calibri" panose="020F0502020204030204" pitchFamily="34" charset="0"/>
              </a:rPr>
              <a:t>Real-World Scenarios, Monitoring, and Next Steps (Part 1)</a:t>
            </a:r>
            <a:endParaRPr lang="en-IN" sz="2000" dirty="0"/>
          </a:p>
        </p:txBody>
      </p:sp>
      <p:sp>
        <p:nvSpPr>
          <p:cNvPr id="3" name="Content Placeholder 2">
            <a:extLst>
              <a:ext uri="{FF2B5EF4-FFF2-40B4-BE49-F238E27FC236}">
                <a16:creationId xmlns:a16="http://schemas.microsoft.com/office/drawing/2014/main" id="{3BC56108-ECE5-F38B-F0F7-BD92BC187BDB}"/>
              </a:ext>
            </a:extLst>
          </p:cNvPr>
          <p:cNvSpPr>
            <a:spLocks noGrp="1"/>
          </p:cNvSpPr>
          <p:nvPr>
            <p:ph idx="1"/>
          </p:nvPr>
        </p:nvSpPr>
        <p:spPr/>
        <p:txBody>
          <a:bodyPr/>
          <a:lstStyle/>
          <a:p>
            <a:pPr marL="0" indent="0">
              <a:buNone/>
            </a:pPr>
            <a:r>
              <a:rPr lang="en-US" sz="2000" b="1" dirty="0"/>
              <a:t>Step to configure DNS in AWS: </a:t>
            </a:r>
          </a:p>
          <a:p>
            <a:pPr>
              <a:buFont typeface="Arial" panose="020B0604020202020204" pitchFamily="34" charset="0"/>
              <a:buChar char="•"/>
            </a:pPr>
            <a:r>
              <a:rPr lang="en-US" sz="2000" dirty="0"/>
              <a:t>Purchase DNS from AWS or another DNS provider.</a:t>
            </a:r>
          </a:p>
          <a:p>
            <a:pPr>
              <a:buFont typeface="Arial" panose="020B0604020202020204" pitchFamily="34" charset="0"/>
              <a:buChar char="•"/>
            </a:pPr>
            <a:r>
              <a:rPr lang="en-US" sz="2400" dirty="0">
                <a:effectLst/>
                <a:latin typeface="Calibri" panose="020F0502020204030204" pitchFamily="34" charset="0"/>
                <a:ea typeface="Calibri" panose="020F0502020204030204" pitchFamily="34" charset="0"/>
                <a:cs typeface="Times New Roman" panose="02020603050405020304" pitchFamily="18" charset="0"/>
              </a:rPr>
              <a:t>Transfer DNS to Route 53</a:t>
            </a:r>
          </a:p>
          <a:p>
            <a:pPr>
              <a:buFont typeface="Arial" panose="020B0604020202020204" pitchFamily="34" charset="0"/>
              <a:buChar char="•"/>
            </a:pPr>
            <a:r>
              <a:rPr lang="en-US" sz="2400" dirty="0">
                <a:effectLst/>
                <a:latin typeface="Calibri" panose="020F0502020204030204" pitchFamily="34" charset="0"/>
                <a:ea typeface="Calibri" panose="020F0502020204030204" pitchFamily="34" charset="0"/>
                <a:cs typeface="Times New Roman" panose="02020603050405020304" pitchFamily="18" charset="0"/>
              </a:rPr>
              <a:t>Update Name Servers in another DNS provider(GoDaddy)</a:t>
            </a:r>
            <a:endParaRPr lang="en-US" sz="2000" dirty="0"/>
          </a:p>
          <a:p>
            <a:pPr marL="342900" lvl="0" indent="-342900">
              <a:lnSpc>
                <a:spcPct val="107000"/>
              </a:lnSpc>
              <a:spcAft>
                <a:spcPts val="800"/>
              </a:spcAft>
              <a:buFont typeface="+mj-lt"/>
              <a:buAutoNum type="arabicPeriod"/>
              <a:tabLst>
                <a:tab pos="457200" algn="l"/>
              </a:tabLst>
            </a:pP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(Optional) Add SSL Validation Record</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If using ACM with DNS validation, Route 53 can automatically add the CNAME record for certificate validation.</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Wait for DNS Propagation</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DNS changes (especially name server updates) may take 5 minutes to 48 hours to propagate.</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426699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9BFE5-E672-08C2-17A4-CDC690EC63B6}"/>
              </a:ext>
            </a:extLst>
          </p:cNvPr>
          <p:cNvSpPr>
            <a:spLocks noGrp="1"/>
          </p:cNvSpPr>
          <p:nvPr>
            <p:ph type="title"/>
          </p:nvPr>
        </p:nvSpPr>
        <p:spPr/>
        <p:txBody>
          <a:bodyPr>
            <a:normAutofit fontScale="90000"/>
          </a:bodyPr>
          <a:lstStyle/>
          <a:p>
            <a:br>
              <a:rPr lang="en-IN" sz="2700" u="none" strike="noStrike" dirty="0">
                <a:solidFill>
                  <a:srgbClr val="002060"/>
                </a:solidFill>
                <a:effectLst/>
              </a:rPr>
            </a:br>
            <a:r>
              <a:rPr lang="en-IN" sz="2800" u="none" strike="noStrike" dirty="0">
                <a:solidFill>
                  <a:srgbClr val="002060"/>
                </a:solidFill>
                <a:effectLst/>
              </a:rPr>
              <a:t>Week 4.2</a:t>
            </a:r>
            <a:br>
              <a:rPr lang="en-IN" sz="2800" b="0" i="0" u="none" strike="noStrike" dirty="0">
                <a:solidFill>
                  <a:srgbClr val="002060"/>
                </a:solidFill>
                <a:effectLst/>
                <a:latin typeface="Calibri" panose="020F0502020204030204" pitchFamily="34" charset="0"/>
              </a:rPr>
            </a:br>
            <a:r>
              <a:rPr lang="en-IN" sz="2700" u="none" strike="noStrike" dirty="0">
                <a:solidFill>
                  <a:srgbClr val="002060"/>
                </a:solidFill>
                <a:effectLst/>
              </a:rPr>
              <a:t>Real-World Scenarios, Monitoring, and Next Steps (Part 2)</a:t>
            </a:r>
            <a:br>
              <a:rPr lang="en-IN" sz="4800" b="0" i="0" u="none" strike="noStrike" dirty="0">
                <a:solidFill>
                  <a:srgbClr val="002060"/>
                </a:solidFill>
                <a:effectLst/>
                <a:latin typeface="Calibri" panose="020F0502020204030204" pitchFamily="34" charset="0"/>
              </a:rPr>
            </a:br>
            <a:endParaRPr lang="en-IN" dirty="0">
              <a:solidFill>
                <a:srgbClr val="002060"/>
              </a:solidFill>
            </a:endParaRPr>
          </a:p>
        </p:txBody>
      </p:sp>
      <p:sp>
        <p:nvSpPr>
          <p:cNvPr id="3" name="Content Placeholder 2">
            <a:extLst>
              <a:ext uri="{FF2B5EF4-FFF2-40B4-BE49-F238E27FC236}">
                <a16:creationId xmlns:a16="http://schemas.microsoft.com/office/drawing/2014/main" id="{EB840C11-428B-1B27-EAFE-72950869DE58}"/>
              </a:ext>
            </a:extLst>
          </p:cNvPr>
          <p:cNvSpPr>
            <a:spLocks noGrp="1"/>
          </p:cNvSpPr>
          <p:nvPr>
            <p:ph idx="1"/>
          </p:nvPr>
        </p:nvSpPr>
        <p:spPr/>
        <p:txBody>
          <a:bodyPr/>
          <a:lstStyle/>
          <a:p>
            <a:r>
              <a:rPr lang="en-IN" sz="2000" u="none" strike="noStrike" kern="1200" dirty="0">
                <a:solidFill>
                  <a:schemeClr val="dk1"/>
                </a:solidFill>
                <a:effectLst/>
                <a:latin typeface="+mn-lt"/>
                <a:ea typeface="+mn-ea"/>
                <a:cs typeface="+mn-cs"/>
              </a:rPr>
              <a:t>Troubleshooting common deployment issues (EC2, VPC, CloudFront) via pipelines; </a:t>
            </a:r>
          </a:p>
          <a:p>
            <a:r>
              <a:rPr lang="en-IN" sz="2000" u="none" strike="noStrike" kern="1200" dirty="0">
                <a:solidFill>
                  <a:schemeClr val="dk1"/>
                </a:solidFill>
                <a:effectLst/>
                <a:latin typeface="+mn-lt"/>
                <a:ea typeface="+mn-ea"/>
                <a:cs typeface="+mn-cs"/>
              </a:rPr>
              <a:t>Brief overview of monitoring: CloudWatch for EC2 instances, VPC flow logs, CloudFront access logs;</a:t>
            </a:r>
          </a:p>
          <a:p>
            <a:r>
              <a:rPr lang="en-IN" sz="2000" u="none" strike="noStrike" kern="1200" dirty="0">
                <a:solidFill>
                  <a:schemeClr val="dk1"/>
                </a:solidFill>
                <a:effectLst/>
                <a:latin typeface="+mn-lt"/>
                <a:ea typeface="+mn-ea"/>
                <a:cs typeface="+mn-cs"/>
              </a:rPr>
              <a:t>Q&amp;A and next steps for continuous learning.</a:t>
            </a:r>
          </a:p>
          <a:p>
            <a:endParaRPr lang="en-IN" dirty="0"/>
          </a:p>
        </p:txBody>
      </p:sp>
    </p:spTree>
    <p:extLst>
      <p:ext uri="{BB962C8B-B14F-4D97-AF65-F5344CB8AC3E}">
        <p14:creationId xmlns:p14="http://schemas.microsoft.com/office/powerpoint/2010/main" val="23800405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08689-A526-4265-CF5E-169159A8E9C1}"/>
              </a:ext>
            </a:extLst>
          </p:cNvPr>
          <p:cNvSpPr>
            <a:spLocks noGrp="1"/>
          </p:cNvSpPr>
          <p:nvPr>
            <p:ph type="title"/>
          </p:nvPr>
        </p:nvSpPr>
        <p:spPr/>
        <p:txBody>
          <a:bodyPr>
            <a:normAutofit/>
          </a:bodyPr>
          <a:lstStyle/>
          <a:p>
            <a:r>
              <a:rPr lang="en-IN" sz="2800" b="1" u="none" strike="noStrike" dirty="0">
                <a:solidFill>
                  <a:srgbClr val="002060"/>
                </a:solidFill>
                <a:effectLst/>
              </a:rPr>
              <a:t>Week 4.2</a:t>
            </a:r>
            <a:br>
              <a:rPr lang="en-IN" sz="2800" b="1" i="0" u="none" strike="noStrike" dirty="0">
                <a:solidFill>
                  <a:srgbClr val="002060"/>
                </a:solidFill>
                <a:effectLst/>
                <a:latin typeface="Calibri" panose="020F0502020204030204" pitchFamily="34" charset="0"/>
              </a:rPr>
            </a:br>
            <a:r>
              <a:rPr lang="en-IN" sz="2800" b="1" u="none" strike="noStrike" dirty="0">
                <a:solidFill>
                  <a:srgbClr val="002060"/>
                </a:solidFill>
                <a:effectLst/>
              </a:rPr>
              <a:t>Real-World Scenarios, Monitoring, and Next Steps (Part 2)</a:t>
            </a:r>
            <a:endParaRPr lang="en-IN" sz="2800" b="1" dirty="0"/>
          </a:p>
        </p:txBody>
      </p:sp>
      <p:sp>
        <p:nvSpPr>
          <p:cNvPr id="3" name="Content Placeholder 2">
            <a:extLst>
              <a:ext uri="{FF2B5EF4-FFF2-40B4-BE49-F238E27FC236}">
                <a16:creationId xmlns:a16="http://schemas.microsoft.com/office/drawing/2014/main" id="{986FC7F6-8B76-FCAE-E76B-5B5381D94EBD}"/>
              </a:ext>
            </a:extLst>
          </p:cNvPr>
          <p:cNvSpPr>
            <a:spLocks noGrp="1"/>
          </p:cNvSpPr>
          <p:nvPr>
            <p:ph idx="1"/>
          </p:nvPr>
        </p:nvSpPr>
        <p:spPr/>
        <p:txBody>
          <a:bodyPr>
            <a:normAutofit/>
          </a:bodyPr>
          <a:lstStyle/>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Troubleshooting Guide Link: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https://learn.microsoft.com/en-us/azure/devops/pipelines/troubleshooting/troubleshoot-triggers?view=azure-devops</a:t>
            </a:r>
            <a:endParaRPr lang="en-US" sz="1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2000" u="none" strike="noStrike" kern="1200" dirty="0">
                <a:solidFill>
                  <a:schemeClr val="dk1"/>
                </a:solidFill>
                <a:effectLst/>
                <a:latin typeface="+mn-lt"/>
                <a:ea typeface="+mn-ea"/>
                <a:cs typeface="+mn-cs"/>
              </a:rPr>
              <a:t>                    Brief overview of monitoring: </a:t>
            </a:r>
          </a:p>
          <a:p>
            <a:pPr>
              <a:buFont typeface="Arial" panose="020B0604020202020204" pitchFamily="34" charset="0"/>
              <a:buChar char="•"/>
            </a:pPr>
            <a:r>
              <a:rPr lang="en-IN" dirty="0">
                <a:solidFill>
                  <a:schemeClr val="dk1"/>
                </a:solidFill>
              </a:rPr>
              <a:t> </a:t>
            </a:r>
            <a:r>
              <a:rPr lang="en-IN" sz="2000" u="none" strike="noStrike" kern="1200" dirty="0">
                <a:solidFill>
                  <a:schemeClr val="dk1"/>
                </a:solidFill>
                <a:effectLst/>
                <a:latin typeface="+mn-lt"/>
                <a:ea typeface="+mn-ea"/>
                <a:cs typeface="+mn-cs"/>
              </a:rPr>
              <a:t>CloudWatch for EC2 instances</a:t>
            </a:r>
          </a:p>
          <a:p>
            <a:pPr marL="201168" lvl="1" indent="0">
              <a:buNone/>
            </a:pPr>
            <a:r>
              <a:rPr lang="en-US" sz="1400" dirty="0">
                <a:solidFill>
                  <a:schemeClr val="dk1"/>
                </a:solidFill>
              </a:rPr>
              <a:t>      </a:t>
            </a:r>
            <a:r>
              <a:rPr lang="en-US" sz="1400" dirty="0" err="1">
                <a:solidFill>
                  <a:schemeClr val="dk1"/>
                </a:solidFill>
              </a:rPr>
              <a:t>sudo</a:t>
            </a:r>
            <a:r>
              <a:rPr lang="en-US" sz="1400" dirty="0">
                <a:solidFill>
                  <a:schemeClr val="dk1"/>
                </a:solidFill>
              </a:rPr>
              <a:t> apt-get update (yam update –y)</a:t>
            </a:r>
          </a:p>
          <a:p>
            <a:pPr marL="201168" lvl="1" indent="0">
              <a:buNone/>
            </a:pPr>
            <a:r>
              <a:rPr lang="en-US" sz="1400" dirty="0">
                <a:solidFill>
                  <a:schemeClr val="dk1"/>
                </a:solidFill>
              </a:rPr>
              <a:t>      </a:t>
            </a:r>
            <a:r>
              <a:rPr lang="en-US" sz="1400" dirty="0" err="1">
                <a:solidFill>
                  <a:schemeClr val="dk1"/>
                </a:solidFill>
              </a:rPr>
              <a:t>sudo</a:t>
            </a:r>
            <a:r>
              <a:rPr lang="en-US" sz="1400" dirty="0">
                <a:solidFill>
                  <a:schemeClr val="dk1"/>
                </a:solidFill>
              </a:rPr>
              <a:t> apt-get install -y stress (yum install stress –y)</a:t>
            </a:r>
            <a:br>
              <a:rPr lang="en-IN" sz="1400" u="none" strike="noStrike" kern="1200" dirty="0">
                <a:solidFill>
                  <a:schemeClr val="dk1"/>
                </a:solidFill>
                <a:effectLst/>
                <a:latin typeface="+mn-lt"/>
                <a:ea typeface="+mn-ea"/>
                <a:cs typeface="+mn-cs"/>
              </a:rPr>
            </a:br>
            <a:r>
              <a:rPr lang="en-IN" sz="1400" u="none" strike="noStrike" kern="1200" dirty="0">
                <a:solidFill>
                  <a:schemeClr val="dk1"/>
                </a:solidFill>
                <a:effectLst/>
                <a:latin typeface="+mn-lt"/>
                <a:ea typeface="+mn-ea"/>
                <a:cs typeface="+mn-cs"/>
              </a:rPr>
              <a:t>      </a:t>
            </a:r>
            <a:r>
              <a:rPr lang="en-US" sz="1400" u="none" strike="noStrike" kern="1200" dirty="0">
                <a:solidFill>
                  <a:schemeClr val="dk1"/>
                </a:solidFill>
                <a:effectLst/>
                <a:latin typeface="+mn-lt"/>
                <a:ea typeface="+mn-ea"/>
                <a:cs typeface="+mn-cs"/>
              </a:rPr>
              <a:t>stress --</a:t>
            </a:r>
            <a:r>
              <a:rPr lang="en-US" sz="1400" u="none" strike="noStrike" kern="1200" dirty="0" err="1">
                <a:solidFill>
                  <a:schemeClr val="dk1"/>
                </a:solidFill>
                <a:effectLst/>
                <a:latin typeface="+mn-lt"/>
                <a:ea typeface="+mn-ea"/>
                <a:cs typeface="+mn-cs"/>
              </a:rPr>
              <a:t>cpu</a:t>
            </a:r>
            <a:r>
              <a:rPr lang="en-US" sz="1400" u="none" strike="noStrike" kern="1200" dirty="0">
                <a:solidFill>
                  <a:schemeClr val="dk1"/>
                </a:solidFill>
                <a:effectLst/>
                <a:latin typeface="+mn-lt"/>
                <a:ea typeface="+mn-ea"/>
                <a:cs typeface="+mn-cs"/>
              </a:rPr>
              <a:t> 2 --timeout 600</a:t>
            </a:r>
            <a:endParaRPr lang="en-IN" sz="1400" u="none" strike="noStrike" kern="1200" dirty="0">
              <a:solidFill>
                <a:schemeClr val="dk1"/>
              </a:solidFill>
              <a:effectLst/>
              <a:latin typeface="+mn-lt"/>
              <a:ea typeface="+mn-ea"/>
              <a:cs typeface="+mn-cs"/>
            </a:endParaRPr>
          </a:p>
          <a:p>
            <a:pPr>
              <a:buFont typeface="Arial" panose="020B0604020202020204" pitchFamily="34" charset="0"/>
              <a:buChar char="•"/>
            </a:pPr>
            <a:r>
              <a:rPr lang="en-IN" sz="2000" u="none" strike="noStrike" kern="1200" dirty="0">
                <a:solidFill>
                  <a:schemeClr val="dk1"/>
                </a:solidFill>
                <a:effectLst/>
                <a:latin typeface="+mn-lt"/>
                <a:ea typeface="+mn-ea"/>
                <a:cs typeface="+mn-cs"/>
              </a:rPr>
              <a:t>VPC flow logs</a:t>
            </a:r>
          </a:p>
          <a:p>
            <a:pPr>
              <a:buFont typeface="Arial" panose="020B0604020202020204" pitchFamily="34" charset="0"/>
              <a:buChar char="•"/>
            </a:pPr>
            <a:r>
              <a:rPr lang="en-IN" sz="2000" u="none" strike="noStrike" kern="1200" dirty="0">
                <a:solidFill>
                  <a:schemeClr val="dk1"/>
                </a:solidFill>
                <a:effectLst/>
                <a:latin typeface="+mn-lt"/>
                <a:ea typeface="+mn-ea"/>
                <a:cs typeface="+mn-cs"/>
              </a:rPr>
              <a:t>CloudFront access logs</a:t>
            </a:r>
            <a:br>
              <a:rPr lang="en-IN" sz="2000" u="none" strike="noStrike" kern="1200" dirty="0">
                <a:solidFill>
                  <a:schemeClr val="dk1"/>
                </a:solidFill>
                <a:effectLst/>
                <a:latin typeface="+mn-lt"/>
                <a:ea typeface="+mn-ea"/>
                <a:cs typeface="+mn-cs"/>
              </a:rPr>
            </a:br>
            <a:endParaRPr lang="en-IN" dirty="0"/>
          </a:p>
        </p:txBody>
      </p:sp>
    </p:spTree>
    <p:extLst>
      <p:ext uri="{BB962C8B-B14F-4D97-AF65-F5344CB8AC3E}">
        <p14:creationId xmlns:p14="http://schemas.microsoft.com/office/powerpoint/2010/main" val="20122044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3F738-6B8B-786C-5D28-EEC21319C4E9}"/>
              </a:ext>
            </a:extLst>
          </p:cNvPr>
          <p:cNvSpPr>
            <a:spLocks noGrp="1"/>
          </p:cNvSpPr>
          <p:nvPr>
            <p:ph type="title"/>
          </p:nvPr>
        </p:nvSpPr>
        <p:spPr/>
        <p:txBody>
          <a:bodyPr>
            <a:normAutofit fontScale="90000"/>
          </a:bodyPr>
          <a:lstStyle/>
          <a:p>
            <a:r>
              <a:rPr lang="en-IN" sz="2800" b="1" u="none" strike="noStrike" dirty="0">
                <a:solidFill>
                  <a:srgbClr val="002060"/>
                </a:solidFill>
                <a:effectLst/>
              </a:rPr>
              <a:t>Week 4.2</a:t>
            </a:r>
            <a:br>
              <a:rPr lang="en-IN" sz="2800" b="1" i="0" u="none" strike="noStrike" dirty="0">
                <a:solidFill>
                  <a:srgbClr val="002060"/>
                </a:solidFill>
                <a:effectLst/>
                <a:latin typeface="Calibri" panose="020F0502020204030204" pitchFamily="34" charset="0"/>
              </a:rPr>
            </a:br>
            <a:r>
              <a:rPr lang="en-IN" sz="2800" b="1" u="none" strike="noStrike" dirty="0">
                <a:solidFill>
                  <a:srgbClr val="002060"/>
                </a:solidFill>
                <a:effectLst/>
              </a:rPr>
              <a:t>Real-World Scenarios, Monitoring, and Next Steps (Part 2)</a:t>
            </a:r>
            <a:br>
              <a:rPr lang="en-IN" sz="2800" b="1" u="none" strike="noStrike" dirty="0">
                <a:solidFill>
                  <a:srgbClr val="002060"/>
                </a:solidFill>
                <a:effectLst/>
              </a:rPr>
            </a:br>
            <a:br>
              <a:rPr lang="en-IN" sz="2800" b="1" u="none" strike="noStrike" dirty="0">
                <a:solidFill>
                  <a:srgbClr val="002060"/>
                </a:solidFill>
                <a:effectLst/>
              </a:rPr>
            </a:br>
            <a:r>
              <a:rPr lang="en-IN" sz="2800" b="1" u="none" strike="noStrike" kern="1200" dirty="0">
                <a:solidFill>
                  <a:schemeClr val="dk1"/>
                </a:solidFill>
                <a:effectLst/>
                <a:latin typeface="+mn-lt"/>
                <a:ea typeface="+mn-ea"/>
                <a:cs typeface="+mn-cs"/>
              </a:rPr>
              <a:t>CloudWatch for EC2 instances, </a:t>
            </a:r>
            <a:endParaRPr lang="en-IN" sz="2800" b="1" dirty="0"/>
          </a:p>
        </p:txBody>
      </p:sp>
      <p:pic>
        <p:nvPicPr>
          <p:cNvPr id="5" name="Content Placeholder 4">
            <a:extLst>
              <a:ext uri="{FF2B5EF4-FFF2-40B4-BE49-F238E27FC236}">
                <a16:creationId xmlns:a16="http://schemas.microsoft.com/office/drawing/2014/main" id="{67A8D383-E693-2974-FF71-291FBD5AF7BF}"/>
              </a:ext>
            </a:extLst>
          </p:cNvPr>
          <p:cNvPicPr>
            <a:picLocks noGrp="1" noChangeAspect="1"/>
          </p:cNvPicPr>
          <p:nvPr>
            <p:ph idx="1"/>
          </p:nvPr>
        </p:nvPicPr>
        <p:blipFill>
          <a:blip r:embed="rId2"/>
          <a:stretch>
            <a:fillRect/>
          </a:stretch>
        </p:blipFill>
        <p:spPr>
          <a:xfrm>
            <a:off x="1096963" y="1921878"/>
            <a:ext cx="10058400" cy="3871494"/>
          </a:xfrm>
        </p:spPr>
      </p:pic>
    </p:spTree>
    <p:extLst>
      <p:ext uri="{BB962C8B-B14F-4D97-AF65-F5344CB8AC3E}">
        <p14:creationId xmlns:p14="http://schemas.microsoft.com/office/powerpoint/2010/main" val="11776599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09494-3994-DEA2-9323-2E9E1B107180}"/>
              </a:ext>
            </a:extLst>
          </p:cNvPr>
          <p:cNvSpPr>
            <a:spLocks noGrp="1"/>
          </p:cNvSpPr>
          <p:nvPr>
            <p:ph type="title"/>
          </p:nvPr>
        </p:nvSpPr>
        <p:spPr/>
        <p:txBody>
          <a:bodyPr>
            <a:normAutofit/>
          </a:bodyPr>
          <a:lstStyle/>
          <a:p>
            <a:r>
              <a:rPr lang="en-IN" sz="2800" b="1" u="none" strike="noStrike" dirty="0">
                <a:solidFill>
                  <a:srgbClr val="002060"/>
                </a:solidFill>
                <a:effectLst/>
              </a:rPr>
              <a:t>Week 4.2</a:t>
            </a:r>
            <a:br>
              <a:rPr lang="en-IN" sz="2800" b="1" i="0" u="none" strike="noStrike" dirty="0">
                <a:solidFill>
                  <a:srgbClr val="002060"/>
                </a:solidFill>
                <a:effectLst/>
                <a:latin typeface="Calibri" panose="020F0502020204030204" pitchFamily="34" charset="0"/>
              </a:rPr>
            </a:br>
            <a:r>
              <a:rPr lang="en-IN" sz="2800" b="1" u="none" strike="noStrike" dirty="0">
                <a:solidFill>
                  <a:srgbClr val="002060"/>
                </a:solidFill>
                <a:effectLst/>
              </a:rPr>
              <a:t>Real-World Scenarios, Monitoring, and Next Steps (Part 2)</a:t>
            </a:r>
            <a:endParaRPr lang="en-IN" sz="2800" dirty="0"/>
          </a:p>
        </p:txBody>
      </p:sp>
      <p:sp>
        <p:nvSpPr>
          <p:cNvPr id="3" name="Content Placeholder 2">
            <a:extLst>
              <a:ext uri="{FF2B5EF4-FFF2-40B4-BE49-F238E27FC236}">
                <a16:creationId xmlns:a16="http://schemas.microsoft.com/office/drawing/2014/main" id="{C42CC00E-36F7-746A-4C72-D4D31FB5AB80}"/>
              </a:ext>
            </a:extLst>
          </p:cNvPr>
          <p:cNvSpPr>
            <a:spLocks noGrp="1"/>
          </p:cNvSpPr>
          <p:nvPr>
            <p:ph idx="1"/>
          </p:nvPr>
        </p:nvSpPr>
        <p:spPr/>
        <p:txBody>
          <a:bodyPr/>
          <a:lstStyle/>
          <a:p>
            <a:r>
              <a:rPr lang="en-IN" sz="2000" b="1" u="none" strike="noStrike" kern="1200" dirty="0">
                <a:solidFill>
                  <a:schemeClr val="dk1"/>
                </a:solidFill>
                <a:effectLst/>
                <a:latin typeface="+mn-lt"/>
                <a:ea typeface="+mn-ea"/>
                <a:cs typeface="+mn-cs"/>
              </a:rPr>
              <a:t>VPC flow logs </a:t>
            </a:r>
            <a:r>
              <a:rPr lang="en-US" dirty="0">
                <a:effectLst/>
              </a:rPr>
              <a:t>captures metadata about IP traffic going to and from network interfaces in your Amazon Virtual Private Cloud (VPC).</a:t>
            </a:r>
          </a:p>
          <a:p>
            <a:endParaRPr lang="en-US" dirty="0">
              <a:effectLst/>
            </a:endParaRPr>
          </a:p>
          <a:p>
            <a:endParaRPr lang="en-US" dirty="0">
              <a:effectLst/>
            </a:endParaRPr>
          </a:p>
          <a:p>
            <a:endParaRPr lang="en-IN" dirty="0"/>
          </a:p>
        </p:txBody>
      </p:sp>
      <p:pic>
        <p:nvPicPr>
          <p:cNvPr id="5" name="Picture 4">
            <a:extLst>
              <a:ext uri="{FF2B5EF4-FFF2-40B4-BE49-F238E27FC236}">
                <a16:creationId xmlns:a16="http://schemas.microsoft.com/office/drawing/2014/main" id="{D9FD09AD-C433-9223-4117-A34A4B3E76AF}"/>
              </a:ext>
            </a:extLst>
          </p:cNvPr>
          <p:cNvPicPr>
            <a:picLocks noChangeAspect="1"/>
          </p:cNvPicPr>
          <p:nvPr/>
        </p:nvPicPr>
        <p:blipFill>
          <a:blip r:embed="rId2"/>
          <a:stretch>
            <a:fillRect/>
          </a:stretch>
        </p:blipFill>
        <p:spPr>
          <a:xfrm>
            <a:off x="1201606" y="2773854"/>
            <a:ext cx="7055213" cy="2330570"/>
          </a:xfrm>
          <a:prstGeom prst="rect">
            <a:avLst/>
          </a:prstGeom>
        </p:spPr>
      </p:pic>
    </p:spTree>
    <p:extLst>
      <p:ext uri="{BB962C8B-B14F-4D97-AF65-F5344CB8AC3E}">
        <p14:creationId xmlns:p14="http://schemas.microsoft.com/office/powerpoint/2010/main" val="26572796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38F4-39C3-087B-FED4-B39857571ADA}"/>
              </a:ext>
            </a:extLst>
          </p:cNvPr>
          <p:cNvSpPr>
            <a:spLocks noGrp="1"/>
          </p:cNvSpPr>
          <p:nvPr>
            <p:ph type="title"/>
          </p:nvPr>
        </p:nvSpPr>
        <p:spPr/>
        <p:txBody>
          <a:bodyPr>
            <a:normAutofit/>
          </a:bodyPr>
          <a:lstStyle/>
          <a:p>
            <a:r>
              <a:rPr lang="en-IN" sz="2800" b="1" u="none" strike="noStrike" dirty="0">
                <a:solidFill>
                  <a:srgbClr val="002060"/>
                </a:solidFill>
                <a:effectLst/>
              </a:rPr>
              <a:t>Week 4.2</a:t>
            </a:r>
            <a:br>
              <a:rPr lang="en-IN" sz="2800" b="1" i="0" u="none" strike="noStrike" dirty="0">
                <a:solidFill>
                  <a:srgbClr val="002060"/>
                </a:solidFill>
                <a:effectLst/>
                <a:latin typeface="Calibri" panose="020F0502020204030204" pitchFamily="34" charset="0"/>
              </a:rPr>
            </a:br>
            <a:r>
              <a:rPr lang="en-IN" sz="2800" b="1" u="none" strike="noStrike" dirty="0">
                <a:solidFill>
                  <a:srgbClr val="002060"/>
                </a:solidFill>
                <a:effectLst/>
              </a:rPr>
              <a:t>Real-World Scenarios, Monitoring, and Next Steps (Part 2)</a:t>
            </a:r>
            <a:endParaRPr lang="en-IN" sz="2800" dirty="0"/>
          </a:p>
        </p:txBody>
      </p:sp>
      <p:sp>
        <p:nvSpPr>
          <p:cNvPr id="3" name="Content Placeholder 2">
            <a:extLst>
              <a:ext uri="{FF2B5EF4-FFF2-40B4-BE49-F238E27FC236}">
                <a16:creationId xmlns:a16="http://schemas.microsoft.com/office/drawing/2014/main" id="{CD9E781F-E7FD-D706-5198-9283348F3A3B}"/>
              </a:ext>
            </a:extLst>
          </p:cNvPr>
          <p:cNvSpPr>
            <a:spLocks noGrp="1"/>
          </p:cNvSpPr>
          <p:nvPr>
            <p:ph idx="1"/>
          </p:nvPr>
        </p:nvSpPr>
        <p:spPr/>
        <p:txBody>
          <a:bodyPr/>
          <a:lstStyle/>
          <a:p>
            <a:r>
              <a:rPr lang="en-IN" sz="2000" b="1" u="none" strike="noStrike" kern="1200" dirty="0">
                <a:solidFill>
                  <a:schemeClr val="dk1"/>
                </a:solidFill>
                <a:effectLst/>
                <a:latin typeface="+mn-lt"/>
                <a:ea typeface="+mn-ea"/>
                <a:cs typeface="+mn-cs"/>
              </a:rPr>
              <a:t>CloudFront access logs</a:t>
            </a:r>
          </a:p>
          <a:p>
            <a:r>
              <a:rPr lang="en-US" dirty="0">
                <a:effectLst/>
              </a:rPr>
              <a:t>CloudFront Access Logs are detailed records of requests made to an Amazon CloudFront distribution, capturing metadata about HTTP/HTTPS requests, such as the client’s IP address, requested object, response status, bytes transferred, and more</a:t>
            </a:r>
          </a:p>
          <a:p>
            <a:endParaRPr lang="en-US" dirty="0">
              <a:effectLst/>
            </a:endParaRPr>
          </a:p>
          <a:p>
            <a:endParaRPr lang="en-IN" dirty="0"/>
          </a:p>
        </p:txBody>
      </p:sp>
      <p:pic>
        <p:nvPicPr>
          <p:cNvPr id="5" name="Picture 4">
            <a:extLst>
              <a:ext uri="{FF2B5EF4-FFF2-40B4-BE49-F238E27FC236}">
                <a16:creationId xmlns:a16="http://schemas.microsoft.com/office/drawing/2014/main" id="{23014633-F70E-F50D-BA40-FCBC60FB7C2F}"/>
              </a:ext>
            </a:extLst>
          </p:cNvPr>
          <p:cNvPicPr>
            <a:picLocks noChangeAspect="1"/>
          </p:cNvPicPr>
          <p:nvPr/>
        </p:nvPicPr>
        <p:blipFill>
          <a:blip r:embed="rId2"/>
          <a:stretch>
            <a:fillRect/>
          </a:stretch>
        </p:blipFill>
        <p:spPr>
          <a:xfrm>
            <a:off x="1255572" y="3288084"/>
            <a:ext cx="10008114" cy="3111660"/>
          </a:xfrm>
          <a:prstGeom prst="rect">
            <a:avLst/>
          </a:prstGeom>
        </p:spPr>
      </p:pic>
    </p:spTree>
    <p:extLst>
      <p:ext uri="{BB962C8B-B14F-4D97-AF65-F5344CB8AC3E}">
        <p14:creationId xmlns:p14="http://schemas.microsoft.com/office/powerpoint/2010/main" val="13138256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96797-E67B-130E-E426-4A8580048B02}"/>
              </a:ext>
            </a:extLst>
          </p:cNvPr>
          <p:cNvSpPr>
            <a:spLocks noGrp="1"/>
          </p:cNvSpPr>
          <p:nvPr>
            <p:ph type="title"/>
          </p:nvPr>
        </p:nvSpPr>
        <p:spPr/>
        <p:txBody>
          <a:bodyPr>
            <a:normAutofit/>
          </a:bodyPr>
          <a:lstStyle/>
          <a:p>
            <a:r>
              <a:rPr lang="en-IN" sz="2400" b="1" u="none" strike="noStrike" dirty="0">
                <a:solidFill>
                  <a:srgbClr val="002060"/>
                </a:solidFill>
                <a:effectLst/>
              </a:rPr>
              <a:t>Week 4.2</a:t>
            </a:r>
            <a:br>
              <a:rPr lang="en-IN" sz="2400" b="1" i="0" u="none" strike="noStrike" dirty="0">
                <a:solidFill>
                  <a:srgbClr val="002060"/>
                </a:solidFill>
                <a:effectLst/>
                <a:latin typeface="Calibri" panose="020F0502020204030204" pitchFamily="34" charset="0"/>
              </a:rPr>
            </a:br>
            <a:r>
              <a:rPr lang="en-IN" sz="2400" b="1" u="none" strike="noStrike" dirty="0">
                <a:solidFill>
                  <a:srgbClr val="002060"/>
                </a:solidFill>
                <a:effectLst/>
              </a:rPr>
              <a:t>Real-World Scenarios, Monitoring, and Next Steps (Part 2)</a:t>
            </a:r>
            <a:endParaRPr lang="en-IN" sz="2400" dirty="0"/>
          </a:p>
        </p:txBody>
      </p:sp>
      <p:sp>
        <p:nvSpPr>
          <p:cNvPr id="3" name="Content Placeholder 2">
            <a:extLst>
              <a:ext uri="{FF2B5EF4-FFF2-40B4-BE49-F238E27FC236}">
                <a16:creationId xmlns:a16="http://schemas.microsoft.com/office/drawing/2014/main" id="{CCCF4D21-9D27-6584-AE86-0C125064186D}"/>
              </a:ext>
            </a:extLst>
          </p:cNvPr>
          <p:cNvSpPr>
            <a:spLocks noGrp="1"/>
          </p:cNvSpPr>
          <p:nvPr>
            <p:ph idx="1"/>
          </p:nvPr>
        </p:nvSpPr>
        <p:spPr/>
        <p:txBody>
          <a:bodyPr>
            <a:noAutofit/>
          </a:bodyPr>
          <a:lstStyle/>
          <a:p>
            <a:r>
              <a:rPr lang="en-IN" sz="1600" u="none" strike="noStrike" kern="1200" dirty="0">
                <a:solidFill>
                  <a:schemeClr val="dk1"/>
                </a:solidFill>
                <a:effectLst/>
              </a:rPr>
              <a:t>Q&amp;A and next steps for continuous learning.</a:t>
            </a:r>
          </a:p>
          <a:p>
            <a:r>
              <a:rPr lang="en-IN" sz="1600" b="1" dirty="0">
                <a:solidFill>
                  <a:schemeClr val="dk1"/>
                </a:solidFill>
              </a:rPr>
              <a:t>Important Link: </a:t>
            </a:r>
          </a:p>
          <a:p>
            <a:r>
              <a:rPr lang="en-IN" sz="1600" b="1" u="none" strike="noStrike" kern="1200" dirty="0" err="1">
                <a:solidFill>
                  <a:schemeClr val="dk1"/>
                </a:solidFill>
                <a:effectLst/>
              </a:rPr>
              <a:t>Github</a:t>
            </a:r>
            <a:r>
              <a:rPr lang="en-IN" sz="1600" b="1" dirty="0">
                <a:solidFill>
                  <a:schemeClr val="dk1"/>
                </a:solidFill>
              </a:rPr>
              <a:t> :</a:t>
            </a:r>
            <a:r>
              <a:rPr lang="en-US" sz="1600" u="sng" dirty="0">
                <a:hlinkClick r:id="rId2"/>
              </a:rPr>
              <a:t>https://github.com/mintuminuteonline/AzureCloudformationProject</a:t>
            </a:r>
            <a:endParaRPr lang="en-IN" sz="1600" dirty="0"/>
          </a:p>
          <a:p>
            <a:r>
              <a:rPr lang="fr-FR" sz="1600" dirty="0">
                <a:solidFill>
                  <a:srgbClr val="406E8D"/>
                </a:solidFill>
                <a:latin typeface="Calibri" panose="020F0502020204030204" pitchFamily="34" charset="0"/>
              </a:rPr>
              <a:t>AWS Ressources Documentation (</a:t>
            </a:r>
            <a:r>
              <a:rPr lang="fr-FR" sz="1600" dirty="0" err="1">
                <a:solidFill>
                  <a:srgbClr val="406E8D"/>
                </a:solidFill>
                <a:latin typeface="Calibri" panose="020F0502020204030204" pitchFamily="34" charset="0"/>
              </a:rPr>
              <a:t>CloudFormation</a:t>
            </a:r>
            <a:r>
              <a:rPr lang="fr-FR" sz="1600" dirty="0">
                <a:solidFill>
                  <a:srgbClr val="406E8D"/>
                </a:solidFill>
                <a:latin typeface="Calibri" panose="020F0502020204030204" pitchFamily="34" charset="0"/>
              </a:rPr>
              <a:t>)</a:t>
            </a:r>
          </a:p>
          <a:p>
            <a:r>
              <a:rPr lang="en-IN" sz="1600" b="1" dirty="0">
                <a:solidFill>
                  <a:srgbClr val="406E8D"/>
                </a:solidFill>
                <a:latin typeface="Calibri" panose="020F0502020204030204" pitchFamily="34" charset="0"/>
                <a:hlinkClick r:id="rId3"/>
              </a:rPr>
              <a:t>https://docs.aws.amazon.com/AWSCloudFormation/latest/TemplateReference/aws-template-resource-type-ref.html</a:t>
            </a:r>
            <a:endParaRPr lang="en-IN" sz="1600" b="1" dirty="0">
              <a:solidFill>
                <a:srgbClr val="406E8D"/>
              </a:solidFill>
              <a:latin typeface="Calibri" panose="020F0502020204030204" pitchFamily="34" charset="0"/>
            </a:endParaRPr>
          </a:p>
          <a:p>
            <a:pPr>
              <a:buFont typeface="Arial" panose="020B0604020202020204" pitchFamily="34" charset="0"/>
              <a:buChar char="•"/>
            </a:pPr>
            <a:r>
              <a:rPr lang="en-US" sz="1600" dirty="0"/>
              <a:t>To federate into AWS from Azure DevOps using OpenID Connect . </a:t>
            </a:r>
            <a:r>
              <a:rPr lang="en-IN" sz="1600" u="sng" dirty="0">
                <a:solidFill>
                  <a:srgbClr val="0000FF"/>
                </a:solidFill>
                <a:latin typeface="Times New Roman" panose="02020603050405020304" pitchFamily="18" charset="0"/>
                <a:ea typeface="Times New Roman" panose="02020603050405020304" pitchFamily="18" charset="0"/>
                <a:hlinkClick r:id="rId4"/>
              </a:rPr>
              <a:t>How to federate into AWS from Azure DevOps using OpenID Connect | Microsoft Workloads on AWS</a:t>
            </a:r>
            <a:endParaRPr lang="en-IN" sz="1600" u="sng" dirty="0">
              <a:solidFill>
                <a:srgbClr val="0000FF"/>
              </a:solidFill>
              <a:latin typeface="Times New Roman" panose="02020603050405020304" pitchFamily="18" charset="0"/>
              <a:ea typeface="Times New Roman" panose="02020603050405020304" pitchFamily="18" charset="0"/>
            </a:endParaRPr>
          </a:p>
          <a:p>
            <a:pPr>
              <a:buFont typeface="Arial" panose="020B0604020202020204" pitchFamily="34" charset="0"/>
              <a:buChar char="•"/>
            </a:pPr>
            <a:r>
              <a:rPr lang="en-US" sz="1600" b="1" dirty="0"/>
              <a:t>CD Job</a:t>
            </a:r>
            <a:r>
              <a:rPr lang="en-US" sz="1600" dirty="0"/>
              <a:t>: Deploys the stack using AWS CLI, with an approval gate.</a:t>
            </a:r>
          </a:p>
          <a:p>
            <a:pPr marL="201168" lvl="1" indent="0">
              <a:buNone/>
            </a:pPr>
            <a:r>
              <a:rPr lang="en-IN" sz="1600" u="sng" dirty="0">
                <a:solidFill>
                  <a:srgbClr val="0000FF"/>
                </a:solidFill>
                <a:latin typeface="Times New Roman" panose="02020603050405020304" pitchFamily="18" charset="0"/>
                <a:ea typeface="Times New Roman" panose="02020603050405020304" pitchFamily="18" charset="0"/>
                <a:hlinkClick r:id="rId5"/>
              </a:rPr>
              <a:t>https://learn.microsoft.com/en-us/azure/devops/pipelines/yaml-schema?view=azure-devops</a:t>
            </a:r>
            <a:endParaRPr lang="en-IN" sz="1600" u="sng" dirty="0">
              <a:solidFill>
                <a:srgbClr val="0000FF"/>
              </a:solidFill>
              <a:latin typeface="Times New Roman" panose="02020603050405020304" pitchFamily="18" charset="0"/>
              <a:ea typeface="Times New Roman" panose="02020603050405020304" pitchFamily="18" charset="0"/>
            </a:endParaRPr>
          </a:p>
          <a:p>
            <a:pPr marL="201168" lvl="1" indent="0">
              <a:buNone/>
            </a:pPr>
            <a:r>
              <a:rPr lang="en-IN" sz="1600" b="1" dirty="0">
                <a:solidFill>
                  <a:schemeClr val="tx1"/>
                </a:solidFill>
                <a:latin typeface="Times New Roman" panose="02020603050405020304" pitchFamily="18" charset="0"/>
                <a:ea typeface="Times New Roman" panose="02020603050405020304" pitchFamily="18" charset="0"/>
              </a:rPr>
              <a:t>AWS shell script: </a:t>
            </a:r>
            <a:r>
              <a:rPr lang="en-IN" sz="1600" u="sng" dirty="0">
                <a:solidFill>
                  <a:srgbClr val="0000FF"/>
                </a:solidFill>
                <a:latin typeface="Times New Roman" panose="02020603050405020304" pitchFamily="18" charset="0"/>
                <a:ea typeface="Times New Roman" panose="02020603050405020304" pitchFamily="18" charset="0"/>
                <a:hlinkClick r:id="rId6"/>
              </a:rPr>
              <a:t>https://docs.aws.amazon.com/cli/latest/reference/cloudformation/validate-template.html</a:t>
            </a:r>
            <a:r>
              <a:rPr lang="en-IN" sz="1600" u="sng" dirty="0">
                <a:solidFill>
                  <a:srgbClr val="0000FF"/>
                </a:solidFill>
                <a:latin typeface="Times New Roman" panose="02020603050405020304" pitchFamily="18" charset="0"/>
                <a:ea typeface="Times New Roman" panose="02020603050405020304" pitchFamily="18" charset="0"/>
              </a:rPr>
              <a:t> </a:t>
            </a:r>
          </a:p>
          <a:p>
            <a:pPr marL="201168" lvl="1" indent="0">
              <a:buNone/>
            </a:pPr>
            <a:endParaRPr lang="en-IN" sz="1600" dirty="0">
              <a:latin typeface="Times New Roman" panose="02020603050405020304" pitchFamily="18" charset="0"/>
              <a:ea typeface="Times New Roman" panose="02020603050405020304" pitchFamily="18" charset="0"/>
            </a:endParaRPr>
          </a:p>
          <a:p>
            <a:pPr>
              <a:buFont typeface="Arial" panose="020B0604020202020204" pitchFamily="34" charset="0"/>
              <a:buChar char="•"/>
            </a:pPr>
            <a:endParaRPr lang="en-IN" sz="1600" dirty="0"/>
          </a:p>
          <a:p>
            <a:endParaRPr lang="en-IN" sz="1600" b="1" dirty="0"/>
          </a:p>
          <a:p>
            <a:endParaRPr lang="en-IN" sz="1600" dirty="0"/>
          </a:p>
          <a:p>
            <a:endParaRPr lang="en-IN" sz="1600" dirty="0"/>
          </a:p>
          <a:p>
            <a:r>
              <a:rPr lang="en-IN" sz="1600" dirty="0"/>
              <a:t>                                                              </a:t>
            </a:r>
            <a:r>
              <a:rPr lang="en-IN" sz="1600" b="1" dirty="0"/>
              <a:t>Thank You!!!!!!</a:t>
            </a:r>
          </a:p>
        </p:txBody>
      </p:sp>
    </p:spTree>
    <p:extLst>
      <p:ext uri="{BB962C8B-B14F-4D97-AF65-F5344CB8AC3E}">
        <p14:creationId xmlns:p14="http://schemas.microsoft.com/office/powerpoint/2010/main" val="28966886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5E263C-FB7E-4A3E-AD04-5140CD3D1D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E65ED8C-90F7-4EB0-ACCB-64AEF411E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6F2F2FAF-4B94-EA7E-4F5A-556F830A6061}"/>
              </a:ext>
            </a:extLst>
          </p:cNvPr>
          <p:cNvSpPr>
            <a:spLocks noGrp="1"/>
          </p:cNvSpPr>
          <p:nvPr>
            <p:ph type="title"/>
          </p:nvPr>
        </p:nvSpPr>
        <p:spPr>
          <a:xfrm>
            <a:off x="492370" y="516835"/>
            <a:ext cx="3084844" cy="5772840"/>
          </a:xfrm>
        </p:spPr>
        <p:txBody>
          <a:bodyPr anchor="ctr">
            <a:normAutofit/>
          </a:bodyPr>
          <a:lstStyle/>
          <a:p>
            <a:r>
              <a:rPr lang="en-US" sz="3600" dirty="0">
                <a:solidFill>
                  <a:srgbClr val="FFFFFF"/>
                </a:solidFill>
              </a:rPr>
              <a:t>Pre-Assessment Session task</a:t>
            </a:r>
            <a:endParaRPr lang="en-IN" sz="3600" dirty="0">
              <a:solidFill>
                <a:srgbClr val="FFFFFF"/>
              </a:solidFill>
            </a:endParaRPr>
          </a:p>
        </p:txBody>
      </p:sp>
      <p:sp>
        <p:nvSpPr>
          <p:cNvPr id="13" name="Rectangle 12">
            <a:extLst>
              <a:ext uri="{FF2B5EF4-FFF2-40B4-BE49-F238E27FC236}">
                <a16:creationId xmlns:a16="http://schemas.microsoft.com/office/drawing/2014/main" id="{6604E3BF-88F7-4D19-BEC9-8486966EA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aphicFrame>
        <p:nvGraphicFramePr>
          <p:cNvPr id="7" name="Content Placeholder 2">
            <a:extLst>
              <a:ext uri="{FF2B5EF4-FFF2-40B4-BE49-F238E27FC236}">
                <a16:creationId xmlns:a16="http://schemas.microsoft.com/office/drawing/2014/main" id="{50D48CE5-C479-E029-A9E1-C0F056DB1AC8}"/>
              </a:ext>
            </a:extLst>
          </p:cNvPr>
          <p:cNvGraphicFramePr>
            <a:graphicFrameLocks noGrp="1"/>
          </p:cNvGraphicFramePr>
          <p:nvPr>
            <p:ph idx="1"/>
            <p:extLst>
              <p:ext uri="{D42A27DB-BD31-4B8C-83A1-F6EECF244321}">
                <p14:modId xmlns:p14="http://schemas.microsoft.com/office/powerpoint/2010/main" val="3097471097"/>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71178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D3A0FC-5D74-4BAC-9DDB-68A942650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45694B-14A7-D33F-5A9E-AD70EFCAE70C}"/>
              </a:ext>
            </a:extLst>
          </p:cNvPr>
          <p:cNvSpPr>
            <a:spLocks noGrp="1"/>
          </p:cNvSpPr>
          <p:nvPr>
            <p:ph type="title"/>
          </p:nvPr>
        </p:nvSpPr>
        <p:spPr>
          <a:xfrm>
            <a:off x="4974771" y="634946"/>
            <a:ext cx="6574972" cy="1450757"/>
          </a:xfrm>
        </p:spPr>
        <p:txBody>
          <a:bodyPr>
            <a:normAutofit/>
          </a:bodyPr>
          <a:lstStyle/>
          <a:p>
            <a:r>
              <a:rPr lang="en-US" dirty="0"/>
              <a:t>Assessment</a:t>
            </a:r>
            <a:endParaRPr lang="en-IN" dirty="0"/>
          </a:p>
        </p:txBody>
      </p:sp>
      <p:pic>
        <p:nvPicPr>
          <p:cNvPr id="7" name="Graphic 6" descr="Syncing Cloud">
            <a:extLst>
              <a:ext uri="{FF2B5EF4-FFF2-40B4-BE49-F238E27FC236}">
                <a16:creationId xmlns:a16="http://schemas.microsoft.com/office/drawing/2014/main" id="{E521A272-767F-9C89-B9CC-58742665BC1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3999" y="1296626"/>
            <a:ext cx="4001315" cy="4001315"/>
          </a:xfrm>
          <a:prstGeom prst="rect">
            <a:avLst/>
          </a:prstGeom>
        </p:spPr>
      </p:pic>
      <p:cxnSp>
        <p:nvCxnSpPr>
          <p:cNvPr id="12" name="Straight Connector 11">
            <a:extLst>
              <a:ext uri="{FF2B5EF4-FFF2-40B4-BE49-F238E27FC236}">
                <a16:creationId xmlns:a16="http://schemas.microsoft.com/office/drawing/2014/main" id="{69B36A11-4FA0-4989-A465-037DF52469F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42F1744-5B99-FE8A-84D3-335A7A237021}"/>
              </a:ext>
            </a:extLst>
          </p:cNvPr>
          <p:cNvSpPr>
            <a:spLocks noGrp="1"/>
          </p:cNvSpPr>
          <p:nvPr>
            <p:ph idx="1"/>
          </p:nvPr>
        </p:nvSpPr>
        <p:spPr>
          <a:xfrm>
            <a:off x="4974769" y="2198914"/>
            <a:ext cx="6574973" cy="3670180"/>
          </a:xfrm>
        </p:spPr>
        <p:txBody>
          <a:bodyPr>
            <a:normAutofit/>
          </a:bodyPr>
          <a:lstStyle/>
          <a:p>
            <a:r>
              <a:rPr lang="en-US" dirty="0">
                <a:effectLst/>
              </a:rPr>
              <a:t>You may get task to create AWS resources (VPC, subnet, EC2, etc.) using a CloudFormation stack, either directly in the AWS Console or through an Azure DevOps pipeline</a:t>
            </a:r>
          </a:p>
        </p:txBody>
      </p:sp>
      <p:sp>
        <p:nvSpPr>
          <p:cNvPr id="14" name="Rectangle 13">
            <a:extLst>
              <a:ext uri="{FF2B5EF4-FFF2-40B4-BE49-F238E27FC236}">
                <a16:creationId xmlns:a16="http://schemas.microsoft.com/office/drawing/2014/main" id="{B8DB8C60-3B7D-46C5-B1A9-A295D8A48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6" name="Rectangle 15">
            <a:extLst>
              <a:ext uri="{FF2B5EF4-FFF2-40B4-BE49-F238E27FC236}">
                <a16:creationId xmlns:a16="http://schemas.microsoft.com/office/drawing/2014/main" id="{7B7006A8-EB46-45ED-977F-BC489E2B7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9445922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38B8727-D318-4B70-B353-C390602FF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B0C8367-28B6-4EF1-B182-01BEC9872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FE35B281-4BEA-4C16-45E4-88F66F7B8D03}"/>
              </a:ext>
            </a:extLst>
          </p:cNvPr>
          <p:cNvSpPr>
            <a:spLocks noGrp="1"/>
          </p:cNvSpPr>
          <p:nvPr>
            <p:ph idx="1"/>
          </p:nvPr>
        </p:nvSpPr>
        <p:spPr>
          <a:xfrm>
            <a:off x="492371" y="2653800"/>
            <a:ext cx="3084844" cy="3335519"/>
          </a:xfrm>
        </p:spPr>
        <p:txBody>
          <a:bodyPr>
            <a:normAutofit/>
          </a:bodyPr>
          <a:lstStyle/>
          <a:p>
            <a:endParaRPr lang="en-US" sz="1500">
              <a:solidFill>
                <a:srgbClr val="FFFFFF"/>
              </a:solidFill>
            </a:endParaRPr>
          </a:p>
          <a:p>
            <a:endParaRPr lang="en-US" sz="1500">
              <a:solidFill>
                <a:srgbClr val="FFFFFF"/>
              </a:solidFill>
            </a:endParaRPr>
          </a:p>
          <a:p>
            <a:endParaRPr lang="en-US" sz="1500">
              <a:solidFill>
                <a:srgbClr val="FFFFFF"/>
              </a:solidFill>
            </a:endParaRPr>
          </a:p>
          <a:p>
            <a:endParaRPr lang="en-US" sz="1500">
              <a:solidFill>
                <a:srgbClr val="FFFFFF"/>
              </a:solidFill>
            </a:endParaRPr>
          </a:p>
          <a:p>
            <a:endParaRPr lang="en-US" sz="1500">
              <a:solidFill>
                <a:srgbClr val="FFFFFF"/>
              </a:solidFill>
            </a:endParaRPr>
          </a:p>
          <a:p>
            <a:r>
              <a:rPr lang="en-US" sz="1500">
                <a:solidFill>
                  <a:srgbClr val="FFFFFF"/>
                </a:solidFill>
              </a:rPr>
              <a:t>                                                                              Thank You!!!!!</a:t>
            </a:r>
            <a:endParaRPr lang="en-IN" sz="1500">
              <a:solidFill>
                <a:srgbClr val="FFFFFF"/>
              </a:solidFill>
            </a:endParaRPr>
          </a:p>
        </p:txBody>
      </p:sp>
      <p:sp>
        <p:nvSpPr>
          <p:cNvPr id="16" name="Rectangle 15">
            <a:extLst>
              <a:ext uri="{FF2B5EF4-FFF2-40B4-BE49-F238E27FC236}">
                <a16:creationId xmlns:a16="http://schemas.microsoft.com/office/drawing/2014/main" id="{649E3F4C-17F5-49E4-B05F-80C6B348A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Graphic 6" descr="Handshake">
            <a:extLst>
              <a:ext uri="{FF2B5EF4-FFF2-40B4-BE49-F238E27FC236}">
                <a16:creationId xmlns:a16="http://schemas.microsoft.com/office/drawing/2014/main" id="{22567652-0A1D-EC88-0083-ECB17B68059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52138" y="640080"/>
            <a:ext cx="5577840" cy="5577840"/>
          </a:xfrm>
          <a:prstGeom prst="rect">
            <a:avLst/>
          </a:prstGeom>
        </p:spPr>
      </p:pic>
    </p:spTree>
    <p:extLst>
      <p:ext uri="{BB962C8B-B14F-4D97-AF65-F5344CB8AC3E}">
        <p14:creationId xmlns:p14="http://schemas.microsoft.com/office/powerpoint/2010/main" val="4144091326"/>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emplate>Retrospect</Template>
  <TotalTime>34522</TotalTime>
  <Words>4945</Words>
  <Application>Microsoft Office PowerPoint</Application>
  <PresentationFormat>Widescreen</PresentationFormat>
  <Paragraphs>473</Paragraphs>
  <Slides>58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58</vt:i4>
      </vt:variant>
    </vt:vector>
  </HeadingPairs>
  <TitlesOfParts>
    <vt:vector size="66" baseType="lpstr">
      <vt:lpstr>Arial</vt:lpstr>
      <vt:lpstr>Calibri</vt:lpstr>
      <vt:lpstr>Calibri Light</vt:lpstr>
      <vt:lpstr>Courier New</vt:lpstr>
      <vt:lpstr>Inter</vt:lpstr>
      <vt:lpstr>Segoe UI</vt:lpstr>
      <vt:lpstr>Times New Roman</vt:lpstr>
      <vt:lpstr>Retrospect</vt:lpstr>
      <vt:lpstr>        Training Plan:  Integrating AWS Basics Resources with Azure DevOps for Infrastructure Deployment </vt:lpstr>
      <vt:lpstr>Training Plan: Integrating AWS Basics resources with Azure DevOps for Infrastructure Deployment </vt:lpstr>
      <vt:lpstr>Week 1.1   Setting the Stage - Understanding the Landscape &amp; Core AWS Services  </vt:lpstr>
      <vt:lpstr>Week 1.1   Setting the Stage - Understanding the Landscape &amp; Core AWS Services  </vt:lpstr>
      <vt:lpstr>Week 1.1   Setting the Stage - Understanding the Landscape &amp; Core AWS Services  </vt:lpstr>
      <vt:lpstr>Week 1.1   Setting the Stage - Understanding the Landscape &amp; Core AWS Services  </vt:lpstr>
      <vt:lpstr>Week 1.1   Setting the Stage - Understanding the Landscape &amp; Core AWS Services  </vt:lpstr>
      <vt:lpstr>Week 1.1   Setting the Stage - Understanding the Landscape &amp; Core AWS Services  AWS Resources</vt:lpstr>
      <vt:lpstr>Week 1.1   Setting the Stage - Understanding the Landscape &amp; Core AWS Services  Brief overview of core AWS services</vt:lpstr>
      <vt:lpstr>Week 1.2 Authentication &amp; Authorization - The Secure Connection</vt:lpstr>
      <vt:lpstr>Week 1.2 Authentication &amp; Authorization - The Secure Connection</vt:lpstr>
      <vt:lpstr>Week 1.2 Authentication &amp; Authorization - The Secure Connection</vt:lpstr>
      <vt:lpstr>Week 1.2 Authentication &amp; Authorization - The Secure Connection</vt:lpstr>
      <vt:lpstr>Week 1.2 Authentication &amp; Authorization - The Secure Connection</vt:lpstr>
      <vt:lpstr>Week 1.2 Authentication &amp; Authorization - The Secure Connection</vt:lpstr>
      <vt:lpstr>Week 1.2 Authentication &amp; Authorization - The Secure Connection</vt:lpstr>
      <vt:lpstr>Week 1.2 Authentication &amp; Authorization - The Secure Connection</vt:lpstr>
      <vt:lpstr>Week 1.2 Authentication &amp; Authorization - The Secure Connection</vt:lpstr>
      <vt:lpstr>Week 2.1 Infrastructure as Code (IaC) - Defining Your AWS Resources (Part 1) </vt:lpstr>
      <vt:lpstr>Week 2.1 Infrastructure as Code (IaC) - Defining Your AWS Resources (Part 1) </vt:lpstr>
      <vt:lpstr>Week 2.1 Infrastructure as Code (IaC) - Defining Your AWS Resources (Part 1) </vt:lpstr>
      <vt:lpstr>Week 2.1 Infrastructure as Code (IaC) - Defining Your AWS Resources (Part 1) </vt:lpstr>
      <vt:lpstr>Week 2.1 Infrastructure as Code (IaC) - Defining Your AWS Resources (Part 1) </vt:lpstr>
      <vt:lpstr>Week 2.1 Infrastructure as Code (IaC) - Defining Your AWS Resources (Part 1) </vt:lpstr>
      <vt:lpstr>Week 2.1 Infrastructure as Code (IaC) - Defining Your AWS Resources (Part 1) </vt:lpstr>
      <vt:lpstr>Week 2.1 Infrastructure as Code (IaC) - Defining Your AWS Resources (Part 1) </vt:lpstr>
      <vt:lpstr>Week 2.1 Infrastructure as Code (IaC) - Defining Your AWS Resources (Part 1) </vt:lpstr>
      <vt:lpstr>Week 2.1 Infrastructure as Code (IaC) - Defining Your AWS Resources (Part 1) </vt:lpstr>
      <vt:lpstr>Week 2.1 Infrastructure as Code (IaC) - Defining Your AWS Resources (Part 1) </vt:lpstr>
      <vt:lpstr>Week 2.1 Infrastructure as Code (IaC) - Defining Your AWS Resources (Part 1) </vt:lpstr>
      <vt:lpstr>Week 2.1 Infrastructure as Code (IaC) - Defining Your AWS Resources (Part 1) </vt:lpstr>
      <vt:lpstr>Week 2.1 Infrastructure as Code (IaC) - Defining Your AWS Resources (Part 1) </vt:lpstr>
      <vt:lpstr>Week 2.2 Infrastructure as Code (IaC) - Defining Your AWS Resources (Part 2)</vt:lpstr>
      <vt:lpstr>Week 2.2 Infrastructure as Code (IaC) - Defining Your AWS Resources (Part 2)</vt:lpstr>
      <vt:lpstr>Week 2.2 Infrastructure as Code (IaC) - Defining Your AWS Resources (Part 2)</vt:lpstr>
      <vt:lpstr>Week 2.1 Infrastructure as Code (IaC) - Defining Your AWS Resources (Part 1) </vt:lpstr>
      <vt:lpstr>Week 3.1 Building Your First Deployment Pipeline - CloudFormation </vt:lpstr>
      <vt:lpstr>Week 3.1 Building Your First Deployment Pipeline - CloudFormation </vt:lpstr>
      <vt:lpstr>Week 3.1 Building Your First Deployment Pipeline - CloudFormation </vt:lpstr>
      <vt:lpstr>Week 3.1 Building Your First Deployment Pipeline - CloudFormation </vt:lpstr>
      <vt:lpstr>Week 3.1 Building Your First Deployment Pipeline - CloudFormation </vt:lpstr>
      <vt:lpstr>Week 3.1 Building Your First Deployment Pipeline - CloudFormation </vt:lpstr>
      <vt:lpstr>Week 3.2 Advanced Pipeline Concepts &amp; Best Practices</vt:lpstr>
      <vt:lpstr>Week 3.2 Advanced Pipeline Concepts &amp; Best Practices</vt:lpstr>
      <vt:lpstr>Week 3.2 Advanced Pipeline Concepts &amp; Best Practices</vt:lpstr>
      <vt:lpstr>Week 4.1 Real-World Scenarios, Monitoring, and Next Steps (Part 1)</vt:lpstr>
      <vt:lpstr>Week 4.1 Real-World Scenarios, Monitoring, and Next Steps (Part 1)</vt:lpstr>
      <vt:lpstr>Week 4.1 Real-World Scenarios, Monitoring, and Next Steps (Part 1)</vt:lpstr>
      <vt:lpstr>Week 4.1 Real-World Scenarios, Monitoring, and Next Steps (Part 1)</vt:lpstr>
      <vt:lpstr> Week 4.2 Real-World Scenarios, Monitoring, and Next Steps (Part 2) </vt:lpstr>
      <vt:lpstr>Week 4.2 Real-World Scenarios, Monitoring, and Next Steps (Part 2)</vt:lpstr>
      <vt:lpstr>Week 4.2 Real-World Scenarios, Monitoring, and Next Steps (Part 2)  CloudWatch for EC2 instances, </vt:lpstr>
      <vt:lpstr>Week 4.2 Real-World Scenarios, Monitoring, and Next Steps (Part 2)</vt:lpstr>
      <vt:lpstr>Week 4.2 Real-World Scenarios, Monitoring, and Next Steps (Part 2)</vt:lpstr>
      <vt:lpstr>Week 4.2 Real-World Scenarios, Monitoring, and Next Steps (Part 2)</vt:lpstr>
      <vt:lpstr>Pre-Assessment Session task</vt:lpstr>
      <vt:lpstr>Assessment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Training Plan: Integrating AWS Basics Resources with Azure DevOps for Infrastructure Deployment</dc:title>
  <dc:creator>Kumar, Mintu</dc:creator>
  <cp:lastModifiedBy>Kumar, Mintu</cp:lastModifiedBy>
  <cp:revision>102</cp:revision>
  <dcterms:created xsi:type="dcterms:W3CDTF">2025-06-17T06:14:03Z</dcterms:created>
  <dcterms:modified xsi:type="dcterms:W3CDTF">2025-07-11T10:53:18Z</dcterms:modified>
</cp:coreProperties>
</file>